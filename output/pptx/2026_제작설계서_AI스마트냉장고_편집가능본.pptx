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90aa0ea8a4240" /><Relationship Type="http://schemas.openxmlformats.org/officeDocument/2006/relationships/extended-properties" Target="/docProps/app.xml" Id="R6d258b1d7a344b44" /><Relationship Type="http://schemas.openxmlformats.org/officeDocument/2006/relationships/officeDocument" Target="/ppt/presentation.xml" Id="Rf25c3e931ca64e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21214ff394787"/>
  </p:sldMasterIdLst>
  <p:notesMasterIdLst>
    <p:notesMasterId xmlns:r="http://schemas.openxmlformats.org/officeDocument/2006/relationships" r:id="R568d68a3979f481d"/>
  </p:notesMasterIdLst>
  <p:sldIdLst>
    <p:sldId xmlns:r="http://schemas.openxmlformats.org/officeDocument/2006/relationships" id="256" r:id="R3949a517c03f46a1"/>
    <p:sldId xmlns:r="http://schemas.openxmlformats.org/officeDocument/2006/relationships" id="257" r:id="R21a97fea13754a10"/>
    <p:sldId xmlns:r="http://schemas.openxmlformats.org/officeDocument/2006/relationships" id="258" r:id="R7f93f4819807433f"/>
    <p:sldId xmlns:r="http://schemas.openxmlformats.org/officeDocument/2006/relationships" id="259" r:id="R24b6612471274425"/>
    <p:sldId xmlns:r="http://schemas.openxmlformats.org/officeDocument/2006/relationships" id="260" r:id="R111fb3afba4e460f"/>
    <p:sldId xmlns:r="http://schemas.openxmlformats.org/officeDocument/2006/relationships" id="261" r:id="Rd369b114a1554ce3"/>
    <p:sldId xmlns:r="http://schemas.openxmlformats.org/officeDocument/2006/relationships" id="262" r:id="Ra1390752d58c4572"/>
    <p:sldId xmlns:r="http://schemas.openxmlformats.org/officeDocument/2006/relationships" id="263" r:id="Rddf4f48405704ae9"/>
    <p:sldId xmlns:r="http://schemas.openxmlformats.org/officeDocument/2006/relationships" id="264" r:id="R25376c3bddf6408d"/>
    <p:sldId xmlns:r="http://schemas.openxmlformats.org/officeDocument/2006/relationships" id="265" r:id="Rd316cf82956a4650"/>
    <p:sldId xmlns:r="http://schemas.openxmlformats.org/officeDocument/2006/relationships" id="266" r:id="Rd41662e37392476e"/>
    <p:sldId xmlns:r="http://schemas.openxmlformats.org/officeDocument/2006/relationships" id="267" r:id="R6fd147c5e5fd4494"/>
    <p:sldId xmlns:r="http://schemas.openxmlformats.org/officeDocument/2006/relationships" id="268" r:id="Rd2b5a3ccdbfb4708"/>
    <p:sldId xmlns:r="http://schemas.openxmlformats.org/officeDocument/2006/relationships" id="269" r:id="R8102a9de864a41aa"/>
    <p:sldId xmlns:r="http://schemas.openxmlformats.org/officeDocument/2006/relationships" id="270" r:id="R2be9793a55e64163"/>
    <p:sldId xmlns:r="http://schemas.openxmlformats.org/officeDocument/2006/relationships" id="271" r:id="Rc138b203c17c4f31"/>
    <p:sldId xmlns:r="http://schemas.openxmlformats.org/officeDocument/2006/relationships" id="272" r:id="R2eeed3583ecd4bfa"/>
    <p:sldId xmlns:r="http://schemas.openxmlformats.org/officeDocument/2006/relationships" id="273" r:id="Rdbf46c6907f04bcd"/>
    <p:sldId xmlns:r="http://schemas.openxmlformats.org/officeDocument/2006/relationships" id="274" r:id="Rbe86a346906549f2"/>
    <p:sldId xmlns:r="http://schemas.openxmlformats.org/officeDocument/2006/relationships" id="275" r:id="R9b05056435464df9"/>
    <p:sldId xmlns:r="http://schemas.openxmlformats.org/officeDocument/2006/relationships" id="276" r:id="R5e01ffc1a5694a0d"/>
    <p:sldId xmlns:r="http://schemas.openxmlformats.org/officeDocument/2006/relationships" id="277" r:id="R59133e7a860d472b"/>
    <p:sldId xmlns:r="http://schemas.openxmlformats.org/officeDocument/2006/relationships" id="278" r:id="R7ddbb5a4312c44a7"/>
    <p:sldId xmlns:r="http://schemas.openxmlformats.org/officeDocument/2006/relationships" id="279" r:id="Rac4c8701a8bb4b51"/>
    <p:sldId xmlns:r="http://schemas.openxmlformats.org/officeDocument/2006/relationships" id="280" r:id="Ra35ef94924734b63"/>
    <p:sldId xmlns:r="http://schemas.openxmlformats.org/officeDocument/2006/relationships" id="281" r:id="Re5130579b7df471c"/>
    <p:sldId xmlns:r="http://schemas.openxmlformats.org/officeDocument/2006/relationships" id="282" r:id="Rc84979fe98b04ede"/>
    <p:sldId xmlns:r="http://schemas.openxmlformats.org/officeDocument/2006/relationships" id="283" r:id="R8ec28c5076af412b"/>
    <p:sldId xmlns:r="http://schemas.openxmlformats.org/officeDocument/2006/relationships" id="284" r:id="R9c08edfe41994f6b"/>
    <p:sldId xmlns:r="http://schemas.openxmlformats.org/officeDocument/2006/relationships" id="285" r:id="R6892c0ccb8e74e83"/>
    <p:sldId xmlns:r="http://schemas.openxmlformats.org/officeDocument/2006/relationships" id="286" r:id="Rbe8b2374392e4639"/>
    <p:sldId xmlns:r="http://schemas.openxmlformats.org/officeDocument/2006/relationships" id="287" r:id="Ra1b1ae1914b743f0"/>
    <p:sldId xmlns:r="http://schemas.openxmlformats.org/officeDocument/2006/relationships" id="288" r:id="R170aa68a437a4250"/>
    <p:sldId xmlns:r="http://schemas.openxmlformats.org/officeDocument/2006/relationships" id="289" r:id="R027e848107994dbd"/>
  </p:sldIdLst>
  <p:sldSz cx="13335000" cy="9429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74733f6f2b4ad8" /><Relationship Type="http://schemas.openxmlformats.org/officeDocument/2006/relationships/slideMaster" Target="/ppt/slideMasters/slideMaster1.xml" Id="Rc0421214ff394787" /><Relationship Type="http://schemas.openxmlformats.org/officeDocument/2006/relationships/notesMaster" Target="/ppt/notesMasters/notesMaster1.xml" Id="R568d68a3979f481d" /><Relationship Type="http://schemas.openxmlformats.org/officeDocument/2006/relationships/presProps" Target="/ppt/presProps.xml" Id="R31afead058a44023" /><Relationship Type="http://schemas.openxmlformats.org/officeDocument/2006/relationships/tableStyles" Target="/ppt/tableStyles.xml" Id="Rfabc725f444746a6" /><Relationship Type="http://schemas.openxmlformats.org/officeDocument/2006/relationships/slide" Target="/ppt/slides/slide1.xml" Id="R3949a517c03f46a1" /><Relationship Type="http://schemas.openxmlformats.org/officeDocument/2006/relationships/slide" Target="/ppt/slides/slide2.xml" Id="R21a97fea13754a10" /><Relationship Type="http://schemas.openxmlformats.org/officeDocument/2006/relationships/slide" Target="/ppt/slides/slide3.xml" Id="R7f93f4819807433f" /><Relationship Type="http://schemas.openxmlformats.org/officeDocument/2006/relationships/slide" Target="/ppt/slides/slide4.xml" Id="R24b6612471274425" /><Relationship Type="http://schemas.openxmlformats.org/officeDocument/2006/relationships/slide" Target="/ppt/slides/slide5.xml" Id="R111fb3afba4e460f" /><Relationship Type="http://schemas.openxmlformats.org/officeDocument/2006/relationships/slide" Target="/ppt/slides/slide6.xml" Id="Rd369b114a1554ce3" /><Relationship Type="http://schemas.openxmlformats.org/officeDocument/2006/relationships/slide" Target="/ppt/slides/slide7.xml" Id="Ra1390752d58c4572" /><Relationship Type="http://schemas.openxmlformats.org/officeDocument/2006/relationships/slide" Target="/ppt/slides/slide8.xml" Id="Rddf4f48405704ae9" /><Relationship Type="http://schemas.openxmlformats.org/officeDocument/2006/relationships/slide" Target="/ppt/slides/slide9.xml" Id="R25376c3bddf6408d" /><Relationship Type="http://schemas.openxmlformats.org/officeDocument/2006/relationships/slide" Target="/ppt/slides/slide10.xml" Id="Rd316cf82956a4650" /><Relationship Type="http://schemas.openxmlformats.org/officeDocument/2006/relationships/slide" Target="/ppt/slides/slide11.xml" Id="Rd41662e37392476e" /><Relationship Type="http://schemas.openxmlformats.org/officeDocument/2006/relationships/slide" Target="/ppt/slides/slide12.xml" Id="R6fd147c5e5fd4494" /><Relationship Type="http://schemas.openxmlformats.org/officeDocument/2006/relationships/slide" Target="/ppt/slides/slide13.xml" Id="Rd2b5a3ccdbfb4708" /><Relationship Type="http://schemas.openxmlformats.org/officeDocument/2006/relationships/slide" Target="/ppt/slides/slide14.xml" Id="R8102a9de864a41aa" /><Relationship Type="http://schemas.openxmlformats.org/officeDocument/2006/relationships/slide" Target="/ppt/slides/slide15.xml" Id="R2be9793a55e64163" /><Relationship Type="http://schemas.openxmlformats.org/officeDocument/2006/relationships/slide" Target="/ppt/slides/slide16.xml" Id="Rc138b203c17c4f31" /><Relationship Type="http://schemas.openxmlformats.org/officeDocument/2006/relationships/slide" Target="/ppt/slides/slide17.xml" Id="R2eeed3583ecd4bfa" /><Relationship Type="http://schemas.openxmlformats.org/officeDocument/2006/relationships/slide" Target="/ppt/slides/slide18.xml" Id="Rdbf46c6907f04bcd" /><Relationship Type="http://schemas.openxmlformats.org/officeDocument/2006/relationships/slide" Target="/ppt/slides/slide19.xml" Id="Rbe86a346906549f2" /><Relationship Type="http://schemas.openxmlformats.org/officeDocument/2006/relationships/slide" Target="/ppt/slides/slide20.xml" Id="R9b05056435464df9" /><Relationship Type="http://schemas.openxmlformats.org/officeDocument/2006/relationships/slide" Target="/ppt/slides/slide21.xml" Id="R5e01ffc1a5694a0d" /><Relationship Type="http://schemas.openxmlformats.org/officeDocument/2006/relationships/slide" Target="/ppt/slides/slide22.xml" Id="R59133e7a860d472b" /><Relationship Type="http://schemas.openxmlformats.org/officeDocument/2006/relationships/slide" Target="/ppt/slides/slide23.xml" Id="R7ddbb5a4312c44a7" /><Relationship Type="http://schemas.openxmlformats.org/officeDocument/2006/relationships/slide" Target="/ppt/slides/slide24.xml" Id="Rac4c8701a8bb4b51" /><Relationship Type="http://schemas.openxmlformats.org/officeDocument/2006/relationships/slide" Target="/ppt/slides/slide25.xml" Id="Ra35ef94924734b63" /><Relationship Type="http://schemas.openxmlformats.org/officeDocument/2006/relationships/slide" Target="/ppt/slides/slide26.xml" Id="Re5130579b7df471c" /><Relationship Type="http://schemas.openxmlformats.org/officeDocument/2006/relationships/slide" Target="/ppt/slides/slide27.xml" Id="Rc84979fe98b04ede" /><Relationship Type="http://schemas.openxmlformats.org/officeDocument/2006/relationships/slide" Target="/ppt/slides/slide28.xml" Id="R8ec28c5076af412b" /><Relationship Type="http://schemas.openxmlformats.org/officeDocument/2006/relationships/slide" Target="/ppt/slides/slide29.xml" Id="R9c08edfe41994f6b" /><Relationship Type="http://schemas.openxmlformats.org/officeDocument/2006/relationships/slide" Target="/ppt/slides/slide30.xml" Id="R6892c0ccb8e74e83" /><Relationship Type="http://schemas.openxmlformats.org/officeDocument/2006/relationships/slide" Target="/ppt/slides/slide31.xml" Id="Rbe8b2374392e4639" /><Relationship Type="http://schemas.openxmlformats.org/officeDocument/2006/relationships/slide" Target="/ppt/slides/slide32.xml" Id="Ra1b1ae1914b743f0" /><Relationship Type="http://schemas.openxmlformats.org/officeDocument/2006/relationships/slide" Target="/ppt/slides/slide33.xml" Id="R170aa68a437a4250" /><Relationship Type="http://schemas.openxmlformats.org/officeDocument/2006/relationships/slide" Target="/ppt/slides/slide34.xml" Id="R027e848107994d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a3963c43c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9ba92d35864c06" /><Relationship Type="http://schemas.openxmlformats.org/officeDocument/2006/relationships/notesMaster" Target="/ppt/notesMasters/notesMaster1.xml" Id="Re7834b0dee30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1c29e096148d5" /><Relationship Type="http://schemas.openxmlformats.org/officeDocument/2006/relationships/notesMaster" Target="/ppt/notesMasters/notesMaster1.xml" Id="R97096c745ee149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7c3a0429246a1" /><Relationship Type="http://schemas.openxmlformats.org/officeDocument/2006/relationships/notesMaster" Target="/ppt/notesMasters/notesMaster1.xml" Id="Rd8761804b64f49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de897b490f4a6c" /><Relationship Type="http://schemas.openxmlformats.org/officeDocument/2006/relationships/notesMaster" Target="/ppt/notesMasters/notesMaster1.xml" Id="Rbcb26ac258204d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152d4e4054ba1" /><Relationship Type="http://schemas.openxmlformats.org/officeDocument/2006/relationships/notesMaster" Target="/ppt/notesMasters/notesMaster1.xml" Id="R4d04673dd1bb43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22fa82d0e649db" /><Relationship Type="http://schemas.openxmlformats.org/officeDocument/2006/relationships/notesMaster" Target="/ppt/notesMasters/notesMaster1.xml" Id="Rb50bc2c3d66041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c66875ab6d4218" /><Relationship Type="http://schemas.openxmlformats.org/officeDocument/2006/relationships/notesMaster" Target="/ppt/notesMasters/notesMaster1.xml" Id="R5b41ca691f8142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cbca3a88ce4a06" /><Relationship Type="http://schemas.openxmlformats.org/officeDocument/2006/relationships/notesMaster" Target="/ppt/notesMasters/notesMaster1.xml" Id="R237cd0557ee84a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a147e4297a473a" /><Relationship Type="http://schemas.openxmlformats.org/officeDocument/2006/relationships/notesMaster" Target="/ppt/notesMasters/notesMaster1.xml" Id="R6e6fb3dd2dab42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40e97cb904cab" /><Relationship Type="http://schemas.openxmlformats.org/officeDocument/2006/relationships/notesMaster" Target="/ppt/notesMasters/notesMaster1.xml" Id="R25bd42759360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2c360d7f854942" /><Relationship Type="http://schemas.openxmlformats.org/officeDocument/2006/relationships/notesMaster" Target="/ppt/notesMasters/notesMaster1.xml" Id="Rb5235ddc4f7c44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afa631ee574360" /><Relationship Type="http://schemas.openxmlformats.org/officeDocument/2006/relationships/notesMaster" Target="/ppt/notesMasters/notesMaster1.xml" Id="R1bc42aa0d6964f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c1194c314547ef" /><Relationship Type="http://schemas.openxmlformats.org/officeDocument/2006/relationships/notesMaster" Target="/ppt/notesMasters/notesMaster1.xml" Id="R8ec9bb9fd03541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80e3cd3056477e" /><Relationship Type="http://schemas.openxmlformats.org/officeDocument/2006/relationships/notesMaster" Target="/ppt/notesMasters/notesMaster1.xml" Id="R3561cf6a000942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8ee98e44ee42bd" /><Relationship Type="http://schemas.openxmlformats.org/officeDocument/2006/relationships/notesMaster" Target="/ppt/notesMasters/notesMaster1.xml" Id="R154cd62cc03140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b0dcbf05c6452a" /><Relationship Type="http://schemas.openxmlformats.org/officeDocument/2006/relationships/notesMaster" Target="/ppt/notesMasters/notesMaster1.xml" Id="R1373f1ba3f1d4e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725fd39df04221" /><Relationship Type="http://schemas.openxmlformats.org/officeDocument/2006/relationships/notesMaster" Target="/ppt/notesMasters/notesMaster1.xml" Id="Rd369b81e247c41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df3246e871404f" /><Relationship Type="http://schemas.openxmlformats.org/officeDocument/2006/relationships/notesMaster" Target="/ppt/notesMasters/notesMaster1.xml" Id="R92661f46269746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878c6fe56545e8" /><Relationship Type="http://schemas.openxmlformats.org/officeDocument/2006/relationships/notesMaster" Target="/ppt/notesMasters/notesMaster1.xml" Id="R130a95e6feee4b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36524e4f734815" /><Relationship Type="http://schemas.openxmlformats.org/officeDocument/2006/relationships/notesMaster" Target="/ppt/notesMasters/notesMaster1.xml" Id="R3cd8a83618b745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c3c9351cdb4a1c" /><Relationship Type="http://schemas.openxmlformats.org/officeDocument/2006/relationships/notesMaster" Target="/ppt/notesMasters/notesMaster1.xml" Id="R4d5c427050a64b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6fadc20d5947da" /><Relationship Type="http://schemas.openxmlformats.org/officeDocument/2006/relationships/notesMaster" Target="/ppt/notesMasters/notesMaster1.xml" Id="R097c12dd65424f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0f392d496f40fc" /><Relationship Type="http://schemas.openxmlformats.org/officeDocument/2006/relationships/notesMaster" Target="/ppt/notesMasters/notesMaster1.xml" Id="R66f62fc4b10847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3eb5a55f544fb3" /><Relationship Type="http://schemas.openxmlformats.org/officeDocument/2006/relationships/notesMaster" Target="/ppt/notesMasters/notesMaster1.xml" Id="Rd361134fdff944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48fac7c48b4e73" /><Relationship Type="http://schemas.openxmlformats.org/officeDocument/2006/relationships/notesMaster" Target="/ppt/notesMasters/notesMaster1.xml" Id="R48952986c3e341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1974b01ddf44e8" /><Relationship Type="http://schemas.openxmlformats.org/officeDocument/2006/relationships/notesMaster" Target="/ppt/notesMasters/notesMaster1.xml" Id="Rfe34a4e0ab1e4d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7712cf7996466f" /><Relationship Type="http://schemas.openxmlformats.org/officeDocument/2006/relationships/notesMaster" Target="/ppt/notesMasters/notesMaster1.xml" Id="R209bfb55100a4a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be574911d8441a" /><Relationship Type="http://schemas.openxmlformats.org/officeDocument/2006/relationships/notesMaster" Target="/ppt/notesMasters/notesMaster1.xml" Id="R63dedb6717844f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875a9fc6a841ae" /><Relationship Type="http://schemas.openxmlformats.org/officeDocument/2006/relationships/notesMaster" Target="/ppt/notesMasters/notesMaster1.xml" Id="R846f0de8133640d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6d9e47d7144e24" /><Relationship Type="http://schemas.openxmlformats.org/officeDocument/2006/relationships/notesMaster" Target="/ppt/notesMasters/notesMaster1.xml" Id="Rcefb672aba484b4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ec0f30eec8f4544" /><Relationship Type="http://schemas.openxmlformats.org/officeDocument/2006/relationships/notesMaster" Target="/ppt/notesMasters/notesMaster1.xml" Id="Rb65864f0b728495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32b9318aad242de" /><Relationship Type="http://schemas.openxmlformats.org/officeDocument/2006/relationships/notesMaster" Target="/ppt/notesMasters/notesMaster1.xml" Id="R0f948a45063c423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3a8924032aa432d" /><Relationship Type="http://schemas.openxmlformats.org/officeDocument/2006/relationships/notesMaster" Target="/ppt/notesMasters/notesMaster1.xml" Id="Reda44ed27d2d410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4d826ac7af47e9" /><Relationship Type="http://schemas.openxmlformats.org/officeDocument/2006/relationships/notesMaster" Target="/ppt/notesMasters/notesMaster1.xml" Id="Rd6b892028c46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고령인구: https://kostat.go.kr/board.es?act=view&amp;bid=10820&amp;list_no=438832&amp;mid=a10301060100</a:t>
            </a:r>
          </a:p>
          <a:p xmlns:a="http://schemas.openxmlformats.org/drawingml/2006/main">
            <a:r>
              <a:t>2024 노년 1인가구: https://www.kostat.go.kr/board.es?act=view&amp;bid=11895&amp;list_no=442561&amp;mid=a10301010000</a:t>
            </a:r>
          </a:p>
          <a:p xmlns:a="http://schemas.openxmlformats.org/drawingml/2006/main">
            <a:r>
              <a:t>전체 1인가구 그래프는 사용하지 말고 노년 1인가구 추이를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IITP 스마트 디바이스 기술로드맵: https://www.iitp.kr/resources/file/201217/5.ICT%EB%94%94%EB%B0%94%EC%9D%B4%EC%8A%A4_%EC%96%91%EC%9E%90%EB%B3%B4%EA%B3%A0%EC%84%9C.pdf</a:t>
            </a:r>
          </a:p>
          <a:p xmlns:a="http://schemas.openxmlformats.org/drawingml/2006/main">
            <a:r>
              <a:t>IITP 2025 지원사업 안내: https://www.iitp.kr/resources/file/2025%EB%85%84%20IITP%20%EC%A7%80%EC%9B%90%EC%82%AC%EC%97%85%20%EC%95%88%EB%82%B4.pdf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d1d376fd7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dfe1bdc1c44cf" /><Relationship Type="http://schemas.openxmlformats.org/officeDocument/2006/relationships/slideLayout" Target="/ppt/slideLayouts/slideLayout1.xml" Id="R591403ed9dea42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403ed9dea42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eeb0d0ef04059" /><Relationship Type="http://schemas.openxmlformats.org/officeDocument/2006/relationships/notesSlide" Target="/ppt/notesSlides/notesSlide1.xml" Id="Re1cb418a4270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02cca84a8451c" /><Relationship Type="http://schemas.openxmlformats.org/officeDocument/2006/relationships/notesSlide" Target="/ppt/notesSlides/notesSlide2.xml" Id="R2a8af4833563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6e1f330384b61" /><Relationship Type="http://schemas.openxmlformats.org/officeDocument/2006/relationships/notesSlide" Target="/ppt/notesSlides/notesSlide3.xml" Id="R687392fc7aef46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eeedd4ca84995" /><Relationship Type="http://schemas.openxmlformats.org/officeDocument/2006/relationships/notesSlide" Target="/ppt/notesSlides/notesSlide4.xml" Id="R27aaa0fd0a0c46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233a1f42d41ce" /><Relationship Type="http://schemas.openxmlformats.org/officeDocument/2006/relationships/notesSlide" Target="/ppt/notesSlides/notesSlide5.xml" Id="Redb64465379c41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e6cca79814f3a" /><Relationship Type="http://schemas.openxmlformats.org/officeDocument/2006/relationships/notesSlide" Target="/ppt/notesSlides/notesSlide6.xml" Id="R7e30a93d9d99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76dc4d4534574" /><Relationship Type="http://schemas.openxmlformats.org/officeDocument/2006/relationships/image" Target="/ppt/media/image.png" Id="R3a947ea0ed11457d" /><Relationship Type="http://schemas.openxmlformats.org/officeDocument/2006/relationships/notesSlide" Target="/ppt/notesSlides/notesSlide7.xml" Id="Rb9e502950a604f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0f49ee8144097" /><Relationship Type="http://schemas.openxmlformats.org/officeDocument/2006/relationships/image" Target="/ppt/media/image2.png" Id="Rcc635880dbc64f3c" /><Relationship Type="http://schemas.openxmlformats.org/officeDocument/2006/relationships/notesSlide" Target="/ppt/notesSlides/notesSlide8.xml" Id="Raf5fed4df84149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bd5cc72f945d8" /><Relationship Type="http://schemas.openxmlformats.org/officeDocument/2006/relationships/image" Target="/ppt/media/image3.png" Id="R0fedf46605414835" /><Relationship Type="http://schemas.openxmlformats.org/officeDocument/2006/relationships/notesSlide" Target="/ppt/notesSlides/notesSlide9.xml" Id="Rce163b5755cd49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118ac71a146d4" /><Relationship Type="http://schemas.openxmlformats.org/officeDocument/2006/relationships/image" Target="/ppt/media/image4.png" Id="R5537966d65364f4b" /><Relationship Type="http://schemas.openxmlformats.org/officeDocument/2006/relationships/notesSlide" Target="/ppt/notesSlides/notesSlide10.xml" Id="Ra38276645c104b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66fee6cc9407c" /><Relationship Type="http://schemas.openxmlformats.org/officeDocument/2006/relationships/image" Target="/ppt/media/image5.png" Id="R8b98ee5d4ef44b9a" /><Relationship Type="http://schemas.openxmlformats.org/officeDocument/2006/relationships/notesSlide" Target="/ppt/notesSlides/notesSlide11.xml" Id="R689fb73571b040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e3d66ea214d7d" /><Relationship Type="http://schemas.openxmlformats.org/officeDocument/2006/relationships/image" Target="/ppt/media/image6.png" Id="Rc5a74daf50c24622" /><Relationship Type="http://schemas.openxmlformats.org/officeDocument/2006/relationships/notesSlide" Target="/ppt/notesSlides/notesSlide12.xml" Id="Rfa52900532d549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a676461544c79" /><Relationship Type="http://schemas.openxmlformats.org/officeDocument/2006/relationships/image" Target="/ppt/media/image7.png" Id="R74dd1639c58b4b45" /><Relationship Type="http://schemas.openxmlformats.org/officeDocument/2006/relationships/notesSlide" Target="/ppt/notesSlides/notesSlide13.xml" Id="R1d2e574fa65f43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6761b2d4640cd" /><Relationship Type="http://schemas.openxmlformats.org/officeDocument/2006/relationships/image" Target="/ppt/media/image8.png" Id="R9aad019a94444e90" /><Relationship Type="http://schemas.openxmlformats.org/officeDocument/2006/relationships/notesSlide" Target="/ppt/notesSlides/notesSlide14.xml" Id="R4990d7900a9f45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8eb2716c347e1" /><Relationship Type="http://schemas.openxmlformats.org/officeDocument/2006/relationships/image" Target="/ppt/media/image9.png" Id="R9bffd0d55b1d4d93" /><Relationship Type="http://schemas.openxmlformats.org/officeDocument/2006/relationships/notesSlide" Target="/ppt/notesSlides/notesSlide15.xml" Id="R4f154873461b4a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b29daf2ae4c81" /><Relationship Type="http://schemas.openxmlformats.org/officeDocument/2006/relationships/image" Target="/ppt/media/image10.png" Id="R9950632dd0cb4840" /><Relationship Type="http://schemas.openxmlformats.org/officeDocument/2006/relationships/notesSlide" Target="/ppt/notesSlides/notesSlide16.xml" Id="R4662c121980c40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e115f3d8a4d41" /><Relationship Type="http://schemas.openxmlformats.org/officeDocument/2006/relationships/image" Target="/ppt/media/image11.png" Id="Re06e21c29e5b4195" /><Relationship Type="http://schemas.openxmlformats.org/officeDocument/2006/relationships/notesSlide" Target="/ppt/notesSlides/notesSlide17.xml" Id="Rfdd80c9da40646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db853bdfb4cca" /><Relationship Type="http://schemas.openxmlformats.org/officeDocument/2006/relationships/image" Target="/ppt/media/image12.png" Id="R62674a018cb94da2" /><Relationship Type="http://schemas.openxmlformats.org/officeDocument/2006/relationships/notesSlide" Target="/ppt/notesSlides/notesSlide18.xml" Id="R9d1a533b1f864e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c2b6aee64ef5" /><Relationship Type="http://schemas.openxmlformats.org/officeDocument/2006/relationships/image" Target="/ppt/media/image13.png" Id="R24daf4ffc3a1457a" /><Relationship Type="http://schemas.openxmlformats.org/officeDocument/2006/relationships/notesSlide" Target="/ppt/notesSlides/notesSlide19.xml" Id="R6dd318eef66b41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0372e17c8434d" /><Relationship Type="http://schemas.openxmlformats.org/officeDocument/2006/relationships/image" Target="/ppt/media/image14.png" Id="R30bd4c41469243db" /><Relationship Type="http://schemas.openxmlformats.org/officeDocument/2006/relationships/notesSlide" Target="/ppt/notesSlides/notesSlide20.xml" Id="R1f693e09585a4b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9746951734309" /><Relationship Type="http://schemas.openxmlformats.org/officeDocument/2006/relationships/image" Target="/ppt/media/image15.png" Id="R2f141baf593b4fa6" /><Relationship Type="http://schemas.openxmlformats.org/officeDocument/2006/relationships/notesSlide" Target="/ppt/notesSlides/notesSlide21.xml" Id="R2fd12d3f17f74a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7095b2ed04277" /><Relationship Type="http://schemas.openxmlformats.org/officeDocument/2006/relationships/image" Target="/ppt/media/image16.png" Id="Rbeee11e74c1a4070" /><Relationship Type="http://schemas.openxmlformats.org/officeDocument/2006/relationships/notesSlide" Target="/ppt/notesSlides/notesSlide22.xml" Id="Rbcac80886ac446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c73e4c1f5485f" /><Relationship Type="http://schemas.openxmlformats.org/officeDocument/2006/relationships/notesSlide" Target="/ppt/notesSlides/notesSlide23.xml" Id="Rda8779fffe6246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9162927664904" /><Relationship Type="http://schemas.openxmlformats.org/officeDocument/2006/relationships/image" Target="/ppt/media/image17.png" Id="R0b54749a7fbf4704" /><Relationship Type="http://schemas.openxmlformats.org/officeDocument/2006/relationships/notesSlide" Target="/ppt/notesSlides/notesSlide24.xml" Id="Rf9c0835d0eac4f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6d50561f4267" /><Relationship Type="http://schemas.openxmlformats.org/officeDocument/2006/relationships/notesSlide" Target="/ppt/notesSlides/notesSlide25.xml" Id="R6ad82ae35ef845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38086d629411b" /><Relationship Type="http://schemas.openxmlformats.org/officeDocument/2006/relationships/image" Target="/ppt/media/image18.png" Id="Rc2f27f341a374aa1" /><Relationship Type="http://schemas.openxmlformats.org/officeDocument/2006/relationships/notesSlide" Target="/ppt/notesSlides/notesSlide26.xml" Id="Rb39195b796a54e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6e7615974b01" /><Relationship Type="http://schemas.openxmlformats.org/officeDocument/2006/relationships/notesSlide" Target="/ppt/notesSlides/notesSlide27.xml" Id="R502b0b7868144e5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945ca0c4f48b6" /><Relationship Type="http://schemas.openxmlformats.org/officeDocument/2006/relationships/notesSlide" Target="/ppt/notesSlides/notesSlide28.xml" Id="R96dfcc44b6ee4e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411474f124deb" /><Relationship Type="http://schemas.openxmlformats.org/officeDocument/2006/relationships/notesSlide" Target="/ppt/notesSlides/notesSlide29.xml" Id="R1d383170719f482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84cfc6fe244bc" /><Relationship Type="http://schemas.openxmlformats.org/officeDocument/2006/relationships/notesSlide" Target="/ppt/notesSlides/notesSlide30.xml" Id="Re4cc37f3a5a44a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1aab3d7eb41dc" /><Relationship Type="http://schemas.openxmlformats.org/officeDocument/2006/relationships/notesSlide" Target="/ppt/notesSlides/notesSlide31.xml" Id="R7df342bded74483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918fee3874dbe" /><Relationship Type="http://schemas.openxmlformats.org/officeDocument/2006/relationships/notesSlide" Target="/ppt/notesSlides/notesSlide32.xml" Id="Rcc6351b9b3c24b4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a5dd47bbb4513" /><Relationship Type="http://schemas.openxmlformats.org/officeDocument/2006/relationships/notesSlide" Target="/ppt/notesSlides/notesSlide33.xml" Id="R0426138d069b46c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f8733a6d24006" /><Relationship Type="http://schemas.openxmlformats.org/officeDocument/2006/relationships/notesSlide" Target="/ppt/notesSlides/notesSlide34.xml" Id="Rf192cce9d5e143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395714-5DFD-41E5-8FAF-F15557A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E83D-62FA-4BCB-9E6C-F06CEAD8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B12E5-23A7-4250-80C4-3D885839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DEEF7-DE79-4665-B7FD-BBAA350F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SW개발/HW제작 설계서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B4FB3-702C-4874-8083-55400E66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독거노인의 식생활 관리를 위한 AI 기반 스마트 냉장고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A0E5E-D3C0-40AD-BDC8-F3F2D17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66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3483-31D6-4630-8BF5-B308172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프로젝트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7CF47-7611-46DC-A6D8-922F9C5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리드스위치로 냉장고 문 이벤트를 감지하고 필요한 시점에만 촬영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 5에서 YOLO·윤곽선 후보·식재료 분류를 수행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재고 등록·소비 반영과 사용자 검수를 함께 제공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보유 재료 기반으로 부족 재료가 적은 레시피를 우선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0F3A2-1FEF-478C-9E06-BC54EEE6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2026. 07. 11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A85E2-2E8A-4428-A06E-EE7D35CF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6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개인정보 미기재 편집 가능본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EA261-8E99-4231-8726-6E9FD11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</p:spTree>
    <p:extLst>
      <p:ext uri="{BB962C8B-B14F-4D97-AF65-F5344CB8AC3E}">
        <p14:creationId xmlns:p14="http://schemas.microsoft.com/office/powerpoint/2010/main" val="1230191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BDF19-5D4A-4307-8715-CC683834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73A5B-2425-47C8-A824-E7E684CF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30C8F-46A0-4191-A67D-EB5611C4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E13F4-6E76-4583-949E-9AA709B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F6405-B1E8-4610-BF41-FA7A0169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6617F-9B07-4BBD-9DAA-AC15D237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70118-A6C5-48FF-A1C3-A85DE194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수행 단계별 주요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29BBA-DBC7-4A43-947E-B487BD7F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612B8-69E1-4550-820A-0C3AC4A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171700"/>
          <a:ext xmlns:a="http://schemas.openxmlformats.org/drawingml/2006/main" cx="11858625" cy="609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  <a:gridCol w="2476500"/>
                <a:gridCol w="1571625"/>
              </a:tblGrid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수록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시장/기술 동향 분석서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고령인구·노년 1인가구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3-4p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요구사항분석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정의서, 유즈케이스 정의서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필수/선택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5-7p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구성도, 흐름도, UI/UX, H/W·센서 구성도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8-12p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기능설계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메뉴, 화면, 연계도, ERD, 기능처리도, 알고리즘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13-23p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개발/구현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설계도, 프로그램 목록, 테이블 정의서, 핵심 소스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24-28p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개발환경, S/W·H/W 실사, 동영상 콘티, 프로젝트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29-33p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9540A-5F2F-46A5-9DA6-DCF69069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77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설문조사와 인터뷰 결과서는 실제 조사를 수행하지 않았으므로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933382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8193F-CF23-4F8B-B7E8-17FB3A71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4120F-10B7-46B6-824E-EFA7FD1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7FCBF-D130-4E87-885F-79E4BEE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A13E4-543B-4478-BC49-6FB6556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728BF-E08F-4D04-9F31-83DE4030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66F7A-88CC-444E-9ECC-62012E8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ECD54-1424-4B92-8F19-2566F985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8AFD7-41A4-40AE-8D1B-909686FA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사회·시장 배경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4388F-4924-493B-89A3-2AA1497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D3C11-CE41-413F-8FBD-7D6A666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01428-F63E-4D04-83AA-A7D3EC8E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715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A3856-03B4-495B-AD01-7B379905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그림 1-1. 고령인구 추이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E9BF4-7F8F-447F-9637-43D2E7AA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257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통계청 「2025 고령자 통계」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2025년 20.3% · 2036년 30% · 2050년 40% 초과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 제목·범례·기준연도가 보이게 캡처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8BBAD-E4DF-49BD-B5DC-79B1B2C1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03_market_elderly.png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F9C3D-5245-4E49-8EC4-491227BA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5791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0050D-D009-4580-841D-E6DC857F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그림 1-2. 노년 1인가구 추이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E00F1-F5BB-4325-9D62-B364DD9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5334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1인가구가 아닌 65세 이상 노년 1인가구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2022년 197.3만 → 2023년 약 213.8만 → 2024년 228.9만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노년 가구 중 비중: 37.0% → 37.8% → 38.2%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91864-3CA1-426F-BDCB-1AF9C4AF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03_market_elderly_single_household.png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D2D77-C16D-4AC3-A055-A24A7DF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BB0E5-EB07-4F25-A609-71B178F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D2AE2-890A-488B-B08C-F0B3392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해설 및 프로젝트 시사점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BB955-42AA-40DA-8B43-B46443AB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19950"/>
            <a:ext cx="1148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7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우리나라는 2025년 65세 이상 인구가 전체의 20.3%를 차지해 초고령사회에 진입했고, 고령인구 비중은 장기적으로 계속 증가할 전망이다.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2024년 가구주가 65세 이상인 노년 가구 중 1인 가구는 228만 9천 가구로 38.2%를 차지한다. 이는 식재료 구입·보관·소비를 혼자 관리하는 가구가 확대되고 있음을 뜻한다.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수기 입력을 계속 요구하는 방식은 고령 사용자에게 부담이 될 수 있으므로, 문 이벤트 기반 자동 촬영·인식과 확인이 필요한 항목만 검수하는 방식이 적합하다.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본 프로젝트는 재고 자동화에 그치지 않고 보유 재료와 레시피 필요 재료를 비교해 실제 식생활 의사결정까지 지원한다.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A06F4-F05C-49AA-8828-DE17C9A7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출처: 통계청 「2025 고령자 통계」, 「2024년·2023년 생애단계별 행정통계」. 2023년 가구 수는 공표 비중으로 계산한 약값.</a:t>
            </a:r>
          </a:p>
        </p:txBody>
      </p:sp>
    </p:spTree>
    <p:extLst>
      <p:ext uri="{BB962C8B-B14F-4D97-AF65-F5344CB8AC3E}">
        <p14:creationId xmlns:p14="http://schemas.microsoft.com/office/powerpoint/2010/main" val="536382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82ABA-5714-485D-903A-EA30674C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BB3B7-6677-4068-A8C6-689800CA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7E560-CB46-4F40-ACE8-42529C5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F85A6-D2B8-4208-ADD4-078F82FB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DE26A-0FC3-445E-BEF3-A2A3C4D6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DA278-9B85-48AC-A8C2-2A5AD17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6FFEC-6DC8-4C30-8762-0FD4646C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2219A-8B23-4497-9601-3638219B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기술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742AF-5D3F-43E4-B538-6BECE31E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25540-1222-4029-A6E3-3C4B930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18681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333625"/>
                <a:gridCol w="2095500"/>
                <a:gridCol w="2619375"/>
                <a:gridCol w="3390900"/>
              </a:tblGrid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수기·일반 앱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바코드/RFID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스마트 냉장고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프로젝트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직접 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부착·스캔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카메라·제품 생태계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자동 촬영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방식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 그대로 사용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코드·태그 ID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영상 인식 중심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YOLO+contour+분류+fallback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수량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인식 시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시스템 내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등록, /consume 차감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항목 수기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확인 제한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제품별 방식 상이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UNRECOGNIZED만 선택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연계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앱에서 제공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대체로 미지원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서비스에 종속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matched/missing 계산·정렬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리더기·서버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의존도가 높음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엣지 추론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입력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관리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 비용·복잡성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자동화+큰 카드+확인 필요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A39D-4CFC-4825-B0FA-74553AC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75"/>
            <a:ext cx="4476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DD7EB-2F71-4CDA-AF60-D97F279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9137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IoT·엣지 AI 기술 동향 그림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48317-73EB-4C79-A282-38AB1D4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00975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97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IITP 기술로드맵의 엣지 AI·IoT 구조 그림 또는 핵심 문장 캡처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C5C35-0953-482A-B57E-8D74CE0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391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04_technology_trend.png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C13CF-A2E1-46F2-8A51-45243742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5AB2C-2D2A-4373-8373-EF6D9026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7C40D-2EFE-4B27-A254-CC5965E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151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동향 해설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A692E-6D82-40D2-928E-8871F121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734300"/>
            <a:ext cx="680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5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엣지 AI는 클라우드 연결이 불안정해도 현장에서 상황을 인식하고 지연·데이터 전송량을 줄이는 방향으로 발전하고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문 센서 이벤트가 있을 때만 촬영하면 연속 녹화 대비 연산·저장 부담을 줄이고 실제 입출고 시점에 집중할 수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인식 결과를 무조건 확정하지 않고 낮은 신뢰도 항목만 사용자가 보완하는 사람-검수 구조가 정확성과 접근성을 함께 확보한다.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666D5-D94F-4546-87F6-8E053A49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 참고: IITP 「ICT R&amp;D 기술로드맵 2025 - 스마트 디바이스」, 「2025년 지원사업 안내」. 비교표는 기술 유형 기준 분석.</a:t>
            </a:r>
          </a:p>
        </p:txBody>
      </p:sp>
    </p:spTree>
    <p:extLst>
      <p:ext uri="{BB962C8B-B14F-4D97-AF65-F5344CB8AC3E}">
        <p14:creationId xmlns:p14="http://schemas.microsoft.com/office/powerpoint/2010/main" val="471122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A835A5-7FF8-4F3E-8A2F-C5F955A6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150E8-653E-4CAD-A11B-814AB1C1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D6B80-EADE-4E00-AF7A-8CF33DD9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0CFE3-35C3-40CD-A81A-B589B53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0CA89-27DE-4A53-AAB8-AA3B4198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9FC9B-BD8C-4FEE-B003-5CFC6A30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201C9-609A-404F-9438-21935DB3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CC047-2065-48FB-A35C-EBF6B3D2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A6C84-28D8-4562-BBAB-B46BE1B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B67C8-A094-45A3-B020-FC3935D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857250"/>
                <a:gridCol w="1952625"/>
                <a:gridCol w="6667500"/>
                <a:gridCol w="1143000"/>
              </a:tblGrid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회원가입/로그인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이름·이메일·비밀번호로 계정을 생성하고 로그인한다.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냉장고를 등록·선택·삭제하고 현재 냉장고를 지정한다.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조회/수정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수량·단위·상태·메모를 수정한다.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재료와 필요 재료를 비교해 부족 재료가 적은 순으로 제공한다.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감지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리드스위치의 GPIO17 입력으로 문 상태 이벤트를 감지한다.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촬영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또는 연속 모드에서 냉장고 내부 프레임을 수집한다.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영역을 추출하고 식재료명·confidence를 산출한다.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REQ-API-01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등록/소비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결과를 /upload로 등록하고 선택 모드에서 /consume으로 차감한다.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01417-8EEE-4F30-A222-01088556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검증 기준: 실제 앱/API/H/W 실행 결과와 데이터베이스 저장 결과로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671697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46926-412C-428B-B150-E5ACF7D5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17F8-15C2-45FE-9541-A23E4AA2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D386-DB2C-4FD4-B0AF-6DBE3E58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40DB4-9F38-46AB-BAE6-504D1FB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3D7C-C00C-444F-A93C-5FBE6A56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8E190-CA8A-4298-B2C3-0AC7DBD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E430B-F570-47DA-A730-AED41D24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C1498-412D-4E2D-8D4C-B64D6DF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세부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8AA0A-C524-4230-B8A4-5FFC3071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09648-818F-4EF4-B50D-603475F6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762250"/>
                <a:gridCol w="7820025"/>
              </a:tblGrid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이미지·인식 결과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label, confidence, 원본·crop 이미지 경로를 DB와 업로드 폴더에 저장한다.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직접 추가·수정·삭제할 수 있게 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보유/필요 재료를 비교해 missing_count가 낮은 순으로 정렬한다.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오인식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항목은 사용자가 이름과 상태를 수정할 수 있게 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문 이벤트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LOW·열림 HIGH를 기본값으로 사용하고 debounce 0.1초를 적용한다.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backend로 640×480, 30FPS 프레임을 수집한다.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미리보기 스트림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MJPEG preview를 제공해 장착 위치와 인식 박스를 브라우저에서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추출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box → contour 보완 → center fallback 순으로 후보를 확보한다.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 프레임 판정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label signature가 3회 반복될 때만 전송해 중복·오탐을 줄인다.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01FB2-76DC-4A7F-AF69-06A2A0A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비기능 요구: 개인정보·서버 IP·DB 계정은 문서와 캡처에서 제거하고, 미확정 H/W 사양은 “실물 제작 후 확정”으로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513164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D824D-01AB-4D0C-B9C9-290C3739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57926-33EB-434D-91C2-37272E76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F05EF-CAF0-4C7B-90B5-AC90D5E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27C71-780F-440C-AF3F-518A90B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7B767-97EB-4553-9752-5CCC0EA8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6BB8-8FAA-4757-BC98-6EEB8E7B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4FE45-00B5-4685-8373-8E48C99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유즈케이스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2F1AD-6D6E-41A5-8D7C-D838118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BED19-6A65-449E-9D4B-8334EB12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72A87-4EB1-4708-9FBC-291E4914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6572250"/>
          </a:xfrm>
          <a:prstGeom xmlns:a="http://schemas.openxmlformats.org/drawingml/2006/main" prst="roundRect">
            <a:avLst>
              <a:gd name="adj" fmla="val 119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5D519-599A-4279-A915-311D269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9BF41-5666-4AE9-94A7-433F92D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유즈케이스 다이어그램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47ea0ed11457d"/>
          <a:stretch xmlns:a="http://schemas.openxmlformats.org/drawingml/2006/main"/>
        </p:blipFill>
        <p:spPr>
          <a:xfrm xmlns:a="http://schemas.openxmlformats.org/drawingml/2006/main">
            <a:off x="857250" y="4325805"/>
            <a:ext cx="6115050" cy="282601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E769F-D17F-4215-B6C6-D306F91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65722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FCFC6-57FA-468B-A5E7-209870D0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ACBFD-4D68-42EC-93A0-7E1D065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UC-01 식재료 자동 등록 정의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448550" y="2952750"/>
          <a:ext xmlns:a="http://schemas.openxmlformats.org/drawingml/2006/main" cx="5010150" cy="556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3819525"/>
              </a:tblGrid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후 식재료를 촬영·인식하여 현재 냉장고 재고에 자동 등록한다.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Actor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사용자, Raspberry Pi 5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API, MySQL, Flutter 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및 현재 냉장고 선택, 카메라·리드스위치·서버 정상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후행조건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행과 원본/crop 이미지, label, confidence, 상태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1) 문 열림 감지  2) 프레임 촬영  3) 후보 추출·분류  4) 동일 결과 3회 안정  5) /upload  6) 앱 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시나리오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신뢰도·매칭 실패는 UNRECOGNIZED로 저장 후 사용자 검수. 네트워크 오류는 재시도. cooldown 동안 중복 전송 방지.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소비 처리는 선택 워크플로에서 UC-02 /consume으로 수행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EFFF7-E98C-42FE-9C1E-94A723B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 원본: diagrams/plantuml/07_usecase.puml</a:t>
            </a:r>
          </a:p>
        </p:txBody>
      </p:sp>
    </p:spTree>
    <p:extLst>
      <p:ext uri="{BB962C8B-B14F-4D97-AF65-F5344CB8AC3E}">
        <p14:creationId xmlns:p14="http://schemas.microsoft.com/office/powerpoint/2010/main" val="985190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9216C4-9456-4D76-BC16-52A0C705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221C4-FEF9-4A3F-8908-307F751B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3845-2C54-4215-AEF0-F6F1F52E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19FEB-0EAE-42F1-8030-CC7A757B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3960C-B849-48ED-A267-BBDB74F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E6D6B-A85B-44FA-8E08-42E9372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49183-9471-472D-AB4F-9A62AF3E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589CB-ACD3-4AA8-BCC3-A827864E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시나리오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AF7D2-6008-49F5-B8D4-D0F088C9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38B9F-06A0-444C-B7F6-772D975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1B6CE-AE57-448E-8DF2-1D7050B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13335-A1B8-44FF-BC55-872CC12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17B2E-8A8E-42D8-B8F8-AFE87F3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중심 서비스 시나리오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35880dbc64f3c"/>
          <a:stretch xmlns:a="http://schemas.openxmlformats.org/drawingml/2006/main"/>
        </p:blipFill>
        <p:spPr>
          <a:xfrm xmlns:a="http://schemas.openxmlformats.org/drawingml/2006/main">
            <a:off x="1088529" y="2990850"/>
            <a:ext cx="6509742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436C2-BB96-4B12-9AC1-89E161D3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02148-6185-4CEA-A414-6A98EF4B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E402A-DD35-4B60-966F-750A31FA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설명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23837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입력·처리·출력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예외/확인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문 열림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HIGH 이벤트를 Pi에 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bounce_time 0.1초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촬영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준비 후 640×480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시 재시도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YOLO·contour·fallback 후보를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미달은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signature 3회 후 /upload·DB INSERT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cooldown으로 중복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앱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/inventory로 목록·상태·이미지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사용자 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 경로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모드에서 /consume으로 수량 감소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이하이면 행 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D1BE6-96D5-4C68-8AEE-5C306B9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08_service_scenario.puml | 자동 등록을 기본 경로, 문 닫힘 소비를 보조 경로로 표현</a:t>
            </a:r>
          </a:p>
        </p:txBody>
      </p:sp>
    </p:spTree>
    <p:extLst>
      <p:ext uri="{BB962C8B-B14F-4D97-AF65-F5344CB8AC3E}">
        <p14:creationId xmlns:p14="http://schemas.microsoft.com/office/powerpoint/2010/main" val="410917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EB62E-DB77-448B-ACA3-07F54F12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EBD2-610C-45D1-A16B-5C545226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01531-491E-481D-8D9C-79050EA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1548D-1BB9-4349-B6D7-56A2348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D7A9C-9685-4180-B46E-7C660C96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AC35-F4F9-4A0D-AA4E-B494037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CCCAA-7B77-4523-896A-3D6AEF56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714DB-AFCE-4DB9-B002-F976BFE3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D36AA-B0C4-4E55-8020-986BF57E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53ACD-4529-4F71-9903-C56391E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98E49-8374-4D19-BB5C-5AFAFAA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09F0C-7BB5-43A7-8CB9-563EAD60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F6967-5858-46EA-964A-346794B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아키텍처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df46605414835"/>
          <a:stretch xmlns:a="http://schemas.openxmlformats.org/drawingml/2006/main"/>
        </p:blipFill>
        <p:spPr>
          <a:xfrm xmlns:a="http://schemas.openxmlformats.org/drawingml/2006/main">
            <a:off x="895350" y="3432251"/>
            <a:ext cx="6896100" cy="459407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87228-5F0E-4C98-9192-7C4CE2F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71E3A-B3DE-4E76-B5B5-6316E7F5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408E6-FD7F-429A-BA14-E46AD591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구성요소 역할·데이터 흐름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95262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구성요소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데이터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이벤트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내부 프레임 수집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감지·AI 추론·전송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crop, label, 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REST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JSON, multipart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MySQL/파일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데이터·원본/crop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SQL, JPEG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 앱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조회·검수·추천 UI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InventoryItem, Recipe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EDE10-8FDA-435B-8E96-D255E290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연결 순서: 센서/카메라 → Pi 엣지 AI → Flask → MySQL/이미지 → Flutter | 보호자 알림은 향후 확장</a:t>
            </a:r>
          </a:p>
        </p:txBody>
      </p:sp>
    </p:spTree>
    <p:extLst>
      <p:ext uri="{BB962C8B-B14F-4D97-AF65-F5344CB8AC3E}">
        <p14:creationId xmlns:p14="http://schemas.microsoft.com/office/powerpoint/2010/main" val="190422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E5F77-2DC4-4252-B261-F1E36DF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35A90-6180-45A5-B215-ABA0F86D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6EB07-C3A2-4C12-AC02-16EA4FD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200C8-D28E-44FA-8524-CC0B0DBF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A8756-A814-4472-A13A-C217CCB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622CE-C327-4FA4-90D5-E4A11EB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BFF32-4AA6-4A7A-837F-CA1C6541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6801D-8491-4E71-93B0-23A0F43E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CF5EA-E29D-4FE8-9836-1A63227F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D8645-46BA-406D-95EA-40FCB34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2899E-1AA9-4D19-829D-76C2547E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FA1BD-EFA3-4A8D-8218-866B896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서비스 흐름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7966d65364f4b"/>
          <a:stretch xmlns:a="http://schemas.openxmlformats.org/drawingml/2006/main"/>
        </p:blipFill>
        <p:spPr>
          <a:xfrm xmlns:a="http://schemas.openxmlformats.org/drawingml/2006/main">
            <a:off x="895350" y="3615483"/>
            <a:ext cx="6896100" cy="42276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69739-C7D7-4F3D-A536-68AFAE88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95EE3-73A1-468F-82DB-7284C7D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00B39-6465-402C-8FC7-9D24869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판단·예외 처리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지점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crop을 추가해 분류 기회를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후보 제외 또는 확인 필요 처리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frame 미달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프레임으로 돌아가 signature 재평가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오류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실패를 기록하고 다음 이벤트에서 재시도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재고 INSERT, 이미지·AI 메타데이터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재료 최신 재고 UPDATE, 0 이하 DELETE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0CD20-6A25-42AA-87DF-EA5476B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10_service_flow.puml | 기본값: stable_frames 3, cooldown 20초</a:t>
            </a:r>
          </a:p>
        </p:txBody>
      </p:sp>
    </p:spTree>
    <p:extLst>
      <p:ext uri="{BB962C8B-B14F-4D97-AF65-F5344CB8AC3E}">
        <p14:creationId xmlns:p14="http://schemas.microsoft.com/office/powerpoint/2010/main" val="205817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0923F-72AC-415B-AB5D-9831D5D1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F2ABD-89E4-4DD2-8E38-EFB2937A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E7A0E-418F-46A0-991D-C88A5B58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8D67-CE94-4A2E-A372-138727B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0A122-27BB-476F-8055-EAA30D1E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DF26A-3B0C-4E96-AA30-2691A91D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20803-21DB-4524-B91F-AA4D97C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UI/UX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A40A2-7178-427F-9265-EABA9CB1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57843-4A99-4EF7-82BD-5353EAFD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15D4E-0944-4912-B5F6-E59A82F4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C0A77-4FC6-46F6-9127-3F475828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3F558-5218-456E-B08C-28784FE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F34DC-51CB-4BDB-A90F-999A88A8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 와이어프레임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8ee5d4ef44b9a"/>
          <a:stretch xmlns:a="http://schemas.openxmlformats.org/drawingml/2006/main"/>
        </p:blipFill>
        <p:spPr>
          <a:xfrm xmlns:a="http://schemas.openxmlformats.org/drawingml/2006/main">
            <a:off x="895350" y="4168591"/>
            <a:ext cx="6896100" cy="312139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930F2-FED9-47EB-922A-920AF4C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4903A-8F48-46D3-9139-7C640F01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BC00C-DFA3-46C2-AC74-D59510D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고령층 접근성·UI 원칙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19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원칙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방법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 우선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홈에 재고·레시피 두 개의 큰 진입 카드 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가시성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정상/확인 필요를 색·텍스트로 함께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최소화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 후 필요한 항목만 사용자 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회복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상태·네트워크 오류에 안내와 재시도 제공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일관된 용어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재고, 재료, 확인 필요, 부족 재료 표현 통일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보호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이메일·서버 주소를 캡처와 문서에서 제거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ADE5D-34C6-4CFC-A917-182CAA2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11_uiux_wireframe.puml | 실제 앱 캡처가 준비되면 와이어프레임 이미지만 교체</a:t>
            </a:r>
          </a:p>
        </p:txBody>
      </p:sp>
    </p:spTree>
    <p:extLst>
      <p:ext uri="{BB962C8B-B14F-4D97-AF65-F5344CB8AC3E}">
        <p14:creationId xmlns:p14="http://schemas.microsoft.com/office/powerpoint/2010/main" val="1517444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ABE15-FE69-444C-862F-70AFEA2F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75E22-ADB0-42CC-B1FE-168FD663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628A8-13F6-4E2B-AAE8-1FAE7C8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CA62B-3B85-481F-BF6D-2B3A62D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01704-3278-4E3B-B673-C6F59A8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96498-C6BF-474B-ADFD-CB8B459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9A920-5F1D-409D-8F27-7F3EE698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H/W·센서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55BA5-ABA5-4476-AE6A-D59CADC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11484-DCCE-4934-8CFA-D874268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516F9-A697-44D4-93A0-C2C2B9D5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0B3CC-1303-4E2E-B2B8-2EED9B0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4A1F9-E992-4CC6-A119-3FEA5BF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센서·카메라 배선 설계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74daf50c24622"/>
          <a:stretch xmlns:a="http://schemas.openxmlformats.org/drawingml/2006/main"/>
        </p:blipFill>
        <p:spPr>
          <a:xfrm xmlns:a="http://schemas.openxmlformats.org/drawingml/2006/main">
            <a:off x="1661032" y="2990850"/>
            <a:ext cx="5364736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CC8A3-F1ED-460C-BDDD-CC4626F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9F245-480A-4FCA-81C3-75125641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AFF32-4DF7-40AA-9BD2-028D6C26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부품·연결·역할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666875"/>
                <a:gridCol w="1390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역할/비고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GPIO17, GND, 카메라, LAN/Wi-Fi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센서·영상·AI·전송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선 GPIO17(물리 11), 한 선 GND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LOW, 열림 HIGH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문에 부착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시 접점 근접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CSI/Picamera2 또는 USB/OpenCV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640×480, 30FPS 기본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USB-C 상시 전원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정격·케이블 실물 제작 후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:5000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/upload, /consume, inventory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5CB01-2A2B-44B8-A5F4-31038E7B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별도 MCU/자체 PCB 없음. 결로·케이블 고정·카메라 모델·전원 정격은 실물 제작 후 확정.</a:t>
            </a:r>
          </a:p>
        </p:txBody>
      </p:sp>
    </p:spTree>
    <p:extLst>
      <p:ext uri="{BB962C8B-B14F-4D97-AF65-F5344CB8AC3E}">
        <p14:creationId xmlns:p14="http://schemas.microsoft.com/office/powerpoint/2010/main" val="427154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81A7E-C1E4-448E-8971-9AD83E0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65450-F004-4B94-B83F-2D4DFC11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73F3B-97C1-4C58-8EDC-75D8E93B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A851B-1895-48F5-8DCF-CCF7DB40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AB763-BECD-4173-9A56-4323388F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951B7-EEFF-4DF6-9535-DA3107F8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8B838-FAB3-4C2B-B71C-77BF7552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67B21-E394-4147-BC3C-28C6E4E4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4616F-15B7-4234-8D5D-F883A7A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602C5-EADB-433F-B821-F875151F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9DBBD-3FEA-4C02-A70E-053999F2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32E67-496B-4839-B632-C714F8B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2B446-5271-4DCA-93B8-B60D6F48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이동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d1639c58b4b45"/>
          <a:stretch xmlns:a="http://schemas.openxmlformats.org/drawingml/2006/main"/>
        </p:blipFill>
        <p:spPr>
          <a:xfrm xmlns:a="http://schemas.openxmlformats.org/drawingml/2006/main">
            <a:off x="895350" y="4029419"/>
            <a:ext cx="6896100" cy="339973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ABF9A-F334-48C5-9817-BB19EF1F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013C3-F51D-4A38-A84B-C3EEAFE9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4F04-206D-4739-9C3B-B80ED6B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화면별 진입·복귀 규칙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476375"/>
                <a:gridCol w="1485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복귀/처리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로그인·회원가입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후 현재 냉장고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냉장고 없음 또는 홈의 변경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후 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재고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저장·삭제 후 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레시피 목록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상세에서 목록으로 복귀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상단 메뉴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상태 초기화 후 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확장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 화면·알림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미구현, 점선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407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62882-730E-493D-8D89-4ED23B2D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7ACB-C69D-408E-8D28-BFEE3D39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7789C-ED36-47EA-A777-30AA3B9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0C3F-C960-45E9-ACC0-89B48DB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3B764-8BA9-44C3-88B6-A2887EAE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37EA3-9B8C-4D2D-8571-A90BF745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17EC4-751E-474F-B594-1D719BBD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CD6D5-9691-498A-9573-96D489BD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988D2-DFEA-44E6-A08F-3CD62553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7072D-12A3-49DA-8143-7B956D8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F1708-4B79-4BF1-94C5-F7127343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5BBE4-D74A-409A-8BBF-AF94E6A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45BC1-B0D5-4CE6-B7BF-CA4E07D7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d019a94444e90"/>
          <a:stretch xmlns:a="http://schemas.openxmlformats.org/drawingml/2006/main"/>
        </p:blipFill>
        <p:spPr>
          <a:xfrm xmlns:a="http://schemas.openxmlformats.org/drawingml/2006/main">
            <a:off x="1264725" y="2990850"/>
            <a:ext cx="6157350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4A6B2-8C49-4622-8A1F-0F5BCCF3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1C84B-2AA7-4243-A727-5B6FAE4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C8FCC-0B2F-4E54-9537-EA67F3E7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설명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762125"/>
                <a:gridCol w="1295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위치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계정/냉장고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인증, 냉장고 CRUD·선택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Flutter·Flask·MySQL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센서/카메라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촬영, 미리보기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추출, 분류, 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YOLO/OpenCV/best.pt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관리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등록·차감·CRUD·검수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검색·matched/missing·상세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/recipes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연동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REST·SQL·이미지 저장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Flask·MySQL·uploads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4913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A8FFC3-6CC8-4FDA-B0D3-3698563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40A8C-AA97-4A76-B031-A7D4829E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73553-E2F6-4F8B-9745-519812C0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D821B-83C2-4560-B01B-6DC42FF1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96B97-240C-43DC-BC96-4B0F12B2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78238-A737-4589-B110-93C088C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85F81-CA70-4F07-A3BF-464AF2F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5A9D0-EE54-4E20-8B6F-76138362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F0A9D-B4D0-44C8-B64C-C1D1C37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9392A-9A2A-4948-AF99-4010D27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C6736-21D5-417F-8AF1-9F45341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CF299-3063-44F3-A030-A4BB360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46338-2FF4-48C0-BF6D-C33148D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로그인·홈·재고·레시피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fd0d55b1d4d93"/>
          <a:stretch xmlns:a="http://schemas.openxmlformats.org/drawingml/2006/main"/>
        </p:blipFill>
        <p:spPr>
          <a:xfrm xmlns:a="http://schemas.openxmlformats.org/drawingml/2006/main">
            <a:off x="901207" y="2990850"/>
            <a:ext cx="6884386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13A91-B91E-40BC-8E0F-31D3E4D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1DB7E-577A-4D63-97D4-3AA7BA1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548CB-38B2-4C98-8808-AA2B306E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기능번호·처리내용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"/>
                <a:gridCol w="1381125"/>
                <a:gridCol w="20478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화면/기능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/auth/login 후 사용자·냉장고 상태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냉장고명과 재고/레시피 진입 카드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/inventory, 검색·필터·새로고침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POST/PUT/DELETE inventory, AI 검수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/recipes, 부족 재료 적은 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UI-06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필요/부족 재료와 조리 방법 표시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9309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BB31B-D449-4108-9C28-9808BDAD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C2BB5-91A4-4CBF-8A73-346CCA9E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537FA-E6D1-4434-8A40-589F996F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38EA0-54E4-43D4-8AB7-BFA8558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26547-3DAA-437A-BA77-6BEB6F75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23128-F0E0-45FB-B957-0687B26C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C8BB0-E341-4603-BE52-7E5192D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EA656-1B60-4569-AC4C-F121818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상세/수정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12C02-1B48-4E00-BBEF-5553B5DE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2450D-33BF-4F76-BAE1-A807C1E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342B6-6CCD-4837-99BE-7180043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59C77-CB76-4B88-97D3-22513D6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4F8CE-2259-433E-A5A1-49E8F367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상세·수정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0632dd0cb4840"/>
          <a:stretch xmlns:a="http://schemas.openxmlformats.org/drawingml/2006/main"/>
        </p:blipFill>
        <p:spPr>
          <a:xfrm xmlns:a="http://schemas.openxmlformats.org/drawingml/2006/main">
            <a:off x="2057983" y="2990850"/>
            <a:ext cx="4570834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00A6C-D3DA-4BAA-B995-07398835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5D481-DC02-40D1-BF30-8113AB45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34876-1021-4322-BD4B-2C9B48B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입력·출력·예외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1524000"/>
                <a:gridCol w="19431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 재료명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quantity/unit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수량·단위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status/note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상태·메모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detected_name/confidence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추정값·신뢰도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crop/image URL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우선, 없으면 원본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 배너와 사용자 보완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저장/삭제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시 이전 화면 복귀·목록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912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B994E5-CEA9-4305-84C8-5634E19D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D6667-13FC-4609-B226-860C597E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80FF4-0559-47B1-BE9C-22550A91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5DD7A-C26C-431D-A9A2-5CA0D74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38312-1220-4526-8C27-BFC692C3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02469-ED17-4B2A-B224-974195B0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D5DB7-975D-4445-B914-74DCB4EB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EEB54-4905-42B6-B5BF-FB546B6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E56E7-40BC-421F-BA4F-3AFCE0E4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36EDF-C9AC-438A-BF01-9BAF290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64A9C-93FB-42B2-8544-7C979D93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F39E4-62B0-44DC-AF69-1AA85968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화면 이동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e21c29e5b4195"/>
          <a:stretch xmlns:a="http://schemas.openxmlformats.org/drawingml/2006/main"/>
        </p:blipFill>
        <p:spPr>
          <a:xfrm xmlns:a="http://schemas.openxmlformats.org/drawingml/2006/main">
            <a:off x="2492892" y="2990850"/>
            <a:ext cx="3701016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79C77-E2D0-4D16-971B-B5051D5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EFEDD-2BC2-4542-8176-28FABDD7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0F563-FDFD-4B13-9CFA-F2CA1AB9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네비게이션 규칙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이동/처리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성공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있음 → 홈, 없음 → 냉장고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 성공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냉장고 생성 후 로그인/홈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카드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목록으로 복귀하고 재조회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상세로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변경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선택·관리 화면에서 현재 냉장고 갱신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상태 초기화 후 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9106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8A1FE-8ECB-4A18-9DBE-80ED36E2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0605E-B6C9-4652-833F-AD975CA2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810C1-85E3-4D3F-8FD1-EEA67FD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A16B9-7EA7-4AA7-A52E-6A622684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DCEE3-326D-4452-9B6B-CD719269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C29E6-5FE6-48CA-9B1E-7E876D2C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9E84E-9073-42A2-B595-A0F927D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연계도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B50E9-4655-4F35-AF8A-69A9FC8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17D64-757C-45AC-9F07-C6A841F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C6C72-EB92-4DA4-BF4E-257BF0BF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7CE03-ED38-4D10-B6C5-E9F091C9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8B3F8-1B74-4441-B4A4-7EF5C08C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H/W·앱·서버·DB 연계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74a018cb94da2"/>
          <a:stretch xmlns:a="http://schemas.openxmlformats.org/drawingml/2006/main"/>
        </p:blipFill>
        <p:spPr>
          <a:xfrm xmlns:a="http://schemas.openxmlformats.org/drawingml/2006/main">
            <a:off x="1373476" y="2990850"/>
            <a:ext cx="5939848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E315B-0D67-4CC9-A808-636EECF4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C9180-BFA8-4E01-A516-66F7E4F1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0F66F-B99B-484C-A07C-4072ADD7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 인터페이스 정의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2000250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송신→수신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프로토콜/데이터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센서→Pi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상태 이벤트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카메라→Pi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추출·분류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Pi→Flask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multipart JPEG, label, 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등록/소비 요청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Flutter↔Flask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JSON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인증·재고·레시피 CRUD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Flask→파일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JPEG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원본·crop 증빙 보관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8491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A42A6-E543-4BED-86A2-05272F7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38C45-A2DB-4ED2-BD42-FB5DA945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FCAB6-FBFB-442D-AC06-564E99D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CAC9D-4B92-4AA4-872A-4FD9BEF0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592B3-D306-4310-94EF-CD9BE76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3F950-F0B5-4B0F-A7FB-B1097884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A7777-F157-4510-A2D3-D3C981C9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엔티티 관계도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9E7F0-EA4D-4D55-AAD7-CEF8D8A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1B910-E153-4D92-B180-8DA2D70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17475-1232-474C-9759-23F00275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757A3-3F01-443D-87FB-AB952602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AEBEE-95F9-4303-ABDD-62369D53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59DF3-7BCE-4DAC-89BD-C31AB87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개념 ERD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af4ffc3a1457a"/>
          <a:stretch xmlns:a="http://schemas.openxmlformats.org/drawingml/2006/main"/>
        </p:blipFill>
        <p:spPr>
          <a:xfrm xmlns:a="http://schemas.openxmlformats.org/drawingml/2006/main">
            <a:off x="895350" y="3479289"/>
            <a:ext cx="6896100" cy="449999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9419B-1423-475F-96D0-04856BF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D650D-D9E6-40EA-A0A9-3352DBCA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47967-E1E7-4666-9611-467675B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관계·무결성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000125"/>
                <a:gridCol w="1771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카디널리티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users-fridges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삭제 시 냉장고 cascade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fridges-fridge_items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삭제 시 재고 cascade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ingredients-fridge_items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0..1:N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 실패 시 ingredient_id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recipes-ingredients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N:M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recipe_ingredients 연결 테이블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users-current_fridge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애플리케이션에서 현재 냉장고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app_state-active_fridge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브리지의 대상 냉장고 상태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231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81224-AB17-45C3-89C3-4559FCE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374BC-A232-48AD-8B46-8189D506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DB6CF-729E-49AD-8B7F-CDDFBB4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05577-2BF4-4C0A-98D8-F3526CCB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FFDE7-1220-4420-934A-C8C2F64B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B8EFD-944B-4073-90E2-8FEBED6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BCFE0-8152-4DC5-938A-D3C421F9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기능 처리도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A5B8B-4CB3-4DC7-B190-45A2B60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A1B78-3116-4228-BB70-1231B51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C8E9C-42D9-4C98-803D-BFAE12A1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604CF-9C87-498D-9FFF-4D2C914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C4E72-EC9A-49C5-98FA-437CE85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BA47-16FE-40C5-AFEC-FEFA6E2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재고 반영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d4c41469243db"/>
          <a:stretch xmlns:a="http://schemas.openxmlformats.org/drawingml/2006/main"/>
        </p:blipFill>
        <p:spPr>
          <a:xfrm xmlns:a="http://schemas.openxmlformats.org/drawingml/2006/main">
            <a:off x="895350" y="3917385"/>
            <a:ext cx="6896100" cy="362380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9B75F-49D9-47A8-8564-63450900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CEDD5-7D3F-46DC-9635-26D0F96A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9CBDC-A23C-432F-A6FD-E82AC276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입력·처리·출력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9146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frame, fridge_id,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전처리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 후보 병합, fallback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분류, confidence, signature 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→ fridge_items INSERT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 → UPDATE 또는 DELETE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결과, 이미지 URL, Flutter 목록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stable_frames·cooldown·timeout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35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A7DBF-E0BD-4D78-BAF5-F2ED4F00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E7E1B-C5D1-4949-8641-A1996148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D79E1-22C6-426B-9C70-E7D9A9F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A1B76-E1CC-4D39-97C6-226535FC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CCBA-DC5D-4E04-A3E4-D935983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995E5-EBC3-4513-A431-7EF6FC88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6E908-BEC3-498A-B1BE-8DB7463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1749F-FADA-4393-8CE6-3610C9C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F1C15-833A-433B-9188-DEF2EEE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B9A1A-C055-4942-82D4-625A081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54DD8-7D2D-4DC4-8014-5FC0553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4D627-314C-4110-AB4B-DEA3019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등록·소비 호출 순서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41baf593b4fa6"/>
          <a:stretch xmlns:a="http://schemas.openxmlformats.org/drawingml/2006/main"/>
        </p:blipFill>
        <p:spPr>
          <a:xfrm xmlns:a="http://schemas.openxmlformats.org/drawingml/2006/main">
            <a:off x="1927035" y="2990850"/>
            <a:ext cx="4832729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990F6-983A-4C49-859E-499E714F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6F6BD-458A-4B7B-B9A3-674C5AE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E1507-6918-4F5C-A515-4AC65534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참여자·책임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7241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열기/닫기, 앱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OPEN/CLOSE 이벤트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카메라·AI·전송 오케스트레이션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카메라/AI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검증·비즈니스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INSERT/SELECT/UPDATE/DELETE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목록·상세 화면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104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6B47B-CB1D-45E5-BA9C-6C5CC27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74464-0311-4B14-8872-72729E2B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99A4-F341-44B1-837C-8F9E9E0A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2C3CF-F04D-4B6D-BDC7-4F2C420B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EA3F-FA2B-412B-9ED4-D2557EE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3A3EE-5490-4446-9EF1-E689C68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20CB5-185D-4A73-B0C1-55FB1BAA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명세서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3B706-C4FE-4D81-84A3-C0E0C40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후보·분류·안정화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611C9-5469-40EC-AD89-36DFCE8A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9B840-6578-4C17-9EF9-4424EAE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F73DE-E264-4858-9C49-2734937B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C0EDE-AB70-4BF5-AE99-4BCF1D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5C2D4-CD25-4599-8665-71EB8B4C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알고리즘 흐름도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e11e74c1a4070"/>
          <a:stretch xmlns:a="http://schemas.openxmlformats.org/drawingml/2006/main"/>
        </p:blipFill>
        <p:spPr>
          <a:xfrm xmlns:a="http://schemas.openxmlformats.org/drawingml/2006/main">
            <a:off x="1378052" y="2990850"/>
            <a:ext cx="5930695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D662D-4D4C-4C3D-9D6C-C40C16A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A1BC8-F1A8-4605-BF30-A4F3689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DED96-F010-44CB-9DBF-A1C81758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명세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2143125"/>
                <a:gridCol w="1438275"/>
              </a:tblGrid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detector 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contour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후보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top5·confidence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none/background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uploadable 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signature 비교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stable_count 갱신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3회 안정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또는 /consume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전송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394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065E9A-9CAB-4001-B96E-4889DC5A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9C5B5-625C-4624-BBCB-DA54EC5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BB800-BF8A-4AD3-B9EF-04ECE68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B64BC-3B0B-4344-9D70-83847C29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8B8A8-C95D-4A0B-B176-629BCD9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BDA78-F6FD-4D77-8EA2-2D1A27B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3085F-9262-46A1-8C12-30CCA4E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상세 명세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CCB9C-A803-4B17-BD1C-3C7A34C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5B686-150E-48CB-92B6-59847D65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42950" y="2076450"/>
          <a:ext xmlns:a="http://schemas.openxmlformats.org/drawingml/2006/main" cx="118681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333750"/>
                <a:gridCol w="7296150"/>
              </a:tblGrid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설정/입력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 이벤트의 식재료 인식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생성·분류·안정화 후 재고 API 호출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 RGB frame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camera backend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→ contour → center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겹침 제거 후 최대 4개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best.pt, top5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 confidence 기준과 background 보정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signature 3회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프레임 일치 시 최종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interval 1초, cooldown 20초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중복·오탐·과도한 업로드 방지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BDD66-7C5A-4F84-966E-A40A513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715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7E562-0360-42D0-BABB-8AEF51D0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정상 인식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BB3FC-EB85-4430-ABA7-D6B066E4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52578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프레임·검출 박스·crop·label·confidence가 함께 보이는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예: “동일 tomato signature 3회 후 /upload 성공”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C0DF9-0EB3-4F45-B0CD-E30FEE1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23_algorithm_success.png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FF29E-89E4-4A56-9C12-C0E4F243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5791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B7021-4ADC-4A48-83B1-3C2AA190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낮은 신뢰도/오인식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FDA04-D1E9-4023-803B-8AA14CA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43600"/>
            <a:ext cx="53340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confidence 미달 또는 UNRECOGNIZED 사례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재료명·상태를 보완하는 화면과 함께 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6CFBB-A7A3-427D-8F11-82B5D42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72425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23_algorithm_review.png</a:t>
            </a:r>
          </a:p>
        </p:txBody>
      </p:sp>
    </p:spTree>
    <p:extLst>
      <p:ext uri="{BB962C8B-B14F-4D97-AF65-F5344CB8AC3E}">
        <p14:creationId xmlns:p14="http://schemas.microsoft.com/office/powerpoint/2010/main" val="3641154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64F2C-8672-4681-9042-BC336B00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4D2BF-F37F-4801-82E0-09442A75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98FD5-602A-44C7-9893-A5B40D12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376E3-D3A5-4602-8027-A1C4CBFE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FFA13-AF73-4429-B94F-3E9EEE1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68F05-3A21-4A30-9AA1-4FD6588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83C36-08D3-4035-AF55-BF3D2A3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하드웨어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937FD-FF9F-4A52-ACB6-BE20D5D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F04BE-FCEC-44DD-9BB7-D60206A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5902F-BB1F-4D0E-BB19-8A0928C2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9F3D4-E4F1-44CC-B7DC-B6644520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6C4DE-D0BA-44C1-8CBB-67F19D8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 모듈·장착 설계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749a7fbf4704"/>
          <a:stretch xmlns:a="http://schemas.openxmlformats.org/drawingml/2006/main"/>
        </p:blipFill>
        <p:spPr>
          <a:xfrm xmlns:a="http://schemas.openxmlformats.org/drawingml/2006/main">
            <a:off x="895350" y="3451025"/>
            <a:ext cx="6896100" cy="45565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95655-A1C8-4724-A8A1-3E53DEF0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438B7-D7DE-436A-971E-EF26E4D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1A634-B9F2-41B8-907E-B21C581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장착·안전·미확정 항목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86702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원칙/상태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동선이 보이는 위치, 모델·화각 실물 제작 후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리드스위치/자석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문틀/문짝에 고정, 닫힘 시 근접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결로를 피하도록 냉장고 외부 제어부에 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CSI/USB, GPIO17/GND, USB-C 전원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Wi-Fi/유선 LAN, Flask :5000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케이블 고정·냉각·결로 대책은 실물 시험 후 확정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3588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067B3-1E95-4756-AD46-5C16DDE1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2CFA-7DFB-4BA6-B318-393B97A8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9875C-3E34-4C10-92C0-D65DE9B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C2E81-668C-4E32-A698-14C5C331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A3BBA-4E16-447D-89DB-BC7A52E1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25EFD-5C02-4A44-B205-716FB37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0CCB1-4DAC-48D6-91CE-962F9015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프로그램·목록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7A328-C0CC-40E5-9738-7A279047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C6D3B-61BB-4500-941F-297FB1B5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381125"/>
                <a:gridCol w="3238500"/>
                <a:gridCol w="4524375"/>
                <a:gridCol w="1343025"/>
              </a:tblGrid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기능번호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프로그램/파일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신규/기존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login_screen.dart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register_screen.dart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FRG-01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fridge_selection_screen.dart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등록/선택/삭제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home_screen.dart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메뉴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inventory_screen.dart, /inventory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inventory_detail_screen.dart, /inventory/{id}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 수정/삭제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recipe_list_screen.dart, /recipes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RCP-02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recipe_detail_screen.dart, /recipes/{id}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H/W/AI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pi_fridge_camera.py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촬영·후보 추출·분류·전송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API-01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app.py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API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init_db()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테이블 생성·seed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7240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F09DC-F67B-48A2-B8D5-193CCA2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25CF4-736B-4749-92C6-AC06C077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86905-9115-4F3D-BAD0-EFF1F19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70B84-D114-4452-B49B-5EACFB3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9CA2C-3186-49CA-8733-7943003B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49E94-586E-441D-B275-693D8E38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48D58-9926-426A-9B1F-567C6B2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테이블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8B0B6-1CC2-4ADD-A41A-9D422E7A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836B3-38CF-4433-BF60-74AE829F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92C0C-13DA-4931-8436-53A9014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3A15D-FB75-47BA-A83D-376454D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65722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A6DCF-8D91-4CEA-82E1-6E6EABA8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1A85F-96DD-4A55-A163-A9E264F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 축약본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27f341a374aa1"/>
          <a:stretch xmlns:a="http://schemas.openxmlformats.org/drawingml/2006/main"/>
        </p:blipFill>
        <p:spPr>
          <a:xfrm xmlns:a="http://schemas.openxmlformats.org/drawingml/2006/main">
            <a:off x="857250" y="4028546"/>
            <a:ext cx="5067300" cy="34586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B7737-CA5E-4F14-B1F0-88D50225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65722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5C798-891E-4BB2-8340-A55E621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26DB6-AD94-4274-BA7D-D8FEEF0E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fridge_items 데이터사전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400800" y="2952750"/>
          <a:ext xmlns:a="http://schemas.openxmlformats.org/drawingml/2006/main" cx="60579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238250"/>
                <a:gridCol w="762000"/>
                <a:gridCol w="571500"/>
                <a:gridCol w="2057400"/>
              </a:tblGrid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PK/FK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기본값/설명</a:t>
                      </a:r>
                    </a:p>
                  </a:txBody>
                  <a:tcPr marL="91440" marR="91440" marT="45720" marB="45720">
                    <a:solidFill>
                      <a:srgbClr val="2F704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fridge_item_id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AUTO_INCREMENT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fridge_id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냉장고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마스터 식재료 매칭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표시명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RECOGNIZED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image_path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이미지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crop_image_path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이미지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신뢰도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 라벨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TEXT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메모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2053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93B61-E5D9-4FD5-A2FA-806D55A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FC271-8FFF-42B2-9CB6-08A76EC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7579F-64F8-46E8-884B-661BDA12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A7142-61ED-4FB6-BF0F-C37E8171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6923A-C2D9-433D-B8F1-D45DEB4E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818BE-C5CA-48DE-A1BB-A418363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9553F-D14D-4D60-90A5-E16201C4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A5518-AF86-4BB5-AED5-F6162C70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504B0-6E6E-4E53-9081-298C2E80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122C0-F2C3-4932-AD3F-16B66C7B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83DD1-BD6C-4E7C-82A9-F1FBE69D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backend/app.py - upload_detection()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E1B2-8024-4978-813E-BDA84BD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1144~1159, 1161~1199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검증·저장, RECOGNIZED/UNRECOGNIZED 결정, fridge_items INSERT가 보이게 캡처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파일명·줄번호 표시, 개인정보·서버 정보 가림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3539C-0835-41E0-9DD5-4BD414A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27_code_upload.png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AB7CB-A799-4307-9C55-ADCC6CF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87ACE-1081-40EE-98DC-41FF85DC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backend/app.py - list_recipes()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423BF-FBF0-4374-9403-2647652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1018~1020, 1048~1082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1061~1066 missing 계산과 1081 정렬식을 포함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재료가 적고 matched가 많은 순 추천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97DCF-EF33-4C2A-93BE-B257F084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27_code_recipes.png</a:t>
            </a:r>
          </a:p>
        </p:txBody>
      </p:sp>
    </p:spTree>
    <p:extLst>
      <p:ext uri="{BB962C8B-B14F-4D97-AF65-F5344CB8AC3E}">
        <p14:creationId xmlns:p14="http://schemas.microsoft.com/office/powerpoint/2010/main" val="11531206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B6D5B-5DFF-4C9A-A28D-CA4E2DF2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18154-AA15-4333-B9C1-B06B6CE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EAC78-834D-40B6-A8F7-C4C6162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2387B-19B0-42E7-A232-E7CFE03C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83F70-8E69-41AF-BEC0-E48A718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FB3B0-0C1A-47A6-8669-0926CDD3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C7F78-7196-438F-8350-D1942772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FA92-ECFB-4269-BA4D-7188353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9C6A5-9F09-4F8D-94C2-1B3C0970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FFACE-9DFD-46F9-9D2B-76FD8E6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8A655-D056-4FBC-A073-1A891C63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backend/pi_fridge_camera.py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02311-7F60-4034-A9D8-806B0EC1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collect_crop_candidates(): 319~329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scan_until_action(): 912~947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YOLO·contour·center fallback과 signature 안정화 구간을 “...”로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90FA1-654F-4688-B304-54EDB70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28_code_pi.png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7A7DB-CDDE-4A99-BE52-8D59A947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58325-79C1-4928-BBB3-57293B2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fridge_app/lib/services/api_service.dart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2A421-3D0A-4D8A-A3BC-5AFEA7B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fetchInventory(): 91~95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fetchRecipes(): 147~156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fetchRecipeDetail(): 158~166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REST URL과 응답 모델 변환이 보이게 캡처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46B9A-AC3A-4207-BFD6-E30BAC4A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28_code_flutter.png</a:t>
            </a:r>
          </a:p>
        </p:txBody>
      </p:sp>
    </p:spTree>
    <p:extLst>
      <p:ext uri="{BB962C8B-B14F-4D97-AF65-F5344CB8AC3E}">
        <p14:creationId xmlns:p14="http://schemas.microsoft.com/office/powerpoint/2010/main" val="15325937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F40F0-4B24-4A1A-994F-80DC8485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5E42F-5A6D-4206-9DC4-E9670300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4F835-F4B1-4DA6-8629-63EE5A6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8B671-B04D-429A-99B3-39E837A0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7417D-14FD-4926-8931-3AA39ED6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F2D64-51D9-4B46-B915-64907E46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558DC-4F8A-40D6-B8F4-8BAB7485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참조-개발 환경 및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94B26-002B-4B6E-AA2D-A0DEA605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8CB3E-08CF-4EA1-85BB-33DF8B4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809750"/>
                <a:gridCol w="4953000"/>
                <a:gridCol w="3438525"/>
              </a:tblGrid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내역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76792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개발 PC, Raspberry Pi OS 64-bit, Android/Web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개발과 H/W 실행 환경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Studio Code, Flutter, Python venv, Git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앱·백엔드·AI 브리지 개발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언어/프레임워크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Dart/Flutter, Python/Flask, SQL/MySQL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앱·API·DB 구성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개발환경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모델/라이브러리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Ultralytics YOLO, OpenCV, best.pt, yolov8n.pt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탐지와 식재료 분류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구성장비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5, 카메라, 리드스위치, 자석, 냉장고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촬영과 문 이벤트 감지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 방식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REST, multipart upload, MJPEG preview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Pi·서버·앱 간 데이터 전달</a:t>
                      </a:r>
                    </a:p>
                  </a:txBody>
                  <a:tcPr marL="91440" marR="91440" marT="45720" marB="45720"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문서/형상관리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HANDOFF.md, Git repository, 실행 안내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테스트·인수인계 절차 표준화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06BBD-32C2-4AEA-AC32-67A3B8D9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주의: 저장소 URL·계정명·서버 IP·DB 비밀번호는 제출 자료에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29571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86958-E453-4470-B246-0CF93BF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BB71A-EBFD-4235-9C70-25997944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C88BC-140E-4D65-8295-21BE49E7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081CA-D74C-44BD-A791-5CF90E87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3ADA5-F6FF-4083-88CE-DB834C5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0F0A2-B199-493A-982C-15673210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A2C7-165C-4014-8D77-86870B0B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S/W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3AD1E-5D30-4011-B666-536B1EB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2A066-13C6-45AF-8598-EE1A21F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BBC74-5E90-4BAF-9357-0601B22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00405-E71A-4CE5-801D-7EF570BB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00E9D-8476-4908-950F-2F12189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crop·재료명·상태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B7A8A-18BA-4BA4-BE11-8D14C72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30_sw_inventory.png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18C10-C3DA-43E1-8402-58C9C92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06BD1-EE2F-41EF-8879-6423281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상세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DDCFC-6186-4993-A019-31C8F01D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수량·단위·상태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2A3FD-3BA3-4451-A156-5FC1A11C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30_sw_detail.png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5DA75-C4CC-4213-8F48-A240D899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EAE6D-67DF-4A01-8D8E-E4ECA379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8A407-D0B9-4036-B35F-B6EEAFF1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 수·추천 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3743B-3C9E-40C1-9F16-A186EE3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30_sw_recipes.png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81125-73EF-4034-83C3-CEAECBED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F7A30-7C6D-44BE-8A4A-AC6CE5A9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A1CC8-7F32-4D32-BDE7-29EAA17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필요·부족 재료와 조리법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5DED1-2832-41E8-944F-9CE6D2E4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30_sw_recipe_detail.png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C5261-D4F3-4389-A4B3-9916E4E0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실행 화면은 동일 사용자·냉장고 데이터 기준으로 촬영하고 개인정보·서버 주소를 가린다.</a:t>
            </a:r>
          </a:p>
        </p:txBody>
      </p:sp>
    </p:spTree>
    <p:extLst>
      <p:ext uri="{BB962C8B-B14F-4D97-AF65-F5344CB8AC3E}">
        <p14:creationId xmlns:p14="http://schemas.microsoft.com/office/powerpoint/2010/main" val="17673288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200C7-1576-4B8A-95E8-6B237D7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AF97B-89D1-4FD0-86F4-8068023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F4159-9659-4A59-A453-250E015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C3400-B3F1-4F2D-98F1-92820AE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B9356-FE2A-4E0F-A5D1-493F1A8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5E7AD-E5C9-476B-A83D-29E499A8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D79C8-89D8-47E8-9BE0-6250EC0F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참조-H/W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AC2F-498E-43F2-AFE7-50842115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55805-FDD5-4D80-8B80-1F45DAC5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21335-14A6-4231-AE96-6AF35E75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3463A-DC6D-4A0C-B13D-242D7A0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전체 장착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1E804-14E2-4CA8-92AF-8C7E64BD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냉장고·Pi·카메라·센서·케이블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24541-3F5C-4CE5-9AB9-FF5C4A6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31_hw_01.jpg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F87DC-D760-4278-BF50-EE714B3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7B9A2-EA33-4EFC-A938-D9BAF3B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Pi-카메라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BEB8A-E3AB-42A0-BC49-2B0BCA9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CSI 또는 USB 연결부·촬영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16F2D-D5DF-4ACE-9003-085DF15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31_hw_02.jpg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1F461-2309-4A78-BA7A-90821E87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118C1-CF07-4606-B1D5-24CADA7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GPIO17/GND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2FC96-C4A8-4411-8B21-48CC720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물리 핀 11과 GND 배선 근접 사진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B39EC-73B2-4B8E-95AE-4A92D61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31_hw_03.jpg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5F4DB-C094-44D7-918D-A7030CF3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A69E4-A16A-4E28-860B-2E91E872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 열림/닫힘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9669D-233F-46A4-8F9E-E79D9150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리드스위치·자석 거리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FCE17-9631-4EA9-B773-2FDF872B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31_hw_04.jpg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C6DE5-7720-4D78-93EB-7411AE8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40D7F-D8DE-41C8-ADC5-B42E2E28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MJPEG 인식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3CFBFC-6220-4028-B948-D4604A62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식재료와 검출 박스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921B2-1CE3-4F31-AB7F-552FB7C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31_hw_05.jpg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8FAF5-DF48-42F0-B3A9-52CADEB2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BC5809-313C-46D1-88E4-7449568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앱 재고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79015-9BE4-4794-B5AF-4DC7A17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식재료 투입 후 목록 갱신 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FC169-7636-4169-BFF7-EE77098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31_hw_06.jpg</a:t>
            </a:r>
          </a:p>
        </p:txBody>
      </p:sp>
    </p:spTree>
    <p:extLst>
      <p:ext uri="{BB962C8B-B14F-4D97-AF65-F5344CB8AC3E}">
        <p14:creationId xmlns:p14="http://schemas.microsoft.com/office/powerpoint/2010/main" val="14981945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51E1A-6DD8-4242-985F-C47896D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26629-CBCD-4F90-A179-9409E181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5AB0E-82F3-4E58-896B-3459FAE0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D27E1-F510-43ED-93A2-DDBD0D52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D47C3-6B4B-4E4B-A9FD-C204081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C2B1D-FFD6-4DD5-894B-AD483B08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33CE3-AB09-440A-997F-F8017AE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동영상 촬영 콘티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B2A05-2F45-4E7C-94DC-232978D5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EE6CC-2490-4E3F-A568-572D9F0D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A718D-AEA1-48C2-BC98-634C80A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69419-00F3-48D7-B85A-6880F79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#1 문제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FC8EF-5C03-4DA7-B9F9-386D095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고령인구·노년 1인가구 증가와 수기 재고관리 부담을 1~2문장으로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9403D-0945-4DBF-AA4F-DD455CF0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32_story_1.png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88ADD-20FC-42B8-ABEC-3B2F9C4C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C3DDC-0CEC-46EA-ABA3-4730C33D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#2 하드웨어 소개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02788-4260-4FCB-9A16-1A0F76D4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카메라·리드스위치·Raspberry Pi 장착 위치와 연결을 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6210E-6AAC-44FC-8622-54720226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32_story_2.png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D8D50-D6F6-41A6-92BF-E1EBDA0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36D51-1D3E-4621-BD7E-CECCD011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#3 자동 인식·저장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4AA19-F325-4AA8-B5CD-4E4B6580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 열림 → 촬영 → AI 인식 → /upload → 재고 반영을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3E111-DF95-4A54-AE8E-B5CE1627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32_story_3.png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8FB99-A9E5-4ED8-8203-A5AF104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9050">
            <a:solidFill>
              <a:srgbClr val="96363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E7DF6-AEB3-47FC-8D20-CBD5D65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#4 앱 확인·레시피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662AF-5647-4843-A78C-E2C0C143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항목 검수와 부족 재료가 적은 레시피 추천을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D8D84-3D1B-4A06-9B40-388F18AF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교체 파일: 32_story_4.png</a:t>
            </a:r>
          </a:p>
        </p:txBody>
      </p:sp>
    </p:spTree>
    <p:extLst>
      <p:ext uri="{BB962C8B-B14F-4D97-AF65-F5344CB8AC3E}">
        <p14:creationId xmlns:p14="http://schemas.microsoft.com/office/powerpoint/2010/main" val="20084880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C375A-99D5-4533-BA3D-717827F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21600-8EB0-4BF7-ADBA-A1783C1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75D43-0F30-4C9D-BE53-0A9E8D2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FDE69-429C-4BD4-A1C9-E201460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6DA5D-E615-4F08-8A7A-F9693A7A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1F633-F81C-4DB4-9087-93C4DE0F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F8D6A-9A58-44B2-8B90-A625513A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참조-프로젝트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57FD2-935F-402C-AE5F-33F655CD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C3B26-8935-4C23-8878-C72F72A4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FD6AF-DE2B-4A2F-96BF-B25EF74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EEE86-CB42-4836-B199-417362C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프로젝트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30A32-CD56-4FA7-951B-7E3D1358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주간 일정 또는 Kanban 보드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완료/진행/대기 상태와 담당을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BD7A3-A8E1-4E53-9DE3-1E1499E8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33_project_board.png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9B168-DDD4-46F1-A5B8-26B3BDCF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A15C8-475A-4C1C-A5F1-06FB950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형상관리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0B78B-CAC2-4B81-870C-6187A26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Git commit·branch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 계정명·원격 저장소 URL은 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74264-8A50-4694-A8FA-0FF73DB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33_git_history.png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20221-F0EA-4971-8E55-3221FA51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C1138-FAED-4C60-A614-964C79F1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이슈관리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4CE05-7BA1-4C4F-90EC-581F2EC4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오류-원인-해결-검증이 보이는 이슈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재현 조건과 수정 commit을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E9C98-715E-406D-929D-489D346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33_issue_log.png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AB52F-6AB7-43C6-BDE3-B2AE43A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관리 증빙은 날짜·상태·해결 결과가 보이도록 캡처하고 개인정보는 제거한다.</a:t>
            </a:r>
          </a:p>
        </p:txBody>
      </p:sp>
    </p:spTree>
    <p:extLst>
      <p:ext uri="{BB962C8B-B14F-4D97-AF65-F5344CB8AC3E}">
        <p14:creationId xmlns:p14="http://schemas.microsoft.com/office/powerpoint/2010/main" val="1074379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ABA84-C460-43CC-8EF9-8651776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E55AF-5442-416F-879A-2906D5F6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제작설계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0EE94-0ADC-4AEA-8D79-BEC9CBB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BEAD2-6071-41C1-9547-E077A410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직접 수요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85BEA-E42F-4923-848A-71F57D8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초고령사회와 노년 1인가구 증가에 맞춘 식재료 관리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CFDA2-3594-45EB-AA47-F70B929D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AC930-0092-46B4-8892-031AB305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17F2B-A007-48BF-ACCD-B988E71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이벤트·엣지 AI·Flask/MySQL·Flutter를 연결한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57019-FE0F-4C2A-B7A4-FFD17F4C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4481D-8F85-474D-899C-1954AFC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신뢰성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098A7-53E4-4E20-8C50-EEFC2EA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frame과 UNRECOGNIZED 사용자 검수로 자동화와 정확성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E586C-B188-48EE-878E-B6C30BEA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최종 제출 전 교체할 자료: 통계 그래프 · 기술 동향 그림 · 코드 캡처 · S/W/H/W 실사 · 관리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C01A8-435F-4332-BA70-C265E7F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1767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2026-07-11T12:06:51.8790000Z</dcterms:created>
  <dcterms:modified xsi:type="dcterms:W3CDTF">2026-07-11T12:06:51.8790000Z</dcterms:modified>
</coreProperties>
</file>