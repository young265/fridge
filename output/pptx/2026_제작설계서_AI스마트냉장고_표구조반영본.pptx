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febf71ffa4478c" /><Relationship Type="http://schemas.openxmlformats.org/officeDocument/2006/relationships/extended-properties" Target="/docProps/app.xml" Id="R6501c59b63f94eff" /><Relationship Type="http://schemas.openxmlformats.org/officeDocument/2006/relationships/officeDocument" Target="/ppt/presentation.xml" Id="R253b39a3f6ec4f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801668f13a41d4"/>
  </p:sldMasterIdLst>
  <p:notesMasterIdLst>
    <p:notesMasterId xmlns:r="http://schemas.openxmlformats.org/officeDocument/2006/relationships" r:id="R14a06e2e34df4fa1"/>
  </p:notesMasterIdLst>
  <p:sldIdLst>
    <p:sldId xmlns:r="http://schemas.openxmlformats.org/officeDocument/2006/relationships" id="256" r:id="Redeb8a3992614a50"/>
    <p:sldId xmlns:r="http://schemas.openxmlformats.org/officeDocument/2006/relationships" id="257" r:id="Re8e3f119c36d4eed"/>
    <p:sldId xmlns:r="http://schemas.openxmlformats.org/officeDocument/2006/relationships" id="258" r:id="R32cc2fd617324eda"/>
    <p:sldId xmlns:r="http://schemas.openxmlformats.org/officeDocument/2006/relationships" id="259" r:id="Rda880ebb23fd4fd9"/>
    <p:sldId xmlns:r="http://schemas.openxmlformats.org/officeDocument/2006/relationships" id="260" r:id="Rf0d145734156466c"/>
    <p:sldId xmlns:r="http://schemas.openxmlformats.org/officeDocument/2006/relationships" id="261" r:id="R47cbb17da94f4bce"/>
    <p:sldId xmlns:r="http://schemas.openxmlformats.org/officeDocument/2006/relationships" id="262" r:id="Ree734f246ccb4001"/>
    <p:sldId xmlns:r="http://schemas.openxmlformats.org/officeDocument/2006/relationships" id="263" r:id="Rf206ab959c824a41"/>
    <p:sldId xmlns:r="http://schemas.openxmlformats.org/officeDocument/2006/relationships" id="264" r:id="Rcf26c2771d814b37"/>
    <p:sldId xmlns:r="http://schemas.openxmlformats.org/officeDocument/2006/relationships" id="265" r:id="R4543cd28255d4a7c"/>
    <p:sldId xmlns:r="http://schemas.openxmlformats.org/officeDocument/2006/relationships" id="266" r:id="R7905d632c883427c"/>
    <p:sldId xmlns:r="http://schemas.openxmlformats.org/officeDocument/2006/relationships" id="267" r:id="R1307a880cdd149ae"/>
    <p:sldId xmlns:r="http://schemas.openxmlformats.org/officeDocument/2006/relationships" id="268" r:id="Rf9e4ee921eaa4a68"/>
    <p:sldId xmlns:r="http://schemas.openxmlformats.org/officeDocument/2006/relationships" id="269" r:id="R339faa26de6949a9"/>
    <p:sldId xmlns:r="http://schemas.openxmlformats.org/officeDocument/2006/relationships" id="270" r:id="R2dad3a6699664430"/>
    <p:sldId xmlns:r="http://schemas.openxmlformats.org/officeDocument/2006/relationships" id="271" r:id="R9e445c79d0354087"/>
    <p:sldId xmlns:r="http://schemas.openxmlformats.org/officeDocument/2006/relationships" id="272" r:id="R503f5d44df6d440f"/>
    <p:sldId xmlns:r="http://schemas.openxmlformats.org/officeDocument/2006/relationships" id="273" r:id="R0214d2555ffd4aee"/>
    <p:sldId xmlns:r="http://schemas.openxmlformats.org/officeDocument/2006/relationships" id="274" r:id="R7c8e335e3ff34c02"/>
    <p:sldId xmlns:r="http://schemas.openxmlformats.org/officeDocument/2006/relationships" id="275" r:id="R471ce4c2702043a0"/>
    <p:sldId xmlns:r="http://schemas.openxmlformats.org/officeDocument/2006/relationships" id="276" r:id="Rac20c96d5a174997"/>
    <p:sldId xmlns:r="http://schemas.openxmlformats.org/officeDocument/2006/relationships" id="277" r:id="Re12ff1081a53438e"/>
    <p:sldId xmlns:r="http://schemas.openxmlformats.org/officeDocument/2006/relationships" id="278" r:id="Reaa054092fb44481"/>
    <p:sldId xmlns:r="http://schemas.openxmlformats.org/officeDocument/2006/relationships" id="279" r:id="R7d120eb3457045a5"/>
    <p:sldId xmlns:r="http://schemas.openxmlformats.org/officeDocument/2006/relationships" id="280" r:id="R7016918fecbc4671"/>
    <p:sldId xmlns:r="http://schemas.openxmlformats.org/officeDocument/2006/relationships" id="281" r:id="Rb8d2efecdb324166"/>
    <p:sldId xmlns:r="http://schemas.openxmlformats.org/officeDocument/2006/relationships" id="282" r:id="Rb272ab966daa4bb8"/>
    <p:sldId xmlns:r="http://schemas.openxmlformats.org/officeDocument/2006/relationships" id="283" r:id="Rb48250156c3f4c68"/>
    <p:sldId xmlns:r="http://schemas.openxmlformats.org/officeDocument/2006/relationships" id="284" r:id="Rc3e9ee311cee4ab8"/>
    <p:sldId xmlns:r="http://schemas.openxmlformats.org/officeDocument/2006/relationships" id="285" r:id="Rfde28238da3645e2"/>
    <p:sldId xmlns:r="http://schemas.openxmlformats.org/officeDocument/2006/relationships" id="286" r:id="R2d79dda3b4f44b4d"/>
    <p:sldId xmlns:r="http://schemas.openxmlformats.org/officeDocument/2006/relationships" id="287" r:id="R0e4c69f9594a48a5"/>
    <p:sldId xmlns:r="http://schemas.openxmlformats.org/officeDocument/2006/relationships" id="288" r:id="Rf9b40491553043fd"/>
    <p:sldId xmlns:r="http://schemas.openxmlformats.org/officeDocument/2006/relationships" id="289" r:id="R2b18175891e1442d"/>
  </p:sldIdLst>
  <p:sldSz cx="13335000" cy="9429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e37d4b5a0e46fe" /><Relationship Type="http://schemas.openxmlformats.org/officeDocument/2006/relationships/slideMaster" Target="/ppt/slideMasters/slideMaster1.xml" Id="R7f801668f13a41d4" /><Relationship Type="http://schemas.openxmlformats.org/officeDocument/2006/relationships/notesMaster" Target="/ppt/notesMasters/notesMaster1.xml" Id="R14a06e2e34df4fa1" /><Relationship Type="http://schemas.openxmlformats.org/officeDocument/2006/relationships/presProps" Target="/ppt/presProps.xml" Id="Rb24dce4f9dc94363" /><Relationship Type="http://schemas.openxmlformats.org/officeDocument/2006/relationships/tableStyles" Target="/ppt/tableStyles.xml" Id="R387f4f9cd6884b4f" /><Relationship Type="http://schemas.openxmlformats.org/officeDocument/2006/relationships/slide" Target="/ppt/slides/slide1.xml" Id="Redeb8a3992614a50" /><Relationship Type="http://schemas.openxmlformats.org/officeDocument/2006/relationships/slide" Target="/ppt/slides/slide2.xml" Id="Re8e3f119c36d4eed" /><Relationship Type="http://schemas.openxmlformats.org/officeDocument/2006/relationships/slide" Target="/ppt/slides/slide3.xml" Id="R32cc2fd617324eda" /><Relationship Type="http://schemas.openxmlformats.org/officeDocument/2006/relationships/slide" Target="/ppt/slides/slide4.xml" Id="Rda880ebb23fd4fd9" /><Relationship Type="http://schemas.openxmlformats.org/officeDocument/2006/relationships/slide" Target="/ppt/slides/slide5.xml" Id="Rf0d145734156466c" /><Relationship Type="http://schemas.openxmlformats.org/officeDocument/2006/relationships/slide" Target="/ppt/slides/slide6.xml" Id="R47cbb17da94f4bce" /><Relationship Type="http://schemas.openxmlformats.org/officeDocument/2006/relationships/slide" Target="/ppt/slides/slide7.xml" Id="Ree734f246ccb4001" /><Relationship Type="http://schemas.openxmlformats.org/officeDocument/2006/relationships/slide" Target="/ppt/slides/slide8.xml" Id="Rf206ab959c824a41" /><Relationship Type="http://schemas.openxmlformats.org/officeDocument/2006/relationships/slide" Target="/ppt/slides/slide9.xml" Id="Rcf26c2771d814b37" /><Relationship Type="http://schemas.openxmlformats.org/officeDocument/2006/relationships/slide" Target="/ppt/slides/slide10.xml" Id="R4543cd28255d4a7c" /><Relationship Type="http://schemas.openxmlformats.org/officeDocument/2006/relationships/slide" Target="/ppt/slides/slide11.xml" Id="R7905d632c883427c" /><Relationship Type="http://schemas.openxmlformats.org/officeDocument/2006/relationships/slide" Target="/ppt/slides/slide12.xml" Id="R1307a880cdd149ae" /><Relationship Type="http://schemas.openxmlformats.org/officeDocument/2006/relationships/slide" Target="/ppt/slides/slide13.xml" Id="Rf9e4ee921eaa4a68" /><Relationship Type="http://schemas.openxmlformats.org/officeDocument/2006/relationships/slide" Target="/ppt/slides/slide14.xml" Id="R339faa26de6949a9" /><Relationship Type="http://schemas.openxmlformats.org/officeDocument/2006/relationships/slide" Target="/ppt/slides/slide15.xml" Id="R2dad3a6699664430" /><Relationship Type="http://schemas.openxmlformats.org/officeDocument/2006/relationships/slide" Target="/ppt/slides/slide16.xml" Id="R9e445c79d0354087" /><Relationship Type="http://schemas.openxmlformats.org/officeDocument/2006/relationships/slide" Target="/ppt/slides/slide17.xml" Id="R503f5d44df6d440f" /><Relationship Type="http://schemas.openxmlformats.org/officeDocument/2006/relationships/slide" Target="/ppt/slides/slide18.xml" Id="R0214d2555ffd4aee" /><Relationship Type="http://schemas.openxmlformats.org/officeDocument/2006/relationships/slide" Target="/ppt/slides/slide19.xml" Id="R7c8e335e3ff34c02" /><Relationship Type="http://schemas.openxmlformats.org/officeDocument/2006/relationships/slide" Target="/ppt/slides/slide20.xml" Id="R471ce4c2702043a0" /><Relationship Type="http://schemas.openxmlformats.org/officeDocument/2006/relationships/slide" Target="/ppt/slides/slide21.xml" Id="Rac20c96d5a174997" /><Relationship Type="http://schemas.openxmlformats.org/officeDocument/2006/relationships/slide" Target="/ppt/slides/slide22.xml" Id="Re12ff1081a53438e" /><Relationship Type="http://schemas.openxmlformats.org/officeDocument/2006/relationships/slide" Target="/ppt/slides/slide23.xml" Id="Reaa054092fb44481" /><Relationship Type="http://schemas.openxmlformats.org/officeDocument/2006/relationships/slide" Target="/ppt/slides/slide24.xml" Id="R7d120eb3457045a5" /><Relationship Type="http://schemas.openxmlformats.org/officeDocument/2006/relationships/slide" Target="/ppt/slides/slide25.xml" Id="R7016918fecbc4671" /><Relationship Type="http://schemas.openxmlformats.org/officeDocument/2006/relationships/slide" Target="/ppt/slides/slide26.xml" Id="Rb8d2efecdb324166" /><Relationship Type="http://schemas.openxmlformats.org/officeDocument/2006/relationships/slide" Target="/ppt/slides/slide27.xml" Id="Rb272ab966daa4bb8" /><Relationship Type="http://schemas.openxmlformats.org/officeDocument/2006/relationships/slide" Target="/ppt/slides/slide28.xml" Id="Rb48250156c3f4c68" /><Relationship Type="http://schemas.openxmlformats.org/officeDocument/2006/relationships/slide" Target="/ppt/slides/slide29.xml" Id="Rc3e9ee311cee4ab8" /><Relationship Type="http://schemas.openxmlformats.org/officeDocument/2006/relationships/slide" Target="/ppt/slides/slide30.xml" Id="Rfde28238da3645e2" /><Relationship Type="http://schemas.openxmlformats.org/officeDocument/2006/relationships/slide" Target="/ppt/slides/slide31.xml" Id="R2d79dda3b4f44b4d" /><Relationship Type="http://schemas.openxmlformats.org/officeDocument/2006/relationships/slide" Target="/ppt/slides/slide32.xml" Id="R0e4c69f9594a48a5" /><Relationship Type="http://schemas.openxmlformats.org/officeDocument/2006/relationships/slide" Target="/ppt/slides/slide33.xml" Id="Rf9b40491553043fd" /><Relationship Type="http://schemas.openxmlformats.org/officeDocument/2006/relationships/slide" Target="/ppt/slides/slide34.xml" Id="R2b18175891e1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ee245583841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4267a56d2a429a" /><Relationship Type="http://schemas.openxmlformats.org/officeDocument/2006/relationships/notesMaster" Target="/ppt/notesMasters/notesMaster1.xml" Id="Rc1f995eeb4ea4c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87ff0b89e645a3" /><Relationship Type="http://schemas.openxmlformats.org/officeDocument/2006/relationships/notesMaster" Target="/ppt/notesMasters/notesMaster1.xml" Id="R9bfeebc048c744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80d7804b584b80" /><Relationship Type="http://schemas.openxmlformats.org/officeDocument/2006/relationships/notesMaster" Target="/ppt/notesMasters/notesMaster1.xml" Id="R3cfaf19409b64e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82a28e8c474e82" /><Relationship Type="http://schemas.openxmlformats.org/officeDocument/2006/relationships/notesMaster" Target="/ppt/notesMasters/notesMaster1.xml" Id="R96028182e62d4f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dd3134bd98430b" /><Relationship Type="http://schemas.openxmlformats.org/officeDocument/2006/relationships/notesMaster" Target="/ppt/notesMasters/notesMaster1.xml" Id="R6b0e2845396347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616fa5b9a64647" /><Relationship Type="http://schemas.openxmlformats.org/officeDocument/2006/relationships/notesMaster" Target="/ppt/notesMasters/notesMaster1.xml" Id="R56c14663ad7b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6d9c0c9dc942fb" /><Relationship Type="http://schemas.openxmlformats.org/officeDocument/2006/relationships/notesMaster" Target="/ppt/notesMasters/notesMaster1.xml" Id="Rfaf5dc38a39b46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96914ac87a4e61" /><Relationship Type="http://schemas.openxmlformats.org/officeDocument/2006/relationships/notesMaster" Target="/ppt/notesMasters/notesMaster1.xml" Id="R813fe61215db4d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adf618c4944a59" /><Relationship Type="http://schemas.openxmlformats.org/officeDocument/2006/relationships/notesMaster" Target="/ppt/notesMasters/notesMaster1.xml" Id="Rf75798801c204a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59fa97c60647cc" /><Relationship Type="http://schemas.openxmlformats.org/officeDocument/2006/relationships/notesMaster" Target="/ppt/notesMasters/notesMaster1.xml" Id="R3d508ba39c8e47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65c529ee954a7f" /><Relationship Type="http://schemas.openxmlformats.org/officeDocument/2006/relationships/notesMaster" Target="/ppt/notesMasters/notesMaster1.xml" Id="Rbc795af6029042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0bdffe8f94453d" /><Relationship Type="http://schemas.openxmlformats.org/officeDocument/2006/relationships/notesMaster" Target="/ppt/notesMasters/notesMaster1.xml" Id="R4518b02bdc1845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644b2e36b04f5a" /><Relationship Type="http://schemas.openxmlformats.org/officeDocument/2006/relationships/notesMaster" Target="/ppt/notesMasters/notesMaster1.xml" Id="Racbab0a85c0b4a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93b1d6212d4164" /><Relationship Type="http://schemas.openxmlformats.org/officeDocument/2006/relationships/notesMaster" Target="/ppt/notesMasters/notesMaster1.xml" Id="Rdf26639873264c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c48a29b5c54c6c" /><Relationship Type="http://schemas.openxmlformats.org/officeDocument/2006/relationships/notesMaster" Target="/ppt/notesMasters/notesMaster1.xml" Id="Reb28a68c8f4d46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7c1b07f56e148b7" /><Relationship Type="http://schemas.openxmlformats.org/officeDocument/2006/relationships/notesMaster" Target="/ppt/notesMasters/notesMaster1.xml" Id="R42cc0241b92547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40368ee33949b1" /><Relationship Type="http://schemas.openxmlformats.org/officeDocument/2006/relationships/notesMaster" Target="/ppt/notesMasters/notesMaster1.xml" Id="Ra8f824b7cb2444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2c8ddba1494884" /><Relationship Type="http://schemas.openxmlformats.org/officeDocument/2006/relationships/notesMaster" Target="/ppt/notesMasters/notesMaster1.xml" Id="Rbc08c30507734b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5cbf1b13d8e4546" /><Relationship Type="http://schemas.openxmlformats.org/officeDocument/2006/relationships/notesMaster" Target="/ppt/notesMasters/notesMaster1.xml" Id="Rbd394d26ebc940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2c483f71c44c2d" /><Relationship Type="http://schemas.openxmlformats.org/officeDocument/2006/relationships/notesMaster" Target="/ppt/notesMasters/notesMaster1.xml" Id="R39baaec58ac745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1fbf81c31b54de3" /><Relationship Type="http://schemas.openxmlformats.org/officeDocument/2006/relationships/notesMaster" Target="/ppt/notesMasters/notesMaster1.xml" Id="R4f221c0bc722441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eab390cfb449f4" /><Relationship Type="http://schemas.openxmlformats.org/officeDocument/2006/relationships/notesMaster" Target="/ppt/notesMasters/notesMaster1.xml" Id="R41f78147654e47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f5812dd6b04cd1" /><Relationship Type="http://schemas.openxmlformats.org/officeDocument/2006/relationships/notesMaster" Target="/ppt/notesMasters/notesMaster1.xml" Id="R5068697a423341b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b6eb190cabb4068" /><Relationship Type="http://schemas.openxmlformats.org/officeDocument/2006/relationships/notesMaster" Target="/ppt/notesMasters/notesMaster1.xml" Id="R733d3950ac3b4d0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9d3934009cb49ac" /><Relationship Type="http://schemas.openxmlformats.org/officeDocument/2006/relationships/notesMaster" Target="/ppt/notesMasters/notesMaster1.xml" Id="R81b698b3233849d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8c562cfdcd44cf3" /><Relationship Type="http://schemas.openxmlformats.org/officeDocument/2006/relationships/notesMaster" Target="/ppt/notesMasters/notesMaster1.xml" Id="R740f2dcfb5084e4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14e3d634c8b458b" /><Relationship Type="http://schemas.openxmlformats.org/officeDocument/2006/relationships/notesMaster" Target="/ppt/notesMasters/notesMaster1.xml" Id="R16b95f53a4204b9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3b78752c9c0417b" /><Relationship Type="http://schemas.openxmlformats.org/officeDocument/2006/relationships/notesMaster" Target="/ppt/notesMasters/notesMaster1.xml" Id="Re25784e1dad442d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15696db746c4e79" /><Relationship Type="http://schemas.openxmlformats.org/officeDocument/2006/relationships/notesMaster" Target="/ppt/notesMasters/notesMaster1.xml" Id="R89d7506cc23f4ae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ebb113a199f4bc9" /><Relationship Type="http://schemas.openxmlformats.org/officeDocument/2006/relationships/notesMaster" Target="/ppt/notesMasters/notesMaster1.xml" Id="Rd7be44580a8e457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66f249e63a14ef8" /><Relationship Type="http://schemas.openxmlformats.org/officeDocument/2006/relationships/notesMaster" Target="/ppt/notesMasters/notesMaster1.xml" Id="Re6c5eb8cd61d4ec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03fe6298b744bb0" /><Relationship Type="http://schemas.openxmlformats.org/officeDocument/2006/relationships/notesMaster" Target="/ppt/notesMasters/notesMaster1.xml" Id="R6395599cb9f2421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3eedb7dd9464ec8" /><Relationship Type="http://schemas.openxmlformats.org/officeDocument/2006/relationships/notesMaster" Target="/ppt/notesMasters/notesMaster1.xml" Id="R6ff8d59aca444b7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d4c355549d44218" /><Relationship Type="http://schemas.openxmlformats.org/officeDocument/2006/relationships/notesMaster" Target="/ppt/notesMasters/notesMaster1.xml" Id="R1677caf984fa45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고령인구: https://kostat.go.kr/board.es?act=view&amp;bid=10820&amp;list_no=438832&amp;mid=a10301060100</a:t>
            </a:r>
          </a:p>
          <a:p xmlns:a="http://schemas.openxmlformats.org/drawingml/2006/main">
            <a:r>
              <a:t>2024 노년 1인가구: https://www.kostat.go.kr/board.es?act=view&amp;bid=11895&amp;list_no=442561&amp;mid=a10301010000</a:t>
            </a:r>
          </a:p>
          <a:p xmlns:a="http://schemas.openxmlformats.org/drawingml/2006/main">
            <a:r>
              <a:t>전체 1인가구 그래프는 사용하지 말고 노년 1인가구 추이를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IITP 스마트 디바이스 기술로드맵: https://www.iitp.kr/resources/file/201217/5.ICT%EB%94%94%EB%B0%94%EC%9D%B4%EC%8A%A4_%EC%96%91%EC%9E%90%EB%B3%B4%EA%B3%A0%EC%84%9C.pdf</a:t>
            </a:r>
          </a:p>
          <a:p xmlns:a="http://schemas.openxmlformats.org/drawingml/2006/main">
            <a:r>
              <a:t>IITP 2025 지원사업 안내: https://www.iitp.kr/resources/file/2025%EB%85%84%20IITP%20%EC%A7%80%EC%9B%90%EC%82%AC%EC%97%85%20%EC%95%88%EB%82%B4.pdf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15a32ba9e49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511fb8297e48a0" /><Relationship Type="http://schemas.openxmlformats.org/officeDocument/2006/relationships/slideLayout" Target="/ppt/slideLayouts/slideLayout1.xml" Id="R6e04961a235341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04961a235341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7b468182040ee" /><Relationship Type="http://schemas.openxmlformats.org/officeDocument/2006/relationships/notesSlide" Target="/ppt/notesSlides/notesSlide1.xml" Id="Re6883b668d6c47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bbd72998b4fb2" /><Relationship Type="http://schemas.openxmlformats.org/officeDocument/2006/relationships/notesSlide" Target="/ppt/notesSlides/notesSlide2.xml" Id="R18cd23666f744a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65b24b56f480e" /><Relationship Type="http://schemas.openxmlformats.org/officeDocument/2006/relationships/notesSlide" Target="/ppt/notesSlides/notesSlide3.xml" Id="R17b0ee6239184c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1fba3a03547d5" /><Relationship Type="http://schemas.openxmlformats.org/officeDocument/2006/relationships/notesSlide" Target="/ppt/notesSlides/notesSlide4.xml" Id="R43dc60e7889348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d7c2b5d9440f8" /><Relationship Type="http://schemas.openxmlformats.org/officeDocument/2006/relationships/notesSlide" Target="/ppt/notesSlides/notesSlide5.xml" Id="R0ef67768277f4b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dab30a1904654" /><Relationship Type="http://schemas.openxmlformats.org/officeDocument/2006/relationships/notesSlide" Target="/ppt/notesSlides/notesSlide6.xml" Id="Rff51f24cc1d74b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5f8eecae348f2" /><Relationship Type="http://schemas.openxmlformats.org/officeDocument/2006/relationships/image" Target="/ppt/media/image.png" Id="Rd7d23fcfbb694e13" /><Relationship Type="http://schemas.openxmlformats.org/officeDocument/2006/relationships/notesSlide" Target="/ppt/notesSlides/notesSlide7.xml" Id="Ra45306f0b2964e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c64c741774585" /><Relationship Type="http://schemas.openxmlformats.org/officeDocument/2006/relationships/image" Target="/ppt/media/image2.png" Id="R1ecea65a7d2d47fd" /><Relationship Type="http://schemas.openxmlformats.org/officeDocument/2006/relationships/notesSlide" Target="/ppt/notesSlides/notesSlide8.xml" Id="Rab544eb8b45449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b5a247c53485e" /><Relationship Type="http://schemas.openxmlformats.org/officeDocument/2006/relationships/image" Target="/ppt/media/image3.png" Id="R1ee32bf0f6fe4b71" /><Relationship Type="http://schemas.openxmlformats.org/officeDocument/2006/relationships/notesSlide" Target="/ppt/notesSlides/notesSlide9.xml" Id="Rb3cecba3331a40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f930427c349b9" /><Relationship Type="http://schemas.openxmlformats.org/officeDocument/2006/relationships/image" Target="/ppt/media/image4.png" Id="R0ff2d3e5860d4a5c" /><Relationship Type="http://schemas.openxmlformats.org/officeDocument/2006/relationships/notesSlide" Target="/ppt/notesSlides/notesSlide10.xml" Id="R9aab38639f1f49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8929245864e7d" /><Relationship Type="http://schemas.openxmlformats.org/officeDocument/2006/relationships/image" Target="/ppt/media/image5.png" Id="R521ee889000744b8" /><Relationship Type="http://schemas.openxmlformats.org/officeDocument/2006/relationships/notesSlide" Target="/ppt/notesSlides/notesSlide11.xml" Id="R7a11efc2e2e544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79ef9e49f4e49" /><Relationship Type="http://schemas.openxmlformats.org/officeDocument/2006/relationships/image" Target="/ppt/media/image6.png" Id="Rd9fa3bf92ddb4279" /><Relationship Type="http://schemas.openxmlformats.org/officeDocument/2006/relationships/notesSlide" Target="/ppt/notesSlides/notesSlide12.xml" Id="Ra6d736c9842d45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3efd340504309" /><Relationship Type="http://schemas.openxmlformats.org/officeDocument/2006/relationships/image" Target="/ppt/media/image7.png" Id="Rc6e3842485aa4d0d" /><Relationship Type="http://schemas.openxmlformats.org/officeDocument/2006/relationships/notesSlide" Target="/ppt/notesSlides/notesSlide13.xml" Id="R6771f02785df4a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735272c494141" /><Relationship Type="http://schemas.openxmlformats.org/officeDocument/2006/relationships/image" Target="/ppt/media/image8.png" Id="R258f6b4a50004757" /><Relationship Type="http://schemas.openxmlformats.org/officeDocument/2006/relationships/notesSlide" Target="/ppt/notesSlides/notesSlide14.xml" Id="R50e1c47154624d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189e7dc02406a" /><Relationship Type="http://schemas.openxmlformats.org/officeDocument/2006/relationships/image" Target="/ppt/media/image9.png" Id="R32738edd66484d4c" /><Relationship Type="http://schemas.openxmlformats.org/officeDocument/2006/relationships/notesSlide" Target="/ppt/notesSlides/notesSlide15.xml" Id="R6ae9ba0492fb4f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186c716b94b6f" /><Relationship Type="http://schemas.openxmlformats.org/officeDocument/2006/relationships/image" Target="/ppt/media/image10.png" Id="R1e80facee2d543ee" /><Relationship Type="http://schemas.openxmlformats.org/officeDocument/2006/relationships/notesSlide" Target="/ppt/notesSlides/notesSlide16.xml" Id="R937da59f848444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ec8c654714c5e" /><Relationship Type="http://schemas.openxmlformats.org/officeDocument/2006/relationships/image" Target="/ppt/media/image11.png" Id="Rcc9a92a2ac6b4ecb" /><Relationship Type="http://schemas.openxmlformats.org/officeDocument/2006/relationships/notesSlide" Target="/ppt/notesSlides/notesSlide17.xml" Id="Re33b4615970245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8631d8f2d4915" /><Relationship Type="http://schemas.openxmlformats.org/officeDocument/2006/relationships/image" Target="/ppt/media/image12.png" Id="Ra43fab9ef04747ba" /><Relationship Type="http://schemas.openxmlformats.org/officeDocument/2006/relationships/notesSlide" Target="/ppt/notesSlides/notesSlide18.xml" Id="Rad613c7d578e47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1758a8b5046cc" /><Relationship Type="http://schemas.openxmlformats.org/officeDocument/2006/relationships/image" Target="/ppt/media/image13.png" Id="Ra4e11ea221ce445a" /><Relationship Type="http://schemas.openxmlformats.org/officeDocument/2006/relationships/notesSlide" Target="/ppt/notesSlides/notesSlide19.xml" Id="R57b2800b311249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86432eb2e473c" /><Relationship Type="http://schemas.openxmlformats.org/officeDocument/2006/relationships/image" Target="/ppt/media/image14.png" Id="Rd76bf78d43084511" /><Relationship Type="http://schemas.openxmlformats.org/officeDocument/2006/relationships/notesSlide" Target="/ppt/notesSlides/notesSlide20.xml" Id="R3c40ef66ee9549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c9749555a4f52" /><Relationship Type="http://schemas.openxmlformats.org/officeDocument/2006/relationships/image" Target="/ppt/media/image15.png" Id="R2ecc0f45f0674ee9" /><Relationship Type="http://schemas.openxmlformats.org/officeDocument/2006/relationships/notesSlide" Target="/ppt/notesSlides/notesSlide21.xml" Id="R8804a52db1d543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c21cade85478e" /><Relationship Type="http://schemas.openxmlformats.org/officeDocument/2006/relationships/image" Target="/ppt/media/image16.png" Id="Rfdc1f6652bd8472a" /><Relationship Type="http://schemas.openxmlformats.org/officeDocument/2006/relationships/notesSlide" Target="/ppt/notesSlides/notesSlide22.xml" Id="R3345ba21226a455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f9499643d49b9" /><Relationship Type="http://schemas.openxmlformats.org/officeDocument/2006/relationships/notesSlide" Target="/ppt/notesSlides/notesSlide23.xml" Id="R58793075389143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5856bcfd64fec" /><Relationship Type="http://schemas.openxmlformats.org/officeDocument/2006/relationships/image" Target="/ppt/media/image17.png" Id="R9189d5e079984cd1" /><Relationship Type="http://schemas.openxmlformats.org/officeDocument/2006/relationships/notesSlide" Target="/ppt/notesSlides/notesSlide24.xml" Id="R876838321c5c47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863afc2a3469b" /><Relationship Type="http://schemas.openxmlformats.org/officeDocument/2006/relationships/notesSlide" Target="/ppt/notesSlides/notesSlide25.xml" Id="R18ecdafaeeaa4cb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57f8e50fa4743" /><Relationship Type="http://schemas.openxmlformats.org/officeDocument/2006/relationships/image" Target="/ppt/media/image18.png" Id="R91226d52518840d7" /><Relationship Type="http://schemas.openxmlformats.org/officeDocument/2006/relationships/notesSlide" Target="/ppt/notesSlides/notesSlide26.xml" Id="Ra305a5ae0a35475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7e75ecb6b45e0" /><Relationship Type="http://schemas.openxmlformats.org/officeDocument/2006/relationships/notesSlide" Target="/ppt/notesSlides/notesSlide27.xml" Id="R70d4ad0bf9b4413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86a58beae4501" /><Relationship Type="http://schemas.openxmlformats.org/officeDocument/2006/relationships/notesSlide" Target="/ppt/notesSlides/notesSlide28.xml" Id="Recb03a7e3813416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a18c770394b9a" /><Relationship Type="http://schemas.openxmlformats.org/officeDocument/2006/relationships/notesSlide" Target="/ppt/notesSlides/notesSlide29.xml" Id="Rce6a5ae215524bc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09cffad614afd" /><Relationship Type="http://schemas.openxmlformats.org/officeDocument/2006/relationships/notesSlide" Target="/ppt/notesSlides/notesSlide30.xml" Id="R4b452894d11f4ed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d255df1bd4726" /><Relationship Type="http://schemas.openxmlformats.org/officeDocument/2006/relationships/notesSlide" Target="/ppt/notesSlides/notesSlide31.xml" Id="Rdcf37c57dfba41a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96fc7504444e2" /><Relationship Type="http://schemas.openxmlformats.org/officeDocument/2006/relationships/notesSlide" Target="/ppt/notesSlides/notesSlide32.xml" Id="R9791d25f207e40b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15a2ba8604cd9" /><Relationship Type="http://schemas.openxmlformats.org/officeDocument/2006/relationships/notesSlide" Target="/ppt/notesSlides/notesSlide33.xml" Id="R87efec90c1fa464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0123048a447e3" /><Relationship Type="http://schemas.openxmlformats.org/officeDocument/2006/relationships/notesSlide" Target="/ppt/notesSlides/notesSlide34.xml" Id="R16f5c01e982044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EC314-D455-470F-B106-EFC7D4F4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83B7E-0BC7-4BE8-851A-6577B37E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5B664-FB73-4491-BBE1-910A2119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95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5C3D5-B088-4319-B3D0-56ED24CA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430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SW개발/HW제작 설계서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BF9B6-3710-464D-88E8-41B51F58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독거노인의 식생활 관리를 위한 AI 기반 스마트 냉장고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C7C31-87DD-4415-B688-9532C673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0668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A1EF2-F2B0-4591-B959-99F8319C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프로젝트 핵심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7C64B-A8BF-4ECA-A814-AF6E7A01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42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리드스위치로 냉장고 문 이벤트를 감지하고 필요한 시점에만 촬영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Raspberry Pi 5에서 YOLO·윤곽선 후보·식재료 분류를 수행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자동 재고 등록·소비 반영과 사용자 검수를 함께 제공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보유 재료 기반으로 부족 재료가 적은 레시피를 우선 추천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84E5E-5D85-4BFE-8E99-573D9AE5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67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2026. 07. 11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407E3-4037-4023-919F-353CDD5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6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개인정보 미기재 편집 가능본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D6ADF-2CE3-442D-88E4-D723C63D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64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</p:spTree>
    <p:extLst>
      <p:ext uri="{BB962C8B-B14F-4D97-AF65-F5344CB8AC3E}">
        <p14:creationId xmlns:p14="http://schemas.microsoft.com/office/powerpoint/2010/main" val="1881463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3E0A54-B0E4-4F50-903A-D6726E87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5CBDB-DDA2-477C-8263-42329014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5E9CB-9215-407F-9783-FE69AED1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8036B-6610-4A51-B763-CF65370B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6D99F-1E26-4A32-9929-5F0D38A1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8DAEB-C080-4FF3-B619-2CDD2C39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97A52-1BB4-445E-999A-07FB24C4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수행 단계별 주요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D4D5E-E043-4154-8EB4-3DFB0556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170DE-9CBA-4937-9A23-C2788E4D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42950" y="1866900"/>
          <a:ext xmlns:a="http://schemas.openxmlformats.org/drawingml/2006/main" cx="11868150" cy="670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010025"/>
                <a:gridCol w="2000250"/>
                <a:gridCol w="2047875"/>
                <a:gridCol w="2047875"/>
              </a:tblGrid>
              <a:tr h="291548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응용 소프트웨어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응용 하드웨어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모바일 APP·Web 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빅데이터·인공지능·블록체인 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IoT·로봇·드론 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29154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분석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시장/기술 환경 분석서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분석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정의서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유즈케이스 정의서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rowSpan="4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아키텍처 설계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구성도(시스템 구성도)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흐름도(데이터 흐름도)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UI/UX 정의서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하드웨어/센서 구성도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rowSpan="7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설계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 구성도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설계서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엔티티 관계도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처리도(기능 흐름도)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연계도/순차 다이어그램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알고리즘 명세서/설명서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하드웨어 설계도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row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/ 구현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테이블 정의서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소스코드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rowSpan="4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환경 및 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기능 실사 사진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 기능 실사 사진·동영상 콘티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프로젝트·형상·이슈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7C244-9BF4-4AB3-AF1A-5578647A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48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설문조사와 인터뷰 결과서는 실제 조사를 수행하지 않았으므로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116944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41160-12E4-414D-BEF8-70E9B721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740CB-9B68-46A1-A732-62375447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E654D-9658-4D23-A5A0-E89348BA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0947C-65D2-43D4-BE1C-CD1E542C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FC467-F9D1-41A1-9299-1A5DEE33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F348E-15B0-4FBD-A139-0DCEC765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19CF8-45CE-4A79-905A-43C3C6C4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EDC62-5A04-4F35-9632-97EFAF73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사회·시장 배경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28C5E-8E5A-41DA-9CAD-3A282689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90D40-761A-4C42-BB79-285350CD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4F715-BF8A-4838-82E3-AC956FC0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5715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47FF2-848F-4487-9A79-204A08AC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그림 1-1. 고령인구 추이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ED787-B2BB-47DF-AAC5-456F254B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52578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통계청 「2025 고령자 통계」 그래프 삽입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2025년 20.3% · 2036년 30% · 2050년 40% 초과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그래프 제목·범례·기준연도가 보이게 캡처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D89E2-D2A7-48C6-ADC6-ED91584E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03_market_elderly.png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D7CB2-5988-4E86-A7D3-CA5F33E7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71700"/>
            <a:ext cx="57912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8A3C7-66D1-4216-B0FE-7638B3F7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그림 1-2. 노년 1인가구 추이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6B2E3-478A-4489-B052-A1F0E82F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53340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전체 1인가구가 아닌 65세 이상 노년 1인가구 그래프 삽입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2022년 197.3만 → 2023년 약 213.8만 → 2024년 228.9만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노년 가구 중 비중: 37.0% → 37.8% → 38.2%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18C64-61C4-47A0-96E6-DCD07605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15000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03_market_elderly_single_household.png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3064F-77A1-4B7A-9CD7-78E4C25D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11868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38C73-6473-4E8F-A6D0-72A33B1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11868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B4F76-66AA-4C2A-8C3B-CD25E4C6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15100"/>
            <a:ext cx="1163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해설 및 프로젝트 시사점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0DD99-AA81-4CE5-A5D6-7B41ACEC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19950"/>
            <a:ext cx="1148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72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우리나라는 2025년 65세 이상 인구가 전체의 20.3%를 차지해 초고령사회에 진입했고, 고령인구 비중은 장기적으로 계속 증가할 전망이다.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2024년 가구주가 65세 이상인 노년 가구 중 1인 가구는 228만 9천 가구로 38.2%를 차지한다. 이는 식재료 구입·보관·소비를 혼자 관리하는 가구가 확대되고 있음을 뜻한다.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수기 입력을 계속 요구하는 방식은 고령 사용자에게 부담이 될 수 있으므로, 문 이벤트 기반 자동 촬영·인식과 확인이 필요한 항목만 검수하는 방식이 적합하다.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본 프로젝트는 재고 자동화에 그치지 않고 보유 재료와 레시피 필요 재료를 비교해 실제 식생활 의사결정까지 지원한다.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566BC-EBCE-4398-B613-C37E7BE3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출처: 통계청 「2025 고령자 통계」, 「2024년·2023년 생애단계별 행정통계」. 2023년 가구 수는 공표 비중으로 계산한 약값.</a:t>
            </a:r>
          </a:p>
        </p:txBody>
      </p:sp>
    </p:spTree>
    <p:extLst>
      <p:ext uri="{BB962C8B-B14F-4D97-AF65-F5344CB8AC3E}">
        <p14:creationId xmlns:p14="http://schemas.microsoft.com/office/powerpoint/2010/main" val="1260225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F088AD-3808-470A-98DB-2FF3B805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A943C-54B0-4EB0-A347-4EDAB6E2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76864-DC97-4C74-AF6F-29B10452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66503-1C53-4781-B84D-0E611100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00129-A71C-40D2-96F1-81D02E1F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777AE-DFFD-4192-AD5A-FAF6D578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410AA-E776-4509-9A74-4C77D24C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BC733-6441-4011-BCAC-74879937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기술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9EB3A-217C-4176-BFF2-8F6F656B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E2B9C-255F-46A1-914D-AD19D7EE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6096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1162050"/>
                <a:gridCol w="1066800"/>
                <a:gridCol w="1257300"/>
                <a:gridCol w="1733550"/>
              </a:tblGrid>
              <a:tr h="595313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수기·일반 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바코드/RFID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 냉장고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프로젝트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595313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방식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입력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부착·스캔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카메라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후 자동 촬영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방식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입력값 사용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코드·태그 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영상 인식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YOLO+contour+분류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반영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수량 수기 수정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인식 시 반영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 시스템 반영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 등록·/consume 차감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항목 수기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확인 제한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제품별 방식 상이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 항목만 검수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연계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제공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대체로 미지원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 서비스 종속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matched/missing 계산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위치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앱·서버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리더기·서버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클라우드 중심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엣지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고령층 접근성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입력 부담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관리 부담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비용·복잡성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자동화·큰 카드·상태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"/>
          <p:cNvGraphicFramePr/>
          <p:nvPr/>
        </p:nvGraphicFramePr>
        <p:xfrm>
          <a:off xmlns:a="http://schemas.openxmlformats.org/drawingml/2006/main" x="6896100" y="2038350"/>
          <a:ext xmlns:a="http://schemas.openxmlformats.org/drawingml/2006/main" cx="5715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143125"/>
                <a:gridCol w="2524125"/>
              </a:tblGrid>
              <a:tr h="1190625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측정지표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방식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프로젝트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1190625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편리성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입출고 때마다 사용자가 직접 기록하거나 태그를 스캔한다.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 이벤트 후 자동 촬영·등록하고 필요한 항목만 확인한다.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기록 또는 단순 알림에 집중하며 인식과 추천이 분리된다.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인식·재고 반영·오인식 검수·레시피 추천을 한 흐름으로 연결한다.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입력과 태그 관리가 필요해 고령 사용자의 부담이 크다.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큰 진입 카드, 상태 텍스트, 확인 필요 표시로 조작 단계를 줄인다.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C969D-0224-4B63-9070-3CEE3BF9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00875"/>
            <a:ext cx="4476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55F51-9495-45CE-8D07-62965F9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91375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IoT·엣지 AI 기술 동향 그림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7468C-F74B-477A-B32B-29E304DC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00975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97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IITP 기술로드맵의 엣지 AI·IoT 구조 그림 또는 핵심 문장 캡처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40BA1-FDE2-474D-8720-0F58EDA9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39125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04_technology_trend.png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A7805-7DC4-4777-B110-BCF89737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00875"/>
            <a:ext cx="71818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F17E9-A28F-4567-AC67-0E646CD4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00875"/>
            <a:ext cx="718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4F2B9-794F-414C-911C-3E84F945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711517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기술 동향 해설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445E3-1974-436D-ACA6-D65278AC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734300"/>
            <a:ext cx="680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5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엣지 AI는 클라우드 연결이 불안정해도 현장에서 상황을 인식하고 지연·데이터 전송량을 줄이는 방향으로 발전하고 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문 센서 이벤트가 있을 때만 촬영하면 연속 녹화 대비 연산·저장 부담을 줄이고 실제 입출고 시점에 집중할 수 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자동 인식 결과를 무조건 확정하지 않고 낮은 신뢰도 항목만 사용자가 보완하는 사람-검수 구조가 정확성과 접근성을 함께 확보한다.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30BAF-6EB5-4335-9D83-5BF0493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출처 참고: IITP 「ICT R&amp;D 기술로드맵 2025 - 스마트 디바이스」, 「2025년 지원사업 안내」. 비교표는 기술 유형 기준 분석.</a:t>
            </a:r>
          </a:p>
        </p:txBody>
      </p:sp>
    </p:spTree>
    <p:extLst>
      <p:ext uri="{BB962C8B-B14F-4D97-AF65-F5344CB8AC3E}">
        <p14:creationId xmlns:p14="http://schemas.microsoft.com/office/powerpoint/2010/main" val="380458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EAB536-DD88-4680-9758-1670DF96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D2398-E8EF-4955-B12B-F9DD275F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61C2D-A0FB-4D25-972A-B9C1D344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BF5C5-FACA-4144-ADF6-2D5D6431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0468E-E119-4F50-BFE5-9A0DAFB7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55081-CE4A-4D99-BC31-F6FC243A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49107-C3BB-44B5-B598-F8879918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요구사항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1DEBA-B9DB-46FD-881D-3F7EEF81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AB8DE-AA55-48DF-8C81-8A9C8523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34257-C672-47EA-B1C7-CE63CDD0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42950" y="2171700"/>
          <a:ext xmlns:a="http://schemas.openxmlformats.org/drawingml/2006/main" cx="11868150" cy="595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000250"/>
                <a:gridCol w="1428750"/>
                <a:gridCol w="1714500"/>
                <a:gridCol w="3867150"/>
                <a:gridCol w="1524000"/>
              </a:tblGrid>
              <a:tr h="595313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세부사항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예외사항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595313">
                <a:tc row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계정·냉장고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A01_B01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회원가입·로그인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계정을 생성하고 로그인하여 현재 냉장고를 확인한다.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실패 시 오류 안내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A01_B02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등록·선택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냉장고를 등록·선택·삭제하고 현재 냉장고를 지정한다.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냉장고가 없으면 선택 화면 이동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A01_B03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조회·수정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냉장고별 재고를 조회하고 수량·단위·상태·메모를 수정한다.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실패 시 재시도 안내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rowSpan="4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인식·재고 반영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A02_B01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 감지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 입력으로 냉장고 문 열림·닫힘 이벤트를 감지한다.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debounce 0.1초 적용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A02_B02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촬영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후 냉장고 내부의 640×480 프레임을 수집한다.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읽기 실패 시 재시도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A02_B03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인식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YOLO·contour·fallback 후보에서 식재료명과 confidence를 산출한다.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낮은 신뢰도는 확인 필요 처리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A02_B04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자동 등록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결과가 3회 안정되면 /upload로 등록하고 목록을 갱신한다.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중복은 cooldown으로 차단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A03_B01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 재료와 필요 재료를 비교해 부족 재료가 적은 순으로 제공한다.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재료 매칭 실패는 부족 처리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A03_B02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재료·보유 재료·부족 재료와 조리 방법을 표시한다.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없음 상태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EEB44-8911-4650-90B3-2721D2CD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963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검증 기준: 실제 앱/API/H/W 실행 결과와 데이터베이스 저장 결과로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913892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676CF6-D6F7-4838-8244-A7C787F5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4AE32-E258-4B48-A2A8-DF41386D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CDAAE-21C7-443B-AEC2-DA8CBE21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7D072-C214-4BD1-8684-41C31C4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CAF4A-A766-498A-A741-BB261F44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AFACF-2A8E-4558-A547-D37C67EC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1B3B2-F954-43A0-9236-B59DE1FD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요구사항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E689C-EC0F-4ACD-A549-24378454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세부 처리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B4278-932C-49EC-BD9C-C49DCCC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134B3-EB15-40C8-8872-7A4474F3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600075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1952625"/>
                <a:gridCol w="3381375"/>
              </a:tblGrid>
              <a:tr h="984250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984250">
                <a:tc rowSpan="5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회원가입·로그인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생성과 인증 후 현재 냉장고 상태를 저장한다.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냉장고·재고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선택과 재고 추가·수정·삭제·검색을 제공한다.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결과 검수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 항목의 재료명·상태·메모를 사용자가 보완한다.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missing_count가 낮고 matched가 많은 순으로 정렬한다.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이미지·메타데이터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원본/crop 경로, label, confidence를 DB와 폴더에 저장한다.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"/>
          <p:cNvGraphicFramePr/>
          <p:nvPr/>
        </p:nvGraphicFramePr>
        <p:xfrm>
          <a:off xmlns:a="http://schemas.openxmlformats.org/drawingml/2006/main" x="6819900" y="2152650"/>
          <a:ext xmlns:a="http://schemas.openxmlformats.org/drawingml/2006/main" cx="57912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1905000"/>
                <a:gridCol w="3143250"/>
              </a:tblGrid>
              <a:tr h="984250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984250">
                <a:tc rowSpan="5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H/W·AI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감지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 HIGH/LOW를 GPIO17에서 감지한다.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프레임 수집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Picamera2/OpenCV로 640×480, 30FPS 프레임을 수집한다.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영역 추출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box → contour 보완 → center fallback 순으로 후보를 만든다.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분류·안정화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confidence를 산출하고 동일 signature 3회에서 확정한다.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연동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/upload·/consume·inventory API로 등록·차감·조회한다.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B6978-F36A-42DD-A793-58CC1BE1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77250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비기능 요구: 개인정보·서버 IP·DB 계정은 문서와 캡처에서 제거하고, 미확정 H/W 사양은 “실물 제작 후 확정”으로 표시한다.</a:t>
            </a:r>
          </a:p>
        </p:txBody>
      </p:sp>
    </p:spTree>
    <p:extLst>
      <p:ext uri="{BB962C8B-B14F-4D97-AF65-F5344CB8AC3E}">
        <p14:creationId xmlns:p14="http://schemas.microsoft.com/office/powerpoint/2010/main" val="1456603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F4092D-D1A3-41E2-90E7-853871F1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81924-38DA-4521-8048-AEA48D47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FA17E-A793-4E7E-9AC2-F1588215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FA48E-06BA-417F-8538-ADE9D0B8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192C5-EDDC-4A82-B96E-154BBE3E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68295-806D-40D7-8527-71BC18C0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F58B9-A5F1-4F7C-B9F6-BBD01DFD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유즈케이스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912FD-1A59-4F50-92B7-8FFDAC5F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CA438-BFA4-4B1C-8EC5-2C6AC9F7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0D67F-AD67-496E-93F4-6FEAC73C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381750" cy="6572250"/>
          </a:xfrm>
          <a:prstGeom xmlns:a="http://schemas.openxmlformats.org/drawingml/2006/main" prst="roundRect">
            <a:avLst>
              <a:gd name="adj" fmla="val 1194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63FA8-3BEE-441B-8F2A-874AE255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38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5C289-A733-4E26-B4AC-D4FEEFFA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15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유즈케이스 다이어그램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23fcfbb694e13"/>
          <a:stretch xmlns:a="http://schemas.openxmlformats.org/drawingml/2006/main"/>
        </p:blipFill>
        <p:spPr>
          <a:xfrm xmlns:a="http://schemas.openxmlformats.org/drawingml/2006/main">
            <a:off x="2643097" y="2952750"/>
            <a:ext cx="2543357" cy="5572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6A5A1-0DE4-4CB3-999D-B461A33E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5314950" cy="6572250"/>
          </a:xfrm>
          <a:prstGeom xmlns:a="http://schemas.openxmlformats.org/drawingml/2006/main" prst="roundRect">
            <a:avLst>
              <a:gd name="adj" fmla="val 1434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CD679-37F5-4B1D-A5F5-9F39EE42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71700"/>
            <a:ext cx="5314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53B54-8F5B-42F4-87D7-CA435564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508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UC-01 식재료 자동 등록 정의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7448550" y="2952750"/>
          <a:ext xmlns:a="http://schemas.openxmlformats.org/drawingml/2006/main" cx="5010150" cy="5562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952500"/>
                <a:gridCol w="704850"/>
                <a:gridCol w="2476500"/>
              </a:tblGrid>
              <a:tr h="505691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8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 grid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8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505691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개요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 후 식재료를 촬영·인식하여 현재 냉장고 재고에 자동 등록한다.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5691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Actor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Actor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5691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 Actor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5691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우선순위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중요도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5691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난이도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5691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선행조건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로그인·현재 냉장고 선택, 카메라·리드스위치·서버 정상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5691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후행조건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행과 원본/crop 이미지, label, confidence, 상태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5691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시나리오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감지 → 촬영 → 후보 추출·분류 → 3회 안정 → /upload → 목록 갱신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5691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 시나리오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낮은 신뢰도는 UNRECOGNIZED로 저장 후 사용자 검수. 네트워크 오류는 재시도.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5691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비기능 요구사항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 grid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cooldown 중복 방지, 개인정보·서버 주소 비노출, 오류 안내 제공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7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1E8DB-F038-4F9A-91AE-870C24B5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 원본: diagrams/plantuml/07_usecase.puml</a:t>
            </a:r>
          </a:p>
        </p:txBody>
      </p:sp>
    </p:spTree>
    <p:extLst>
      <p:ext uri="{BB962C8B-B14F-4D97-AF65-F5344CB8AC3E}">
        <p14:creationId xmlns:p14="http://schemas.microsoft.com/office/powerpoint/2010/main" val="1652844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시나리오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43FAD-6424-4774-A3DC-AFA271C7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920A9-144A-4BEC-8810-893E2E7D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76938-8219-4148-BA6B-7FEFA0EE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중심 서비스 시나리오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ea65a7d2d47fd"/>
          <a:stretch xmlns:a="http://schemas.openxmlformats.org/drawingml/2006/main"/>
        </p:blipFill>
        <p:spPr>
          <a:xfrm xmlns:a="http://schemas.openxmlformats.org/drawingml/2006/main">
            <a:off x="2741784" y="2990850"/>
            <a:ext cx="3203232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2A2BA-2D3B-4810-8F68-5B2D0CF0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E2CB1-FAB0-483A-AF77-6C155841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38345-B557-486A-BEC3-B78F44FC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단계별 설명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1764F-59F6-499B-9B6A-8EFA5A6D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1. 문 열림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리드스위치 HIGH 이벤트를 Pi에 전달 · bounce_time 0.1초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2. 촬영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카메라 준비 후 640×480 프레임 수집 · 프레임 읽기 실패 시 재시도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3. 인식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YOLO·contour·fallback 후보를 분류 · confidence 미달은 제외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4. 저장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stable signature 3회 후 /upload·DB INSERT · cooldown으로 중복 방지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5. 앱 확인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GET /inventory로 목록·상태·이미지 표시 · UNRECOGNIZED 사용자 검수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소비 경로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닫힘 모드에서 /consume으로 수량 감소 · 0 이하이면 행 삭제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B3FD8-FB9A-4F01-8ABA-6FD7E290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08_service_scenario.puml | 자동 등록을 기본 경로, 문 닫힘 소비를 보조 경로로 표현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1B4DCC-B6B8-457D-A547-4019C612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589D4-D734-4D45-AC3C-3B5F1FF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69292-E2B0-46FF-9FE6-CDA66D50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891F4-44EF-445B-9D76-B895AA11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95A8F-58BC-45BC-86E3-C620D0ED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9C697-5558-4145-ABBF-885C2FF5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F24EA-4E36-4D08-9033-E99799A2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55958-F00C-4B6D-890E-F6E2A53E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91607-0C65-4B51-9CE7-6BDC0741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804A2-7D84-4228-9728-833EDB62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DF8D3-9199-43B4-895E-08AB1043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EB156-1E09-414F-B45B-2AA01363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FC592-1E91-4D07-988F-6B430635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아키텍처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32bf0f6fe4b71"/>
          <a:stretch xmlns:a="http://schemas.openxmlformats.org/drawingml/2006/main"/>
        </p:blipFill>
        <p:spPr>
          <a:xfrm xmlns:a="http://schemas.openxmlformats.org/drawingml/2006/main">
            <a:off x="895350" y="4057506"/>
            <a:ext cx="6896100" cy="3343564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9E61B-7149-4148-9599-B5C73C26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9C036-7BD4-4034-800C-4176BFB4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9BC25-E510-49C6-91FD-282CA101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구성요소 역할·데이터 흐름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649CF-D75D-41DB-A479-550685D0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리드스위치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열림/닫힘 이벤트 생성 · GPIO17 HIGH/LOW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카메라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냉장고 내부 프레임 수집 · RGB frame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Raspberry Pi 5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센서 감지·AI 추론·전송 · crop, label, confidence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Flask API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인증·냉장고·재고·레시피 REST · JSON, multipart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MySQL/파일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관계 데이터·원본/crop 보관 · SQL, JPEG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Flutter 앱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사용자 조회·검수·추천 UI · InventoryItem, Recipe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E4A7B-2E0D-48EF-9907-8EE1E07A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연결 순서: 센서/카메라 → Pi 엣지 AI → Flask → MySQL/이미지 → Flutter | 보호자 알림은 향후 확장</a:t>
            </a:r>
          </a:p>
        </p:txBody>
      </p:sp>
    </p:spTree>
    <p:extLst>
      <p:ext uri="{BB962C8B-B14F-4D97-AF65-F5344CB8AC3E}">
        <p14:creationId xmlns:p14="http://schemas.microsoft.com/office/powerpoint/2010/main" val="336175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5891F7-2E17-4C9B-BF99-B350869E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E7996-E21E-4047-9CF3-D25618B1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4CB8C-A297-4404-9147-3D798A50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FC537-E7AC-43CF-B29C-7616CA1A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3C93C-9FE2-4655-BE98-63E183EF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C42DD-1085-4203-B137-9D0A6DD9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10442-B4AA-4C9D-987F-74979404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흐름도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F2118-E2CE-4C48-87D1-0CF9B09E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08CE1-7E6C-4A83-8D1D-6EB55FD6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28B96-3FAB-47CF-955E-823F7DCC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E87AE-3464-4C7D-8D5A-3F112B82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43B14-E402-446F-93C3-E06064B2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 이벤트 기반 서비스 흐름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2d3e5860d4a5c"/>
          <a:stretch xmlns:a="http://schemas.openxmlformats.org/drawingml/2006/main"/>
        </p:blipFill>
        <p:spPr>
          <a:xfrm xmlns:a="http://schemas.openxmlformats.org/drawingml/2006/main">
            <a:off x="895350" y="5310033"/>
            <a:ext cx="6896100" cy="83850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7C62C-8025-4FA3-B212-C04CCCC4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1A63B-8ED3-4F7F-BBF0-D1790284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3DC21-94CD-4050-9B55-B81D472E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판단·예외 처리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ACC3B-9E25-4D7D-A0C5-7BEE01A9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후보 없음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center crop을 추가해 분류 기회를 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confidence 미달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해당 후보 제외 또는 확인 필요 처리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stable frame 미달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다음 프레임으로 돌아가 signature 재평가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네트워크 오류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전송 실패를 기록하고 다음 이벤트에서 재시도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/upload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새 재고 INSERT, 이미지·AI 메타데이터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/consume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동일 재료 최신 재고 UPDATE, 0 이하 DELETE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8BC696-D06E-41C9-976C-4911EC26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10_service_flow.puml | 기본값: stable_frames 3, cooldown 20초</a:t>
            </a:r>
          </a:p>
        </p:txBody>
      </p:sp>
    </p:spTree>
    <p:extLst>
      <p:ext uri="{BB962C8B-B14F-4D97-AF65-F5344CB8AC3E}">
        <p14:creationId xmlns:p14="http://schemas.microsoft.com/office/powerpoint/2010/main" val="1824144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ABFF4-9A8E-4DF9-9CE1-962F38DA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E9781-78D7-4EF3-AD1B-B1401057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8C6DE-17BA-4CE9-91B9-99EF8373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15E9A-3ADF-425B-A982-653E5787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CBA4D-3A78-4153-A910-A1A4D4A2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39A08-7DEC-4B34-B7EC-DBECB464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033AB-47A5-481F-AF41-7766D851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UI/UX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2CBCF-49C5-4CC0-9E9C-13CDED38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설계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FC8D2-C7A6-413B-9832-A8C44BA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EC999-8BBC-4E20-9DD0-D0E2DFAC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1F894-18E7-4143-863E-B2B80B0F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433B5-B89D-42D1-B72D-3FD07578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5557B-C9EA-4679-8B09-C07C509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화면 와이어프레임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ee889000744b8"/>
          <a:stretch xmlns:a="http://schemas.openxmlformats.org/drawingml/2006/main"/>
        </p:blipFill>
        <p:spPr>
          <a:xfrm xmlns:a="http://schemas.openxmlformats.org/drawingml/2006/main">
            <a:off x="895350" y="4820256"/>
            <a:ext cx="6896100" cy="181806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D6F0A-27B7-4CC8-A049-3AAFFFD0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44E78-30D3-4E90-8FC8-7A874434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7F6ED-9D5E-4F76-9151-73FD925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리스트 참고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3695700"/>
              </a:tblGrid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고령층 접근성·UI 적용 기준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기능 우선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홈에 재고·레시피의 큰 진입 카드를 배치한다.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가시성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정상/확인 필요를 색과 텍스트로 함께 표시한다.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최소화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등록 후 필요한 항목만 사용자가 검수한다.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회복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상태·네트워크 오류에 안내와 재시도를 제공한다.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일관된 용어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재고·재료·확인 필요·부족 재료 표현을 통일한다.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 보호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이메일·서버 주소를 캡처와 문서에서 제거한다.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713D4-95D5-43EA-ACB6-CA3B9AFE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PlantUML: 11_uiux_wireframe.puml | 실제 앱 캡처가 준비되면 와이어프레임 이미지만 교체</a:t>
            </a:r>
          </a:p>
        </p:txBody>
      </p:sp>
    </p:spTree>
    <p:extLst>
      <p:ext uri="{BB962C8B-B14F-4D97-AF65-F5344CB8AC3E}">
        <p14:creationId xmlns:p14="http://schemas.microsoft.com/office/powerpoint/2010/main" val="11781484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36802-81C2-4F06-A4B7-B9AAF6A2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35ACC-98C5-4AAC-AA47-92A777FA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BF251-CE06-4282-840D-6EE4C351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208A6-A48D-4186-A3C0-68F6FCA5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24433-1DC3-4483-A2C5-02F8576B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B1FAD-BE5D-4681-8E09-DE2F786A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B3A7-F98E-4F42-ABB5-E0691D35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H/W·센서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33DDF-B424-414C-993F-37E98B3D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B4E72-375B-4D8C-96CC-9E0402E3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A633F-6D07-4DAE-9C12-29DEC483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57225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555F2-CE46-4F2A-AD6A-FD63DAB2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572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BDEE2-B8D1-437F-BB54-12ECB9F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센서·카메라 배선 설계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a3bf92ddb4279"/>
          <a:stretch xmlns:a="http://schemas.openxmlformats.org/drawingml/2006/main"/>
        </p:blipFill>
        <p:spPr>
          <a:xfrm xmlns:a="http://schemas.openxmlformats.org/drawingml/2006/main">
            <a:off x="895350" y="4647622"/>
            <a:ext cx="6229350" cy="2163331"/>
          </a:xfrm>
          <a:prstGeom xmlns:a="http://schemas.openxmlformats.org/drawingml/2006/main" prst="rect">
            <a:avLst/>
          </a:prstGeom>
        </p:spPr>
      </p:pic>
      <p:graphicFrame>
        <p:nvGraphicFramePr>
          <p:cNvPr id="29" name=""/>
          <p:cNvGraphicFramePr/>
          <p:nvPr/>
        </p:nvGraphicFramePr>
        <p:xfrm>
          <a:off xmlns:a="http://schemas.openxmlformats.org/drawingml/2006/main" x="7486650" y="2171700"/>
          <a:ext xmlns:a="http://schemas.openxmlformats.org/drawingml/2006/main" cx="5124450" cy="657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428750"/>
                <a:gridCol w="2552700"/>
              </a:tblGrid>
              <a:tr h="597477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종류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597477">
                <a:tc rowSpan="5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 문 이벤트 입력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477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GND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 공통 접지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477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CSI/USB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영상 입력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477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USB-C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상시 전원 공급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477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LAN/Wi-Fi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Flask 서버·앱 통신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477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GPIO17(물리 11)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닫힘 LOW, 열림 HIGH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477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GND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선을 접지에 연결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477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CSI 또는 USB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Picamera2/OpenCV 연결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477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640×480, 30FPS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수집 기본값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477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:5000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/upload·/consume·inventory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05C12-1B08-42FF-879E-157CC89F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별도 MCU/자체 PCB 없음. 결로·케이블 고정·카메라 모델·전원 정격은 실물 제작 후 확정.</a:t>
            </a:r>
          </a:p>
        </p:txBody>
      </p:sp>
    </p:spTree>
    <p:extLst>
      <p:ext uri="{BB962C8B-B14F-4D97-AF65-F5344CB8AC3E}">
        <p14:creationId xmlns:p14="http://schemas.microsoft.com/office/powerpoint/2010/main" val="817726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B4283-B69A-4C42-9EB3-5449E213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0E00C-8AE8-48FD-86E0-BF3886C5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7F8E1-A8DD-4253-B590-5EBEF898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A62AC-D223-4D39-90EE-14AE925A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D563D-AF16-4592-8691-1C65A86A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C3A84-2591-4D34-A5CA-4EB0CE03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53C83-0C73-44A6-BAC8-B110DA2B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메뉴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3645E-6318-41E2-8595-9CA826AC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트리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41B8C-F383-4625-A569-75C0AAD6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C24AC-A5B3-45F2-98AA-7D2B792A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84CDB-7812-4D01-9513-62ACD574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364D1-EE82-4610-A1CE-6476DCD6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4AE6C-4B6C-4426-A24D-D813634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이동 중심 메뉴 트리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842485aa4d0d"/>
          <a:stretch xmlns:a="http://schemas.openxmlformats.org/drawingml/2006/main"/>
        </p:blipFill>
        <p:spPr>
          <a:xfrm xmlns:a="http://schemas.openxmlformats.org/drawingml/2006/main">
            <a:off x="896675" y="2990850"/>
            <a:ext cx="6893450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89D8D-9404-4855-AB46-237BBA86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43FFD-3DC8-4D69-B6AB-23A13925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0C8EB-2C45-486B-86C4-06F7BA7E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화면별 진입·복귀 규칙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43F12-C027-4C10-9E83-F5730003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인증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로그인·회원가입 · 성공 후 현재 냉장고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냉장고 관리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등록 냉장고 없음 또는 홈의 변경 · 선택 후 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재고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홈 → 재고 목록 · 상세 저장·삭제 후 목록 갱신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레시피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홈 → 레시피 목록 · 상세에서 목록으로 복귀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로그아웃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홈 상단 메뉴 · 인증 상태 초기화 후 로그인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향후 확장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보호자 화면·알림 · 현재 미구현, 점선 표시</a:t>
            </a:r>
          </a:p>
        </p:txBody>
      </p:sp>
    </p:spTree>
    <p:extLst>
      <p:ext uri="{BB962C8B-B14F-4D97-AF65-F5344CB8AC3E}">
        <p14:creationId xmlns:p14="http://schemas.microsoft.com/office/powerpoint/2010/main" val="3693515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C179FB-6391-4027-AF5A-1C34D87C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8A8B6-BADC-4F53-B7E1-BB45F040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82711-C2BD-4B86-BF26-D9C2438F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31860-3773-4B6C-A920-423FCCB8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2C261-B3CE-433E-A795-3B745A3E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FCC53-6E53-41A1-98E4-EE521E9E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714FF-9C25-44E8-990D-6688E857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메뉴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1B42A-3E9E-426E-A01A-D1F5EF2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 트리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3EDC6-3A33-4702-BC4D-0273214C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B8085-1EEB-467F-A090-1B90017C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5AFCA-D157-46E8-88EE-B22BE4F4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EEF4C-04E0-43F0-A7DB-419D2009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E7BBD-8422-4A69-AFB8-F24ECEAE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기능군 중심 메뉴 트리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f6b4a50004757"/>
          <a:stretch xmlns:a="http://schemas.openxmlformats.org/drawingml/2006/main"/>
        </p:blipFill>
        <p:spPr>
          <a:xfrm xmlns:a="http://schemas.openxmlformats.org/drawingml/2006/main">
            <a:off x="895350" y="4763252"/>
            <a:ext cx="6896100" cy="193207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02CD2-9902-410B-9834-EE3F6A32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50F52-9AA3-414A-9156-31E0608C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959FA-F148-4000-B169-B22BF181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기능군 설명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A1B73-954C-494E-B7EE-53756527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계정/냉장고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인증, 냉장고 CRUD·선택 · Flutter·Flask·MySQL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센서/카메라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이벤트, 촬영, 미리보기 · Raspberry 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AI 인식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후보 추출, 분류, 안정화 · YOLO/OpenCV/best.pt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재고 관리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등록·차감·CRUD·검수 · /upload·/consume·inventory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레시피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검색·matched/missing·상세 · /recipes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데이터 연동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REST·SQL·이미지 저장 · Flask·MySQL·uploads</a:t>
            </a:r>
          </a:p>
        </p:txBody>
      </p:sp>
    </p:spTree>
    <p:extLst>
      <p:ext uri="{BB962C8B-B14F-4D97-AF65-F5344CB8AC3E}">
        <p14:creationId xmlns:p14="http://schemas.microsoft.com/office/powerpoint/2010/main" val="13573236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1A067-9ADD-47E8-96D3-E04F3784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8D53B-5154-4AE1-93C2-F710091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D50B-D1EE-40D0-86E4-003E33F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7D177-FC0B-4A4F-B2CB-44F99F23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B68C9-BDB4-459C-8861-F4EE0AC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B7102-F32E-4728-8CB4-ED25847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F8849-D5E4-41DF-8DDA-BA7FB0D4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E0D91-7BCB-4C75-B01F-97A3676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대표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9A1D-F2DE-4753-A44E-EEF52533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A3CC4-C145-4DDE-BA34-AA44AEE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42950" y="2038350"/>
          <a:ext xmlns:a="http://schemas.openxmlformats.org/drawingml/2006/main" cx="11868150" cy="647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619250"/>
                <a:gridCol w="6819900"/>
              </a:tblGrid>
              <a:tr h="1079500">
                <a:tc rowSpan="6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번호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UI-01 ~ UI-06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7950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로그인·홈·재고 목록/상세·레시피 목록/상세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7950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고령 사용자가 큰 진입 카드와 상태 표시를 통해 재고와 레시피를 쉽게 확인한다.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7950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처리내용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후 현재 냉장고를 확인하고 재고 조회·검수·수정 및 레시피 추천 화면으로 이동한다.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7950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앱 캡처가 준비되면 왼쪽 와이어프레임 이미지만 교체한다.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7950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계정·냉장고 관리, 재고 관리, 레시피 추천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38edd66484d4c"/>
          <a:stretch xmlns:a="http://schemas.openxmlformats.org/drawingml/2006/main"/>
        </p:blipFill>
        <p:spPr>
          <a:xfrm xmlns:a="http://schemas.openxmlformats.org/drawingml/2006/main">
            <a:off x="914400" y="4820149"/>
            <a:ext cx="3086100" cy="83720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210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E32447-8B19-40FA-8713-37D12E0B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F35B0-9F12-4625-B5A7-FFBCE836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6158B-C0B6-4C66-B60E-46893A3E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32B58-9FCB-428F-B553-5BF3737E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0FDC0-F8A4-4113-B0F2-79F26B74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B40F6-F75A-4752-9E35-C94BB31C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3A085-8399-4EE8-960F-9442E899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6CFC1-0060-4B85-BD2A-1BF23EF0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상세/수정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6D719-E123-42AD-B649-39292E8D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7DB36-41E7-4EBF-989C-DE3C4FEA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742950" y="2000250"/>
          <a:ext xmlns:a="http://schemas.openxmlformats.org/drawingml/2006/main" cx="1186815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0153650"/>
              </a:tblGrid>
              <a:tr h="695325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상세·수정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기능설명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인식된 식재료의 이름·수량·단위·상태·메모를 확인하고 수정하는 기능이다.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처리내용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추정값과 crop 이미지를 표시하고 저장·삭제 성공 시 재고 목록을 다시 조회한다.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관련번호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UI-04, INV-02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EAE46-E435-4116-AD12-0116A23C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095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8768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0facee2d543ee"/>
          <a:stretch xmlns:a="http://schemas.openxmlformats.org/drawingml/2006/main"/>
        </p:blipFill>
        <p:spPr>
          <a:xfrm xmlns:a="http://schemas.openxmlformats.org/drawingml/2006/main">
            <a:off x="876300" y="5489843"/>
            <a:ext cx="3829050" cy="2374365"/>
          </a:xfrm>
          <a:prstGeom xmlns:a="http://schemas.openxmlformats.org/drawingml/2006/main" prst="rect">
            <a:avLst/>
          </a:prstGeom>
        </p:spPr>
      </p:pic>
      <p:graphicFrame>
        <p:nvGraphicFramePr>
          <p:cNvPr id="30" name=""/>
          <p:cNvGraphicFramePr/>
          <p:nvPr/>
        </p:nvGraphicFramePr>
        <p:xfrm>
          <a:off xmlns:a="http://schemas.openxmlformats.org/drawingml/2006/main" x="5029200" y="5048250"/>
          <a:ext xmlns:a="http://schemas.openxmlformats.org/drawingml/2006/main" cx="7581900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6153150"/>
              </a:tblGrid>
              <a:tr h="819150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재료명·수량·단위·상태·메모를 수정하고 저장 또는 삭제한다.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데이터값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display_name, quantity, unit, status, note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"/>
          <p:cNvGraphicFramePr/>
          <p:nvPr/>
        </p:nvGraphicFramePr>
        <p:xfrm>
          <a:off xmlns:a="http://schemas.openxmlformats.org/drawingml/2006/main" x="5029200" y="6877050"/>
          <a:ext xmlns:a="http://schemas.openxmlformats.org/drawingml/2006/main" cx="36957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1143000"/>
                <a:gridCol w="1695450"/>
              </a:tblGrid>
              <a:tr h="476250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8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입출력구분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8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8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476250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이벤트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저장·삭제·수정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목록 갱신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"/>
          <p:cNvGraphicFramePr/>
          <p:nvPr/>
        </p:nvGraphicFramePr>
        <p:xfrm>
          <a:off xmlns:a="http://schemas.openxmlformats.org/drawingml/2006/main" x="8915400" y="6877050"/>
          <a:ext xmlns:a="http://schemas.openxmlformats.org/drawingml/2006/main" cx="36957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266950"/>
              </a:tblGrid>
              <a:tr h="476250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8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기능명/예외사항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8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476250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 배너와 사용자 보완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실패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안내 후 재시도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5825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9D6641-70AD-439C-AA93-BE86C142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C62C7-6985-473C-B74C-6E595C17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AAF41-2446-4B52-869F-0FE02532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53A9E-9F27-46FF-80CA-06269273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E7A10-2119-4EAB-BF09-7A191D00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6FAF3-89B8-4CBE-96F8-576CD9EB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3765B-A09B-4EEA-9CD4-7A900BC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UI 흐름도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CFC94-D062-49AA-A421-0BD53724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0B67D-D3A3-4035-A787-438340C7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48ADD-147F-4A3D-8D25-E68807BB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DEF72-75DD-4ED7-BCCC-30AFD6A8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B23BA-21A3-48C5-9F11-D8BCBE08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화면 이동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a92a2ac6b4ecb"/>
          <a:stretch xmlns:a="http://schemas.openxmlformats.org/drawingml/2006/main"/>
        </p:blipFill>
        <p:spPr>
          <a:xfrm xmlns:a="http://schemas.openxmlformats.org/drawingml/2006/main">
            <a:off x="3244187" y="2990850"/>
            <a:ext cx="2198425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D19D2-94A1-416D-95E7-F37B5B3A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48148-E283-40E7-AD3F-8D917A0A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F6E12-814B-4448-8191-39ACC6A9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네비게이션 규칙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AF041-230B-4BFF-92FB-8D1FB28B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로그인 성공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냉장고 있음 → 홈, 없음 → 냉장고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회원가입 성공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기본 냉장고 생성 후 로그인/홈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재고 카드 선택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재고 상세로 이동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저장·삭제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재고 목록으로 복귀하고 재조회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레시피 선택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레시피 상세로 이동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냉장고 변경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선택·관리 화면에서 현재 냉장고 갱신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로그아웃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세션 상태 초기화 후 로그인</a:t>
            </a:r>
          </a:p>
        </p:txBody>
      </p:sp>
    </p:spTree>
    <p:extLst>
      <p:ext uri="{BB962C8B-B14F-4D97-AF65-F5344CB8AC3E}">
        <p14:creationId xmlns:p14="http://schemas.microsoft.com/office/powerpoint/2010/main" val="8042008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7F2394-076D-4378-81A3-AA78164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94A1A-C258-434D-863D-55CBCB58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D0BBC-1C5E-4A79-8605-F1C00C0B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2A909-ECB8-4BCE-B85B-633E3C80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D493B-D859-42D1-AB85-4B646811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1BCE7-33B0-41B0-9DC0-238D2099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CF256-BE34-4212-9688-4D62B54E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연계도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7599A-D648-484F-832E-40AD36BD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23B6C-7A7F-4C37-A89F-39A5396D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97669-EE63-4EC6-826A-40D82729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80640-283B-4F13-A5F3-6C6F34D0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0C002-1981-4E89-8978-A9E9A9C8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H/W·앱·서버·DB 연계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fab9ef04747ba"/>
          <a:stretch xmlns:a="http://schemas.openxmlformats.org/drawingml/2006/main"/>
        </p:blipFill>
        <p:spPr>
          <a:xfrm xmlns:a="http://schemas.openxmlformats.org/drawingml/2006/main">
            <a:off x="895350" y="4751613"/>
            <a:ext cx="6896100" cy="19553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B25D2-3F05-4F18-A335-D96075CD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6AC04-FD03-48FF-BE09-D1C7D99E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43BAD-07E2-4975-8C94-6D1439E6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연계 인터페이스 정의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AE2FD-6144-47CC-A900-1DFE1EB6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센서→Pi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GPIO17 HIGH/LOW · 문 상태 이벤트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카메라→Pi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RGB frame · 후보 추출·분류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Pi→Flask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HTTP multipart JPEG, label, confidence · 등록/소비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Flutter↔Flask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HTTP JSON · 인증·재고·레시피 CRUD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Flask→MySQL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SQL transaction · 관계 데이터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Flask→파일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JPEG · 원본·crop 증빙 보관</a:t>
            </a:r>
          </a:p>
        </p:txBody>
      </p:sp>
    </p:spTree>
    <p:extLst>
      <p:ext uri="{BB962C8B-B14F-4D97-AF65-F5344CB8AC3E}">
        <p14:creationId xmlns:p14="http://schemas.microsoft.com/office/powerpoint/2010/main" val="14499296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4E19B-9905-4C05-AC04-DD1B2F18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F7E3A-03BC-451C-85C9-D92A1BAB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CCDFA-6188-4CBF-B5F7-93EFC329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89BD1-F1CE-47E3-990B-7AF65891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EB478-42B4-41C5-B199-91C65B2E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4DA12-121E-4075-8DEE-651320C8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5CB16-2D31-4E38-B68D-003AE7DE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엔티티 관계도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E2287-A7C7-4C2D-85FF-7E58F72F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CF5E4-A3F9-48DB-BA65-E2A271DC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A22EE-6A21-4DEA-99D8-589D11D2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A8AE5-B955-44D9-8B18-0273EE41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53D89-8B40-4116-A80D-AA3544DC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3FD4B-9AE5-4961-A124-FC93EF68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개념 ERD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11ea221ce445a"/>
          <a:stretch xmlns:a="http://schemas.openxmlformats.org/drawingml/2006/main"/>
        </p:blipFill>
        <p:spPr>
          <a:xfrm xmlns:a="http://schemas.openxmlformats.org/drawingml/2006/main">
            <a:off x="895350" y="3721951"/>
            <a:ext cx="6896100" cy="401467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5B6A2-71E4-403A-BF2B-D27682A7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B289E-A385-4E82-BCFA-3B444742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25ED7-2AC6-4946-9A1B-3EB726C2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관계·무결성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FB57D-3551-49CF-BBF5-BDDB84D5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users-fridges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1:N · 사용자 삭제 시 냉장고 cascade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fridges-fridge_items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1:N · 냉장고 삭제 시 재고 cascade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ingredients-fridge_items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0..1:N · 매칭 실패 시 ingredient_id NULL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recipes-ingredients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N:M · recipe_ingredients 연결 테이블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users-current_fridge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논리 참조 · 애플리케이션에서 현재 냉장고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app_state-active_fridge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논리 참조 · Pi 브리지의 대상 냉장고 상태</a:t>
            </a:r>
          </a:p>
        </p:txBody>
      </p:sp>
    </p:spTree>
    <p:extLst>
      <p:ext uri="{BB962C8B-B14F-4D97-AF65-F5344CB8AC3E}">
        <p14:creationId xmlns:p14="http://schemas.microsoft.com/office/powerpoint/2010/main" val="3113666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88924C-94DB-4508-8EFC-B766A564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80B6A-8815-4750-9415-9E60C7B0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C08F9-D5CE-4D44-A409-0624DD32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B20B7-70A6-49EF-BCDD-67504575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F5CAF-F0BE-4BCA-95CA-82AFAD00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26604-7BBB-4E87-B99A-6B10D7A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20994-355F-464E-8FCE-1FBA8DD1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기능 처리도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171C2-AA9C-4B08-8BF0-912FA82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51801-DEFD-40E4-8FD4-143F6723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F9B70-8A33-4926-B589-252CEBA8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52450" y="1905000"/>
          <a:ext xmlns:a="http://schemas.openxmlformats.org/drawingml/2006/main" cx="122301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809750"/>
                <a:gridCol w="1381125"/>
                <a:gridCol w="2476500"/>
                <a:gridCol w="952500"/>
                <a:gridCol w="1809750"/>
                <a:gridCol w="952500"/>
                <a:gridCol w="1466850"/>
              </a:tblGrid>
              <a:tr h="555625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AI-FRIDGE-01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자동 등록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2026. 07. 11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1/1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개요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 gridSpan="7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이벤트를 시작점으로 촬영·후보 추출·분류·안정화 후 재고 API를 호출하는 기능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 gridSpan="8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흐름도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D9E6F3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2DFBD-CE85-4D9E-986A-8CB78C03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18681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8768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bf78d43084511"/>
          <a:stretch xmlns:a="http://schemas.openxmlformats.org/drawingml/2006/main"/>
        </p:blipFill>
        <p:spPr>
          <a:xfrm xmlns:a="http://schemas.openxmlformats.org/drawingml/2006/main">
            <a:off x="914400" y="5604170"/>
            <a:ext cx="11525250" cy="10979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32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65AEF-A86B-4759-813A-850E68E7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AD713-77AD-42D9-85F5-54F8787E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6EFF5-C56E-4C8A-AE9C-5FFA273C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4682D-A07A-4BCA-A88C-8ACDA66C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47FE8-FBC8-4FA0-91AE-96303898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D153C-663F-47FF-9AD7-5EA92D80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0BA54-EBDE-4BD2-877D-2383C556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순차 다이어그램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2F0A1-06D8-4662-B7DC-A6201750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81259-D6CB-4FA4-A7D1-E1ED127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30D3E-42FB-4E3A-85CA-EF7A549E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04423-B716-47A4-A8DA-61A032F8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53424-B90A-4C19-93B9-CE358647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등록·소비 호출 순서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c0f45f0674ee9"/>
          <a:stretch xmlns:a="http://schemas.openxmlformats.org/drawingml/2006/main"/>
        </p:blipFill>
        <p:spPr>
          <a:xfrm xmlns:a="http://schemas.openxmlformats.org/drawingml/2006/main">
            <a:off x="1123294" y="2990850"/>
            <a:ext cx="6440212" cy="5476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898FA-9937-4151-81D7-A80D478C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B3A53-F3D4-4F00-8011-18829599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12A75-7BF3-4225-A85D-A3B043BF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참여자·책임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46F6B-E48D-47C1-B28A-ABA612DC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사용자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열기/닫기, 앱 조회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리드스위치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OPEN/CLOSE 이벤트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Raspberry Pi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카메라·AI·전송 오케스트레이션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카메라/AI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후보 생성·분류·confidence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Flask API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요청 검증·비즈니스 처리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MySQL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재고 INSERT/SELECT/UPDATE/DELETE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Flutter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최신 목록·상세 화면 표시</a:t>
            </a:r>
          </a:p>
        </p:txBody>
      </p:sp>
    </p:spTree>
    <p:extLst>
      <p:ext uri="{BB962C8B-B14F-4D97-AF65-F5344CB8AC3E}">
        <p14:creationId xmlns:p14="http://schemas.microsoft.com/office/powerpoint/2010/main" val="18655615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01B427-ACB4-40E4-93A4-E47E58D6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B416C-B3F3-4ABD-87B9-7A2FA6EC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B9299-D5A7-4489-ADB8-B53D1BE4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97BD9-C867-4625-B28C-3DDF181F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1FBEA-711B-4CBB-8CEF-F9ECADC2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D5DD9-3FA5-4186-B68F-1DDB3FE8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642B5-F095-47AC-B2BB-014D34F3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알고리즘 명세서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718C5-1289-4D63-BB48-34A4EEE4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후보·분류·안정화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8BBF3-4728-4177-90DE-9A5DFF9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C553B-F687-445B-80FA-9018F1B2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3FDB0-5C2C-42B1-B10E-9BC3482C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86C5D-7814-43FE-9166-7A70B74B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C40A2-36FF-485F-B8DB-12275ECE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알고리즘 흐름도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1f6652bd8472a"/>
          <a:stretch xmlns:a="http://schemas.openxmlformats.org/drawingml/2006/main"/>
        </p:blipFill>
        <p:spPr>
          <a:xfrm xmlns:a="http://schemas.openxmlformats.org/drawingml/2006/main">
            <a:off x="3282019" y="2990850"/>
            <a:ext cx="2122761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E3C64-6FAE-4111-8953-A45017B4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EAC43-27D1-48A5-83F6-EB59D539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B3819-A102-424F-9A90-36FD923A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단계별 명세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C3F8F-BB98-4BEF-8B47-64E54AA7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YOLO detector box · 우선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OpenCV contour · 추가 후보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3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후보 없음 · center fallback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4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crop 분류 · top5·confidence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5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none/background 제외 · uploadable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6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signature 비교 · stable_count 갱신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7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3회 안정 · /upload 또는 /consume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8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cooldown · 중복 전송 방지</a:t>
            </a:r>
          </a:p>
        </p:txBody>
      </p:sp>
    </p:spTree>
    <p:extLst>
      <p:ext uri="{BB962C8B-B14F-4D97-AF65-F5344CB8AC3E}">
        <p14:creationId xmlns:p14="http://schemas.microsoft.com/office/powerpoint/2010/main" val="6671159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AEE8C-6E68-4393-AF63-18BD4FAB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9A453-9F75-4F4B-8B97-27D69D2C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749B7-41C4-4A24-885C-5DAD8AC4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EEE92-D6C6-401F-9009-18D0AD69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3F221-7567-45F2-B5F9-CD60410F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D572B-E5B0-44FF-9D78-4E200D3F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52ED-2921-4F11-824B-2A08145F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알고리즘 상세 명세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FC051-0B94-4A93-BA32-4A908033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4ABA1-8513-4D79-8377-3582C75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EC548-373E-4696-B1DF-833A0674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1868150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88BF6-DBA8-4E78-9B2A-E7EE5167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1868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12F28-E9F3-4BD1-BC75-55F8BA40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163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객체 탐지·분류·안정화 알고리즘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4F930-FA65-448C-B4B4-2E6C2FE7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114109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냉장고 문 이벤트가 발생하면 640×480 RGB 프레임을 수집한다. YOLO detector box를 우선 후보로 사용하고, OpenCV contour 후보를 보완한 뒤 후보가 없으면 center crop을 적용한다. 각 crop은 best.pt로 분류하며 confidence 기준과 none/background 보정을 거쳐 유효 결과만 남긴다. 동일 label signature가 3회 연속 확인되면 최종 결과로 확정하고 /upload 또는 /consume API를 호출한다. interval 1초와 cooldown 20초를 적용해 중복·오탐·과도한 업로드를 방지한다.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CBFE9-A091-49DF-8CAC-7E17670A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57150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D9561-BF70-4542-BEA5-4D5D559B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정상 인식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B9953-841A-4B55-A9F0-03C167E3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52578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원본 프레임·검출 박스·crop·label·confidence가 함께 보이는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설명 예: “동일 tomato signature 3회 후 /upload 성공”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607B2-0F9C-4242-8F57-BC60D761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23_algorithm_success.png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F9934-0300-4A91-97AF-6B5A533C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43500"/>
            <a:ext cx="57912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EFD57-EE87-40B2-BBE6-7F3961CB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340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낮은 신뢰도/오인식 결과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4254F7-69D2-44FC-A526-B7F05682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43600"/>
            <a:ext cx="53340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confidence 미달 또는 UNRECOGNIZED 사례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사용자가 재료명·상태를 보완하는 화면과 함께 제시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CBF39-184C-4790-8914-90FA4891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972425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23_algorithm_review.png</a:t>
            </a:r>
          </a:p>
        </p:txBody>
      </p:sp>
    </p:spTree>
    <p:extLst>
      <p:ext uri="{BB962C8B-B14F-4D97-AF65-F5344CB8AC3E}">
        <p14:creationId xmlns:p14="http://schemas.microsoft.com/office/powerpoint/2010/main" val="18238398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138288-F314-448F-9C10-EF1CE142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7CA77-7645-472A-8F32-6B72A006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A6F1C-89F8-4042-9DC8-116AAEC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0BAC0-E5F4-4B0F-8D63-06973545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C2400-9A39-499A-A8B5-089AA9F5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9FCF8-1D89-41CF-9307-EC511D6E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8A5E4-409B-4095-B216-14A9D583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하드웨어 설계도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AF33D-AA7C-4F53-BB5A-ECFE122F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5B947-023D-441E-A7C1-0BC941A0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54FE2-74D0-4590-976C-D1360FE1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A3831-66D8-4C90-8CA5-708EB9A5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F45B2-99CA-4BB7-B7B2-F948FA5D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H/W 모듈·장착 설계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9d5e079984cd1"/>
          <a:stretch xmlns:a="http://schemas.openxmlformats.org/drawingml/2006/main"/>
        </p:blipFill>
        <p:spPr>
          <a:xfrm xmlns:a="http://schemas.openxmlformats.org/drawingml/2006/main">
            <a:off x="895350" y="4103778"/>
            <a:ext cx="6896100" cy="325101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7EF6A-A5F5-4EE9-9CCC-8D802760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E9257-2057-4E2F-B55F-8D153B9D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942AD-5DBE-47C7-98E8-B003A662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장착·안전·미확정 항목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010E0-3DA8-4B0A-9FAE-9A885669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카메라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식재료 동선이 보이는 위치, 모델·화각 실물 제작 후 확정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리드스위치/자석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문틀/문짝에 고정, 닫힘 시 근접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Raspberry Pi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결로를 피하도록 냉장고 외부 제어부에 배치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배선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CSI/USB, GPIO17/GND, USB-C 전원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네트워크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Wi-Fi/유선 LAN, Flask :5000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보호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케이블 고정·냉각·결로 대책은 실물 시험 후 확정</a:t>
            </a:r>
          </a:p>
        </p:txBody>
      </p:sp>
    </p:spTree>
    <p:extLst>
      <p:ext uri="{BB962C8B-B14F-4D97-AF65-F5344CB8AC3E}">
        <p14:creationId xmlns:p14="http://schemas.microsoft.com/office/powerpoint/2010/main" val="8037037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F3AFA7-A7FE-4AF8-8910-D7DFF123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B166F-14F9-425A-B66B-26C262BB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37300-9867-4020-A12F-D20E54F2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1D0B2-49F0-4EEF-ADFA-257E156D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57C6C-CC8A-4449-9BA1-F9FFDE60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2C2E0-30CF-46FF-9089-954B7342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1D2D9-E564-48E3-8FD8-F47CB2D3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프로그램·목록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D4055-232C-47B1-A45E-2CA7AEB8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91B16-A4A3-4B39-B6C3-61CB2586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1868150" cy="633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6915150"/>
              </a:tblGrid>
              <a:tr h="527844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1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분류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1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기능번호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1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527844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- login_screen.dart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REG-01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 - register_screen.dart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FRG-01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등록·선택·삭제 - fridge_selection_screen.dart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메뉴 - home_screen.dart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 조회 - inventory_screen.dart /inventory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INV-02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 수정·삭제 - inventory_detail_screen.dart /inventory/{id}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RCP-01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 목록 - recipe_list_screen.dart /recipes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RCP-02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 - recipe_detail_screen.dart /recipes/{id}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촬영·후보 추출·분류·전송 - pi_fridge_camera.py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인증·냉장고·재고·레시피 API - app.py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 테이블 생성·seed data - init_db()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4549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17B7C1-3BA3-4E98-93AC-0D0BD236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CD73E-C740-42BE-9908-EE2ACD27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3F573-7AC0-401C-A750-CE5356CC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C9DFA-53A9-486C-85F8-AE43E76A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2C04C-9AC8-4DB5-BAD6-B663F773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6D950-EB78-4AA6-AC21-6C689747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6FD85-8235-4F35-9A3B-AC14E0D4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테이블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FFDEF-F25C-46D7-8EF7-6C607751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10E68-D3CB-4C35-8827-71DACA8C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212A5-1911-413E-B985-5F9EE392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EBA72-8189-4505-8D29-98A40C51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334000" cy="65722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A3709-0E8E-4593-ABC8-B2B2E5C6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33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8A297-B0FD-4495-A368-6AA5ED67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 축약본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26d52518840d7"/>
          <a:stretch xmlns:a="http://schemas.openxmlformats.org/drawingml/2006/main"/>
        </p:blipFill>
        <p:spPr>
          <a:xfrm xmlns:a="http://schemas.openxmlformats.org/drawingml/2006/main">
            <a:off x="857250" y="3846246"/>
            <a:ext cx="5067300" cy="382323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04452-24F7-4119-B2A0-4758666B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6362700" cy="6572250"/>
          </a:xfrm>
          <a:prstGeom xmlns:a="http://schemas.openxmlformats.org/drawingml/2006/main" prst="roundRect">
            <a:avLst>
              <a:gd name="adj" fmla="val 1198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18D3B-4206-4022-B474-A21F6316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6362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35784-06E9-4BFD-A262-18A35660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fridge_items 데이터사전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400800" y="2952750"/>
          <a:ext xmlns:a="http://schemas.openxmlformats.org/drawingml/2006/main" cx="6057900" cy="558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23950"/>
                <a:gridCol w="952500"/>
                <a:gridCol w="685800"/>
                <a:gridCol w="1123950"/>
                <a:gridCol w="685800"/>
                <a:gridCol w="1485900"/>
              </a:tblGrid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Type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필수/선택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활성여부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fridge_item_id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기본키·AUTO_INCREMENT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소속 냉장고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ingredient_id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FK/NULL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마스터 식재료 매칭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display_name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VARCHAR(100)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표시명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quantity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DOUBLE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이상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기본값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VARCHAR(30)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개·g·ml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수량 단위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status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VARCHAR(30)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RECOGNIZED/UNRECOGNIZED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상태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image_path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VARCHAR(255)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이미지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crop_image_path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VARCHAR(255)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이미지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DOUBLE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0~1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신뢰도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detected_name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VARCHAR(100)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추정 라벨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메모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8048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D57E53-F536-42C7-BED1-EA3D866A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DF491-3377-4F9F-8863-461127B1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0B347-F68C-437C-A2E7-E0B9CA6A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532FB-B78B-42D0-B6D9-E7DE0D8B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C3E0B-4DA3-449B-8BBA-7C4822A9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E704F-31F2-406C-811A-BE2116E4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CE25D-1087-4AAC-BC81-D03386DE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핵심 소스코드(1)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F606A-579D-4C6F-B12C-BC2A3664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CD3B5-D398-4204-8104-6D03D822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A72B6-4B9C-4C63-A001-157CB448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B5A7C-1E13-4B6A-B0A4-C2A5BADD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backend/app.py - upload_detection()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26742-2F0A-40E3-9476-56A2E717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권장 캡처: 1144~1159, 1161~1199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이미지 검증·저장, RECOGNIZED/UNRECOGNIZED 결정, fridge_items INSERT가 보이게 캡처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파일명·줄번호 표시, 개인정보·서버 정보 가림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1B2D0-901E-453E-887C-57DC4A3C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27_code_upload.png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132FC-945A-4565-B6AE-55951481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B87C1-705B-4084-9FD5-D44E946B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backend/app.py - list_recipes()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B8902-EC60-4E7F-91FE-E78BD611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권장 캡처: 1018~1020, 1048~1082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1061~1066 missing 계산과 1081 정렬식을 포함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부족 재료가 적고 matched가 많은 순 추천 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30355-B119-44FF-9EF1-58EB81C2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27_code_recipes.png</a:t>
            </a:r>
          </a:p>
        </p:txBody>
      </p:sp>
    </p:spTree>
    <p:extLst>
      <p:ext uri="{BB962C8B-B14F-4D97-AF65-F5344CB8AC3E}">
        <p14:creationId xmlns:p14="http://schemas.microsoft.com/office/powerpoint/2010/main" val="5733648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3ED1B8-70FD-4BCE-952E-0DA356F0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2B128-0AB1-4F68-816F-C92CE2BC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C4600-CDC5-47ED-A99F-87B2814B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197F6-892F-4130-874B-B1EDB54B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333FA-4C8A-4587-8C80-EC871778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ACC6E-134E-4A53-90B1-A320BB66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5BCDF-2ED7-417B-84C5-93E779FB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핵심 소스코드(2)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E01B4-4990-4623-9DD4-95533251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AFE2B-1EAC-41B0-AADF-128369F1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65C49-9CCC-42C3-B446-73FC15AA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C3D93-ABB7-4ED0-85F9-BEACCB9F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backend/pi_fridge_camera.py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8ACCE-7FDF-46F2-AE84-E3BAAF75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collect_crop_candidates(): 319~329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scan_until_action(): 912~947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YOLO·contour·center fallback과 signature 안정화 구간을 “...”로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FB839-4B96-4BEB-B65D-C62B592C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28_code_pi.png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64B84-E159-4C2D-AC90-342F7416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5D921-AB8E-4A64-8996-0E439B64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fridge_app/lib/services/api_service.dart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44D7A-7A27-4FF8-9A73-50735782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fetchInventory(): 91~95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fetchRecipes(): 147~156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fetchRecipeDetail(): 158~166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REST URL과 응답 모델 변환이 보이게 캡처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DC695-E1EE-481E-B6E9-DF324AF9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28_code_flutter.png</a:t>
            </a:r>
          </a:p>
        </p:txBody>
      </p:sp>
    </p:spTree>
    <p:extLst>
      <p:ext uri="{BB962C8B-B14F-4D97-AF65-F5344CB8AC3E}">
        <p14:creationId xmlns:p14="http://schemas.microsoft.com/office/powerpoint/2010/main" val="8367940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2C92BC-2696-45D3-AEE7-AB6B5E54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96F09-6A8D-4268-A4C1-4E14A2B3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F0F1B-592B-4EAA-A437-4BCD6AC4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5B8CA-41A9-4F8A-8731-75075951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585A4-86AD-4878-B2F9-327147EF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78613-878A-4EF0-BAC0-352A4A49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F337A-6D9A-4306-8B87-3B77A36B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참조-개발 환경 및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D2FCA-AD4E-4284-BD3B-8D1C9C30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A9E01-A45C-414B-B9CB-14ABDE1E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42950" y="1962150"/>
          <a:ext xmlns:a="http://schemas.openxmlformats.org/drawingml/2006/main" cx="118681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2190750"/>
                <a:gridCol w="6629400"/>
              </a:tblGrid>
              <a:tr h="449036">
                <a:tc grid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적용내역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449036">
                <a:tc rowSpan="7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PC·앱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개발 PC, Android/Web 테스트 환경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개발도구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Visual Studio Code, Flutter SDK, Git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언어/프레임워크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Dart/Flutter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서버·AI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OS 64-bit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venv, Flask, SQL/MySQL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모델/라이브러리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Ultralytics YOLO, OpenCV, best.pt, yolov8n.pt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문서/형상관리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HANDOFF.md, Git repository, 실행 안내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rowSpan="6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 구성장비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디바이스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감지·카메라·AI 추론·전송 제어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CSI/Picamera2 또는 USB/OpenCV, 640×480 30FPS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리드스위치·자석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GPIO17/GND 연결, 문 열림·닫힘 감지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냉장고·전원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실물 냉장고, USB-C 상시 전원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REST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multipart upload, JSON 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Wi-Fi/유선 LAN, Flask :5000, MJPEG preview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F5ED3-3BC1-435C-A3F2-E79C3E5A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286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주의: 저장소 URL·계정명·서버 IP·DB 비밀번호는 제출 자료에 노출하지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7781141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E83CA9-2AA8-4945-A394-F78D5CB4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EAAA6-6F14-4A42-AB4D-C1772A54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57741-4D82-441F-B55F-46ED821E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C21A9-BCE1-44A3-B7F6-5D594088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988B0-86EB-4687-92B3-BDD30E34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34F2E-555F-4AB7-A2EF-0F77D486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7136D-61D1-4E33-8C39-A7CEB82D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S/W 기능 실사 사진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11D5A-5235-41FF-AF8E-0D3CB08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55124-3ED6-4291-B7A2-705A6FFB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0B72B-D816-45DB-9223-B77C8711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FE202-D566-4DE8-A058-F777239A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재고 목록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A06F5-0C6B-43DA-A4A9-49D7D0AD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AI crop·재료명·상태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B2935-FEBF-4D45-8AC3-7E5AB68D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30_sw_inventory.png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831B6-2B42-4457-8D4F-164F95D6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A9BF0-169F-4121-8C92-C2F6A472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재고 상세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D8E3E-46FC-42E7-B219-1C5E17C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수량·단위·상태 수정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BC7F0-A39D-475C-AF44-840D195A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30_sw_detail.png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F9365-A653-44C2-924B-36DC73DA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4454B-96AD-4D61-A479-6E49ED01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레시피 목록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A553C-0D7A-4477-A398-CFF62719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부족 재료 수·추천 순서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6BE09-F779-4C23-B0CF-77551098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30_sw_recipes.png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C935D-7043-4275-94AF-EFFBADE4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05050"/>
            <a:ext cx="2781300" cy="6000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36EBCA-C5C9-4EFC-942A-F0820991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955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레시피 상세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E6DCF-B571-4757-9D48-199E0BF1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05150"/>
            <a:ext cx="23241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필요·부족 재료와 조리법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D6DD2-AECE-4FEF-A664-F21F3944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7848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30_sw_recipe_detail.png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5F7CA-1E01-44D1-92C3-71D98200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실행 화면은 동일 사용자·냉장고 데이터 기준으로 촬영하고 개인정보·서버 주소를 가린다.</a:t>
            </a:r>
          </a:p>
        </p:txBody>
      </p:sp>
    </p:spTree>
    <p:extLst>
      <p:ext uri="{BB962C8B-B14F-4D97-AF65-F5344CB8AC3E}">
        <p14:creationId xmlns:p14="http://schemas.microsoft.com/office/powerpoint/2010/main" val="207703034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484105-1C05-4AE0-99A8-7B0E9C51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743CB-C4BA-461F-A7D2-2A249A65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3812A-9300-4F0D-93D2-16A785F0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6D5ED-9BBC-4A62-9E9A-BF20CD6A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A7A18-43C6-405C-B4AE-E1B99F72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F1BD8-F04F-49D0-A58F-588452C1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C097A-3175-4420-A6E6-3884AD5B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참조-H/W 기능 실사 사진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D7CB7-A8BE-4F39-8864-74A20202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40EE2-7F42-4F3A-96FB-8C0C4115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F6A34-543B-427F-900E-2E63DFF8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3EE28-BDB1-4E86-8EC1-7E5C38BE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전체 장착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AA67E-8418-40D7-9E7B-196E22C3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냉장고·Pi·카메라·센서·케이블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407D3-3B80-4B35-A712-3F8F6E03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31_hw_01.jpg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C51F0-A558-460E-BB66-91330C34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81AFE-BF41-4D6E-B60C-DA7DE627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Pi-카메라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A52D7-3FA4-4CFC-A9DF-CA8149E4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CSI 또는 USB 연결부·촬영 방향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CDA75-3B39-45EF-BF9C-9B077DE0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31_hw_02.jpg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2F90F-45F7-4770-8F3C-AF1B2CD3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D4B14-831E-4E0C-95CA-C5981E37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GPIO17/GND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790A3-CC0D-4B9E-BD35-69366832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물리 핀 11과 GND 배선 근접 사진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7DB7C-637E-4621-889A-5501DA2C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31_hw_03.jpg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87762-8D84-43BE-981C-9ED4CE28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2A65E-6A2B-4654-AA67-2ABF93EF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문 열림/닫힘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D7371-C5FA-4B15-869C-37AB71EE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리드스위치·자석 거리 비교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D5ECA-2D34-4DE5-85A0-3C45D65B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31_hw_04.jpg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570A01-A5B8-4E71-BA75-7BCD48B2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C4F57-80CF-47A8-BA2D-38D9FEF4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MJPEG 인식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A5F67-4853-4BB0-86CE-678DD709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실제 식재료와 검출 박스 화면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C016EB-35FD-4E41-9721-D3B12447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31_hw_05.jpg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B76F50-A54E-4C45-8275-710781BF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C30A2E-C459-443D-B69D-8687DB6B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앱 재고 반영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4C9ED7-BD4F-4FA9-BFF6-98F0EFE8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식재료 투입 후 목록 갱신 결과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F035CD-605E-45FE-977F-F0824A94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31_hw_06.jpg</a:t>
            </a:r>
          </a:p>
        </p:txBody>
      </p:sp>
    </p:spTree>
    <p:extLst>
      <p:ext uri="{BB962C8B-B14F-4D97-AF65-F5344CB8AC3E}">
        <p14:creationId xmlns:p14="http://schemas.microsoft.com/office/powerpoint/2010/main" val="10218380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E04BD-1FFB-42F2-8558-813E8B5F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E7B05-D59B-4F7B-9A95-7A5DDA5B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992BC-1D2A-4575-BF64-2BFC9ADF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19D89-5AB2-42EF-B9CC-C063937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57C10-9D31-4305-84CE-962A6265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889C2-E717-4278-A1BA-6B26450A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342E4-6876-41DD-A556-050D61A6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동영상 촬영 콘티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F2B70-9A0C-4802-A6AB-23C66233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BD0A3-7CF4-46F9-9FF2-AB147AA9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C6DDA-25DB-435B-B92D-F14CC025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10123-5F6D-4C5B-981A-9C670C30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#1 문제 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1FB78-6ED0-4E02-991A-7180AF89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고령인구·노년 1인가구 증가와 수기 재고관리 부담을 1~2문장으로 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B13F1-DF25-437D-98B8-075BF2FF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32_story_1.png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C28B2-682A-4055-9C0F-C3428B24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EF29B-9BE8-4131-BE64-E9E957C0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#2 하드웨어 소개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B1915-2D58-4F7F-A0F0-32CEC544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카메라·리드스위치·Raspberry Pi 장착 위치와 연결을 소개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BA29E-3AC9-4EC4-8105-EFA13355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3392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32_story_2.png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C8067-8314-42DF-AB6C-F614F1D8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ED678-8AFE-40E4-AFA3-18DAAF28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#3 자동 인식·저장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F0CFD-63CA-41C2-9E3C-CA667B6D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2935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문 열림 → 촬영 → AI 인식 → /upload → 재고 반영을 시연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000A1-99DF-46D1-B6EC-AE64C2DE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771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32_story_3.png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9F26A-655F-4A64-8181-2AC593E7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2925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9050">
            <a:solidFill>
              <a:srgbClr val="96363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14401E-F5EE-43B6-8359-CD61F3DB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1975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#4 앱 확인·레시피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2BE41F-D755-4DB2-BB8E-5F39C8E2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22935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확인 필요 항목 검수와 부족 재료가 적은 레시피 추천을 시연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CF7F0-8ABE-4551-978E-31547391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8771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교체 파일: 32_story_4.png</a:t>
            </a:r>
          </a:p>
        </p:txBody>
      </p:sp>
    </p:spTree>
    <p:extLst>
      <p:ext uri="{BB962C8B-B14F-4D97-AF65-F5344CB8AC3E}">
        <p14:creationId xmlns:p14="http://schemas.microsoft.com/office/powerpoint/2010/main" val="11241323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2AC39C-C625-45B4-9B4E-57442C05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5118E-267B-43F7-A69E-F09247D9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D4B0E-C82E-48CF-8309-876B110C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2285E-4264-45F1-98F5-762BBB4A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20F4E-D4F6-4FDD-8925-6D54C247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D83B1-E897-44B5-A300-2F78A6F7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A087F-C55E-4386-A7BE-2C2729C3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참조-프로젝트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EA886-B889-49DD-B9AE-9D045430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27E6C-06CE-44DE-B8D9-663F4140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9734A-D7AD-45FE-A8EF-60E3FC1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3F471-ED22-4577-AA7B-E941858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프로젝트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D4987-8A72-4432-B99C-BD09F32B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주간 일정 또는 Kanban 보드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완료/진행/대기 상태와 담당을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7FE2C-FA3F-47D2-A8CC-85E8B143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33_project_board.png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9B111-9D4F-4D52-8208-D34EAADD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EA0B8-0CE1-4523-BBEF-FACC72C0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형상관리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B5721-C554-4F8C-886E-FA079E8D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Git commit·branch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개인 계정명·원격 저장소 URL은 가림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574EF-0F3A-428F-8D6C-F952E542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33_git_history.png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5DBAF-663D-4C63-A2CD-C93617F6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E0BF0-5EB3-4B45-A42D-AC5BE9FD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이슈관리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DE147-46BA-4F6A-84F4-CF4657F5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오류-원인-해결-검증이 보이는 이슈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재현 조건과 수정 commit을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66375-E7DF-466B-A886-B4CD0949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33_issue_log.png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2AF63-6F91-43B0-B7C8-935592BC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관리 증빙은 날짜·상태·해결 결과가 보이도록 캡처하고 개인정보는 제거한다.</a:t>
            </a:r>
          </a:p>
        </p:txBody>
      </p:sp>
    </p:spTree>
    <p:extLst>
      <p:ext uri="{BB962C8B-B14F-4D97-AF65-F5344CB8AC3E}">
        <p14:creationId xmlns:p14="http://schemas.microsoft.com/office/powerpoint/2010/main" val="158935123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E9144-9FEA-4966-B746-E8D4131A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F54F4-369D-438B-B80D-D607A941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47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rPr>
              <a:t>제작설계 핵심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61ABB-8DFD-49B9-8834-B7367E48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D1871-633F-4EA1-BB38-6F34D676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직접 수요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43838-D96F-4B12-AA4B-271DC457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초고령사회와 노년 1인가구 증가에 맞춘 식재료 관리 자동화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69316-DDD4-4727-AF0E-A81DFF55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8EACB-971A-4907-A9F1-4D861DD2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구현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17FFD-CDB5-4B14-90F2-6B2D20B0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이벤트·엣지 AI·Flask/MySQL·Flutter를 연결한 모듈형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D04A9-799F-443F-9608-20F26853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C96BE-A5D1-4C32-9AF4-A75F64B2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신뢰성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6A8ED-B6F6-4E38-9771-227A640F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stable frame과 UNRECOGNIZED 사용자 검수로 자동화와 정확성 균형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923D8-BC84-49A8-A2E6-7B97AC15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최종 제출 전 교체할 자료: 통계 그래프 · 기술 동향 그림 · 코드 캡처 · S/W/H/W 실사 · 관리 증빙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EF789-8024-4C48-964F-5A782DA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191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1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3581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2026-07-12T09:00:01.9540000Z</dcterms:created>
  <dcterms:modified xsi:type="dcterms:W3CDTF">2026-07-12T09:00:01.9540000Z</dcterms:modified>
</coreProperties>
</file>