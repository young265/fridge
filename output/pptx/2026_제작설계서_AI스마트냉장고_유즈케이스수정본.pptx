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cb5b95b6f465e" /><Relationship Type="http://schemas.openxmlformats.org/officeDocument/2006/relationships/extended-properties" Target="/docProps/app.xml" Id="Rcc6f9e235f9e462e" /><Relationship Type="http://schemas.openxmlformats.org/officeDocument/2006/relationships/officeDocument" Target="/ppt/presentation.xml" Id="R2172ec907ea14d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ae6c7ac3d449e"/>
  </p:sldMasterIdLst>
  <p:notesMasterIdLst>
    <p:notesMasterId xmlns:r="http://schemas.openxmlformats.org/officeDocument/2006/relationships" r:id="Rb0907a1276874561"/>
  </p:notesMasterIdLst>
  <p:sldIdLst>
    <p:sldId xmlns:r="http://schemas.openxmlformats.org/officeDocument/2006/relationships" id="256" r:id="R0610b714f0374086"/>
    <p:sldId xmlns:r="http://schemas.openxmlformats.org/officeDocument/2006/relationships" id="257" r:id="Rfef996e01e064df3"/>
    <p:sldId xmlns:r="http://schemas.openxmlformats.org/officeDocument/2006/relationships" id="258" r:id="R119cc4f6162e413a"/>
    <p:sldId xmlns:r="http://schemas.openxmlformats.org/officeDocument/2006/relationships" id="259" r:id="R35583c9fe1724275"/>
    <p:sldId xmlns:r="http://schemas.openxmlformats.org/officeDocument/2006/relationships" id="260" r:id="R7dc33ac980424e01"/>
    <p:sldId xmlns:r="http://schemas.openxmlformats.org/officeDocument/2006/relationships" id="261" r:id="Rc8623653b82f491c"/>
    <p:sldId xmlns:r="http://schemas.openxmlformats.org/officeDocument/2006/relationships" id="262" r:id="R1fef2c73a4b64aa7"/>
    <p:sldId xmlns:r="http://schemas.openxmlformats.org/officeDocument/2006/relationships" id="263" r:id="Rfc7ab22dea114084"/>
    <p:sldId xmlns:r="http://schemas.openxmlformats.org/officeDocument/2006/relationships" id="264" r:id="R6dcda20ad7b449c9"/>
    <p:sldId xmlns:r="http://schemas.openxmlformats.org/officeDocument/2006/relationships" id="265" r:id="R3ce9f4871691414b"/>
    <p:sldId xmlns:r="http://schemas.openxmlformats.org/officeDocument/2006/relationships" id="266" r:id="R9908f33c82884577"/>
    <p:sldId xmlns:r="http://schemas.openxmlformats.org/officeDocument/2006/relationships" id="267" r:id="Rd77ded0ebe6a4d4c"/>
    <p:sldId xmlns:r="http://schemas.openxmlformats.org/officeDocument/2006/relationships" id="268" r:id="R54ca6742f5dd4e7b"/>
    <p:sldId xmlns:r="http://schemas.openxmlformats.org/officeDocument/2006/relationships" id="269" r:id="Rf7aa83789b2547d1"/>
    <p:sldId xmlns:r="http://schemas.openxmlformats.org/officeDocument/2006/relationships" id="270" r:id="Rc3aabdc44aaa4d39"/>
    <p:sldId xmlns:r="http://schemas.openxmlformats.org/officeDocument/2006/relationships" id="271" r:id="R0aaf8b5c51ee4cd2"/>
    <p:sldId xmlns:r="http://schemas.openxmlformats.org/officeDocument/2006/relationships" id="272" r:id="R8cab60e1832e4a43"/>
    <p:sldId xmlns:r="http://schemas.openxmlformats.org/officeDocument/2006/relationships" id="273" r:id="R12fd020070cd48b1"/>
    <p:sldId xmlns:r="http://schemas.openxmlformats.org/officeDocument/2006/relationships" id="274" r:id="R96e955570a6844cf"/>
    <p:sldId xmlns:r="http://schemas.openxmlformats.org/officeDocument/2006/relationships" id="275" r:id="R909625c6cf84449c"/>
    <p:sldId xmlns:r="http://schemas.openxmlformats.org/officeDocument/2006/relationships" id="276" r:id="R1251157a9714475e"/>
    <p:sldId xmlns:r="http://schemas.openxmlformats.org/officeDocument/2006/relationships" id="277" r:id="R882740f36cd142b0"/>
    <p:sldId xmlns:r="http://schemas.openxmlformats.org/officeDocument/2006/relationships" id="278" r:id="Refbb2cd98cd24857"/>
    <p:sldId xmlns:r="http://schemas.openxmlformats.org/officeDocument/2006/relationships" id="279" r:id="R0ad1a9fff864495c"/>
    <p:sldId xmlns:r="http://schemas.openxmlformats.org/officeDocument/2006/relationships" id="280" r:id="R4f7c3eaedb5c4fae"/>
    <p:sldId xmlns:r="http://schemas.openxmlformats.org/officeDocument/2006/relationships" id="281" r:id="Rfff3dfbbeb58451e"/>
    <p:sldId xmlns:r="http://schemas.openxmlformats.org/officeDocument/2006/relationships" id="282" r:id="R1db42a70c4b44162"/>
    <p:sldId xmlns:r="http://schemas.openxmlformats.org/officeDocument/2006/relationships" id="283" r:id="R9530f6850f5b40f6"/>
    <p:sldId xmlns:r="http://schemas.openxmlformats.org/officeDocument/2006/relationships" id="284" r:id="Raee120e101b34c94"/>
    <p:sldId xmlns:r="http://schemas.openxmlformats.org/officeDocument/2006/relationships" id="285" r:id="R6dacc79b7b8e44db"/>
    <p:sldId xmlns:r="http://schemas.openxmlformats.org/officeDocument/2006/relationships" id="286" r:id="R11b3583b2fef485e"/>
    <p:sldId xmlns:r="http://schemas.openxmlformats.org/officeDocument/2006/relationships" id="287" r:id="Rbbe11ce0047e46e3"/>
    <p:sldId xmlns:r="http://schemas.openxmlformats.org/officeDocument/2006/relationships" id="288" r:id="R3f16c67fbb2c4494"/>
    <p:sldId xmlns:r="http://schemas.openxmlformats.org/officeDocument/2006/relationships" id="289" r:id="Ra0e30bf98dfd4b36"/>
  </p:sldIdLst>
  <p:sldSz cx="13335000" cy="9429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9154d49c3c482c" /><Relationship Type="http://schemas.openxmlformats.org/officeDocument/2006/relationships/slideMaster" Target="/ppt/slideMasters/slideMaster1.xml" Id="Rc8fae6c7ac3d449e" /><Relationship Type="http://schemas.openxmlformats.org/officeDocument/2006/relationships/notesMaster" Target="/ppt/notesMasters/notesMaster1.xml" Id="Rb0907a1276874561" /><Relationship Type="http://schemas.openxmlformats.org/officeDocument/2006/relationships/presProps" Target="/ppt/presProps.xml" Id="Rf0d0689d603643b8" /><Relationship Type="http://schemas.openxmlformats.org/officeDocument/2006/relationships/tableStyles" Target="/ppt/tableStyles.xml" Id="Rd44375e7700741e9" /><Relationship Type="http://schemas.openxmlformats.org/officeDocument/2006/relationships/slide" Target="/ppt/slides/slide1.xml" Id="R0610b714f0374086" /><Relationship Type="http://schemas.openxmlformats.org/officeDocument/2006/relationships/slide" Target="/ppt/slides/slide2.xml" Id="Rfef996e01e064df3" /><Relationship Type="http://schemas.openxmlformats.org/officeDocument/2006/relationships/slide" Target="/ppt/slides/slide3.xml" Id="R119cc4f6162e413a" /><Relationship Type="http://schemas.openxmlformats.org/officeDocument/2006/relationships/slide" Target="/ppt/slides/slide4.xml" Id="R35583c9fe1724275" /><Relationship Type="http://schemas.openxmlformats.org/officeDocument/2006/relationships/slide" Target="/ppt/slides/slide5.xml" Id="R7dc33ac980424e01" /><Relationship Type="http://schemas.openxmlformats.org/officeDocument/2006/relationships/slide" Target="/ppt/slides/slide6.xml" Id="Rc8623653b82f491c" /><Relationship Type="http://schemas.openxmlformats.org/officeDocument/2006/relationships/slide" Target="/ppt/slides/slide7.xml" Id="R1fef2c73a4b64aa7" /><Relationship Type="http://schemas.openxmlformats.org/officeDocument/2006/relationships/slide" Target="/ppt/slides/slide8.xml" Id="Rfc7ab22dea114084" /><Relationship Type="http://schemas.openxmlformats.org/officeDocument/2006/relationships/slide" Target="/ppt/slides/slide9.xml" Id="R6dcda20ad7b449c9" /><Relationship Type="http://schemas.openxmlformats.org/officeDocument/2006/relationships/slide" Target="/ppt/slides/slide10.xml" Id="R3ce9f4871691414b" /><Relationship Type="http://schemas.openxmlformats.org/officeDocument/2006/relationships/slide" Target="/ppt/slides/slide11.xml" Id="R9908f33c82884577" /><Relationship Type="http://schemas.openxmlformats.org/officeDocument/2006/relationships/slide" Target="/ppt/slides/slide12.xml" Id="Rd77ded0ebe6a4d4c" /><Relationship Type="http://schemas.openxmlformats.org/officeDocument/2006/relationships/slide" Target="/ppt/slides/slide13.xml" Id="R54ca6742f5dd4e7b" /><Relationship Type="http://schemas.openxmlformats.org/officeDocument/2006/relationships/slide" Target="/ppt/slides/slide14.xml" Id="Rf7aa83789b2547d1" /><Relationship Type="http://schemas.openxmlformats.org/officeDocument/2006/relationships/slide" Target="/ppt/slides/slide15.xml" Id="Rc3aabdc44aaa4d39" /><Relationship Type="http://schemas.openxmlformats.org/officeDocument/2006/relationships/slide" Target="/ppt/slides/slide16.xml" Id="R0aaf8b5c51ee4cd2" /><Relationship Type="http://schemas.openxmlformats.org/officeDocument/2006/relationships/slide" Target="/ppt/slides/slide17.xml" Id="R8cab60e1832e4a43" /><Relationship Type="http://schemas.openxmlformats.org/officeDocument/2006/relationships/slide" Target="/ppt/slides/slide18.xml" Id="R12fd020070cd48b1" /><Relationship Type="http://schemas.openxmlformats.org/officeDocument/2006/relationships/slide" Target="/ppt/slides/slide19.xml" Id="R96e955570a6844cf" /><Relationship Type="http://schemas.openxmlformats.org/officeDocument/2006/relationships/slide" Target="/ppt/slides/slide20.xml" Id="R909625c6cf84449c" /><Relationship Type="http://schemas.openxmlformats.org/officeDocument/2006/relationships/slide" Target="/ppt/slides/slide21.xml" Id="R1251157a9714475e" /><Relationship Type="http://schemas.openxmlformats.org/officeDocument/2006/relationships/slide" Target="/ppt/slides/slide22.xml" Id="R882740f36cd142b0" /><Relationship Type="http://schemas.openxmlformats.org/officeDocument/2006/relationships/slide" Target="/ppt/slides/slide23.xml" Id="Refbb2cd98cd24857" /><Relationship Type="http://schemas.openxmlformats.org/officeDocument/2006/relationships/slide" Target="/ppt/slides/slide24.xml" Id="R0ad1a9fff864495c" /><Relationship Type="http://schemas.openxmlformats.org/officeDocument/2006/relationships/slide" Target="/ppt/slides/slide25.xml" Id="R4f7c3eaedb5c4fae" /><Relationship Type="http://schemas.openxmlformats.org/officeDocument/2006/relationships/slide" Target="/ppt/slides/slide26.xml" Id="Rfff3dfbbeb58451e" /><Relationship Type="http://schemas.openxmlformats.org/officeDocument/2006/relationships/slide" Target="/ppt/slides/slide27.xml" Id="R1db42a70c4b44162" /><Relationship Type="http://schemas.openxmlformats.org/officeDocument/2006/relationships/slide" Target="/ppt/slides/slide28.xml" Id="R9530f6850f5b40f6" /><Relationship Type="http://schemas.openxmlformats.org/officeDocument/2006/relationships/slide" Target="/ppt/slides/slide29.xml" Id="Raee120e101b34c94" /><Relationship Type="http://schemas.openxmlformats.org/officeDocument/2006/relationships/slide" Target="/ppt/slides/slide30.xml" Id="R6dacc79b7b8e44db" /><Relationship Type="http://schemas.openxmlformats.org/officeDocument/2006/relationships/slide" Target="/ppt/slides/slide31.xml" Id="R11b3583b2fef485e" /><Relationship Type="http://schemas.openxmlformats.org/officeDocument/2006/relationships/slide" Target="/ppt/slides/slide32.xml" Id="Rbbe11ce0047e46e3" /><Relationship Type="http://schemas.openxmlformats.org/officeDocument/2006/relationships/slide" Target="/ppt/slides/slide33.xml" Id="R3f16c67fbb2c4494" /><Relationship Type="http://schemas.openxmlformats.org/officeDocument/2006/relationships/slide" Target="/ppt/slides/slide34.xml" Id="Ra0e30bf98dfd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6382a7752541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4b5df8bca4317" /><Relationship Type="http://schemas.openxmlformats.org/officeDocument/2006/relationships/notesMaster" Target="/ppt/notesMasters/notesMaster1.xml" Id="R62e6759c294f4c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45a33237774195" /><Relationship Type="http://schemas.openxmlformats.org/officeDocument/2006/relationships/notesMaster" Target="/ppt/notesMasters/notesMaster1.xml" Id="R925a88993e944a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ea93ad766d4217" /><Relationship Type="http://schemas.openxmlformats.org/officeDocument/2006/relationships/notesMaster" Target="/ppt/notesMasters/notesMaster1.xml" Id="R36b8126355f141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8b1c47914b4232" /><Relationship Type="http://schemas.openxmlformats.org/officeDocument/2006/relationships/notesMaster" Target="/ppt/notesMasters/notesMaster1.xml" Id="Rb9679e7fc1da4f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4fcf87cecf4f99" /><Relationship Type="http://schemas.openxmlformats.org/officeDocument/2006/relationships/notesMaster" Target="/ppt/notesMasters/notesMaster1.xml" Id="Rb3ac3286d7324d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f386eca5cc459f" /><Relationship Type="http://schemas.openxmlformats.org/officeDocument/2006/relationships/notesMaster" Target="/ppt/notesMasters/notesMaster1.xml" Id="R852b7d37aea5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d87ded0b5c4a2d" /><Relationship Type="http://schemas.openxmlformats.org/officeDocument/2006/relationships/notesMaster" Target="/ppt/notesMasters/notesMaster1.xml" Id="R5dc3a2009b8c46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537aefb3d14611" /><Relationship Type="http://schemas.openxmlformats.org/officeDocument/2006/relationships/notesMaster" Target="/ppt/notesMasters/notesMaster1.xml" Id="Rd9aa7578465b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ac032a169b4488" /><Relationship Type="http://schemas.openxmlformats.org/officeDocument/2006/relationships/notesMaster" Target="/ppt/notesMasters/notesMaster1.xml" Id="R064999c4222647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09d2703e214b91" /><Relationship Type="http://schemas.openxmlformats.org/officeDocument/2006/relationships/notesMaster" Target="/ppt/notesMasters/notesMaster1.xml" Id="R046e311c53fb46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62469763164f83" /><Relationship Type="http://schemas.openxmlformats.org/officeDocument/2006/relationships/notesMaster" Target="/ppt/notesMasters/notesMaster1.xml" Id="Rab020719661a47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d404fd900a476b" /><Relationship Type="http://schemas.openxmlformats.org/officeDocument/2006/relationships/notesMaster" Target="/ppt/notesMasters/notesMaster1.xml" Id="R7db6416fd83441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0b242c71c24ae5" /><Relationship Type="http://schemas.openxmlformats.org/officeDocument/2006/relationships/notesMaster" Target="/ppt/notesMasters/notesMaster1.xml" Id="Rf07ce7c09c6f40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b8d8b0125043e7" /><Relationship Type="http://schemas.openxmlformats.org/officeDocument/2006/relationships/notesMaster" Target="/ppt/notesMasters/notesMaster1.xml" Id="R0bae75c9a5a046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3eb2b690164010" /><Relationship Type="http://schemas.openxmlformats.org/officeDocument/2006/relationships/notesMaster" Target="/ppt/notesMasters/notesMaster1.xml" Id="Rb8d0fca0cce54f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5d4c05f5ed4d8c" /><Relationship Type="http://schemas.openxmlformats.org/officeDocument/2006/relationships/notesMaster" Target="/ppt/notesMasters/notesMaster1.xml" Id="R01b7dba4e49b49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94c612d36c461d" /><Relationship Type="http://schemas.openxmlformats.org/officeDocument/2006/relationships/notesMaster" Target="/ppt/notesMasters/notesMaster1.xml" Id="R3b1be1aacf9643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2b131df7bc4509" /><Relationship Type="http://schemas.openxmlformats.org/officeDocument/2006/relationships/notesMaster" Target="/ppt/notesMasters/notesMaster1.xml" Id="R781ecb8b7d6748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35a4379c874a81" /><Relationship Type="http://schemas.openxmlformats.org/officeDocument/2006/relationships/notesMaster" Target="/ppt/notesMasters/notesMaster1.xml" Id="Re18e007ffe7548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2b52004e374503" /><Relationship Type="http://schemas.openxmlformats.org/officeDocument/2006/relationships/notesMaster" Target="/ppt/notesMasters/notesMaster1.xml" Id="Rb3b646580f73492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6d9bd63ead4c3e" /><Relationship Type="http://schemas.openxmlformats.org/officeDocument/2006/relationships/notesMaster" Target="/ppt/notesMasters/notesMaster1.xml" Id="R37ecd07af7ba43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3da5b8a3364522" /><Relationship Type="http://schemas.openxmlformats.org/officeDocument/2006/relationships/notesMaster" Target="/ppt/notesMasters/notesMaster1.xml" Id="R03526fa52d1941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9195098d7a431d" /><Relationship Type="http://schemas.openxmlformats.org/officeDocument/2006/relationships/notesMaster" Target="/ppt/notesMasters/notesMaster1.xml" Id="Rc46fe875a69c49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9e7a64343584ff7" /><Relationship Type="http://schemas.openxmlformats.org/officeDocument/2006/relationships/notesMaster" Target="/ppt/notesMasters/notesMaster1.xml" Id="Rc6e5c0d7c4df4d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0ea62a16c84ce0" /><Relationship Type="http://schemas.openxmlformats.org/officeDocument/2006/relationships/notesMaster" Target="/ppt/notesMasters/notesMaster1.xml" Id="Rdce14ca856414b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861ca968a746e7" /><Relationship Type="http://schemas.openxmlformats.org/officeDocument/2006/relationships/notesMaster" Target="/ppt/notesMasters/notesMaster1.xml" Id="R269dcda3749f4a6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157cb905bbb41ea" /><Relationship Type="http://schemas.openxmlformats.org/officeDocument/2006/relationships/notesMaster" Target="/ppt/notesMasters/notesMaster1.xml" Id="R7ed98354ab8e4e6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79bc6e7ec654c81" /><Relationship Type="http://schemas.openxmlformats.org/officeDocument/2006/relationships/notesMaster" Target="/ppt/notesMasters/notesMaster1.xml" Id="R27883fc89edb4fa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371d071558415b" /><Relationship Type="http://schemas.openxmlformats.org/officeDocument/2006/relationships/notesMaster" Target="/ppt/notesMasters/notesMaster1.xml" Id="R925da80c563c4aa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21f08cb36f471a" /><Relationship Type="http://schemas.openxmlformats.org/officeDocument/2006/relationships/notesMaster" Target="/ppt/notesMasters/notesMaster1.xml" Id="R999d769c61db4c4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45a1204e464f18" /><Relationship Type="http://schemas.openxmlformats.org/officeDocument/2006/relationships/notesMaster" Target="/ppt/notesMasters/notesMaster1.xml" Id="R42f22d0fe10a4d3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f67e09e8a4b40c3" /><Relationship Type="http://schemas.openxmlformats.org/officeDocument/2006/relationships/notesMaster" Target="/ppt/notesMasters/notesMaster1.xml" Id="R13f0ef5043a2497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e67bc38b19744df" /><Relationship Type="http://schemas.openxmlformats.org/officeDocument/2006/relationships/notesMaster" Target="/ppt/notesMasters/notesMaster1.xml" Id="R058a56a83e2c4e3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ff667f619874de9" /><Relationship Type="http://schemas.openxmlformats.org/officeDocument/2006/relationships/notesMaster" Target="/ppt/notesMasters/notesMaster1.xml" Id="R0ef55552424c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고령인구: https://kostat.go.kr/board.es?act=view&amp;bid=10820&amp;list_no=438832&amp;mid=a10301060100</a:t>
            </a:r>
          </a:p>
          <a:p xmlns:a="http://schemas.openxmlformats.org/drawingml/2006/main">
            <a:r>
              <a:t>2024 노년 1인가구: https://www.kostat.go.kr/board.es?act=view&amp;bid=11895&amp;list_no=442561&amp;mid=a10301010000</a:t>
            </a:r>
          </a:p>
          <a:p xmlns:a="http://schemas.openxmlformats.org/drawingml/2006/main">
            <a:r>
              <a:t>전체 1인가구 그래프는 사용하지 말고 노년 1인가구 추이를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IITP 스마트 디바이스 기술로드맵: https://www.iitp.kr/resources/file/201217/5.ICT%EB%94%94%EB%B0%94%EC%9D%B4%EC%8A%A4_%EC%96%91%EC%9E%90%EB%B3%B4%EA%B3%A0%EC%84%9C.pdf</a:t>
            </a:r>
          </a:p>
          <a:p xmlns:a="http://schemas.openxmlformats.org/drawingml/2006/main">
            <a:r>
              <a:t>IITP 2025 지원사업 안내: https://www.iitp.kr/resources/file/2025%EB%85%84%20IITP%20%EC%A7%80%EC%9B%90%EC%82%AC%EC%97%85%20%EC%95%88%EB%82%B4.pdf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d92174f884e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ff10903284c49" /><Relationship Type="http://schemas.openxmlformats.org/officeDocument/2006/relationships/slideLayout" Target="/ppt/slideLayouts/slideLayout1.xml" Id="R7217a2d8c54b41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7a2d8c54b41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789a80bae4ec5" /><Relationship Type="http://schemas.openxmlformats.org/officeDocument/2006/relationships/notesSlide" Target="/ppt/notesSlides/notesSlide1.xml" Id="Raf9b9e8992b944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b8a4880bb49e5" /><Relationship Type="http://schemas.openxmlformats.org/officeDocument/2006/relationships/notesSlide" Target="/ppt/notesSlides/notesSlide2.xml" Id="R65f23732a93a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d8b043e6b4fa9" /><Relationship Type="http://schemas.openxmlformats.org/officeDocument/2006/relationships/notesSlide" Target="/ppt/notesSlides/notesSlide3.xml" Id="Rc2308e186ed141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016c65b524410" /><Relationship Type="http://schemas.openxmlformats.org/officeDocument/2006/relationships/notesSlide" Target="/ppt/notesSlides/notesSlide4.xml" Id="R293afe4014a44e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50b2e37934f75" /><Relationship Type="http://schemas.openxmlformats.org/officeDocument/2006/relationships/notesSlide" Target="/ppt/notesSlides/notesSlide5.xml" Id="Rd75a4b02174146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bce7fed754a1c" /><Relationship Type="http://schemas.openxmlformats.org/officeDocument/2006/relationships/notesSlide" Target="/ppt/notesSlides/notesSlide6.xml" Id="R96429a074cc342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0d89e6a7e4f3e" /><Relationship Type="http://schemas.openxmlformats.org/officeDocument/2006/relationships/image" Target="/ppt/media/image.png" Id="R49f3063994b34718" /><Relationship Type="http://schemas.openxmlformats.org/officeDocument/2006/relationships/notesSlide" Target="/ppt/notesSlides/notesSlide7.xml" Id="R9dfd284b78e54b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6bcee80d545bc" /><Relationship Type="http://schemas.openxmlformats.org/officeDocument/2006/relationships/image" Target="/ppt/media/image2.png" Id="R7e6226c006a445e4" /><Relationship Type="http://schemas.openxmlformats.org/officeDocument/2006/relationships/notesSlide" Target="/ppt/notesSlides/notesSlide8.xml" Id="Rb889fc4f57d240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795e4d3184dfa" /><Relationship Type="http://schemas.openxmlformats.org/officeDocument/2006/relationships/image" Target="/ppt/media/image3.png" Id="R0f20253da6ad4f72" /><Relationship Type="http://schemas.openxmlformats.org/officeDocument/2006/relationships/notesSlide" Target="/ppt/notesSlides/notesSlide9.xml" Id="Rea1d920847d347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607c79fe14462" /><Relationship Type="http://schemas.openxmlformats.org/officeDocument/2006/relationships/image" Target="/ppt/media/image4.png" Id="R24e41377ae2445c8" /><Relationship Type="http://schemas.openxmlformats.org/officeDocument/2006/relationships/notesSlide" Target="/ppt/notesSlides/notesSlide10.xml" Id="R6af3af4a864045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f9fd25fb14390" /><Relationship Type="http://schemas.openxmlformats.org/officeDocument/2006/relationships/image" Target="/ppt/media/image5.png" Id="R81adcaa38e024206" /><Relationship Type="http://schemas.openxmlformats.org/officeDocument/2006/relationships/notesSlide" Target="/ppt/notesSlides/notesSlide11.xml" Id="R8a361dac42e74a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f9020ffd5475b" /><Relationship Type="http://schemas.openxmlformats.org/officeDocument/2006/relationships/image" Target="/ppt/media/image6.png" Id="R286950eedcc9406d" /><Relationship Type="http://schemas.openxmlformats.org/officeDocument/2006/relationships/notesSlide" Target="/ppt/notesSlides/notesSlide12.xml" Id="R5411227c8f1e4b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f13b2c16b4ea2" /><Relationship Type="http://schemas.openxmlformats.org/officeDocument/2006/relationships/image" Target="/ppt/media/image7.png" Id="Rfa415460f5c846dc" /><Relationship Type="http://schemas.openxmlformats.org/officeDocument/2006/relationships/notesSlide" Target="/ppt/notesSlides/notesSlide13.xml" Id="R2719be3febb545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e15f66b304445" /><Relationship Type="http://schemas.openxmlformats.org/officeDocument/2006/relationships/image" Target="/ppt/media/image8.png" Id="Rc25b96e0865a4a9b" /><Relationship Type="http://schemas.openxmlformats.org/officeDocument/2006/relationships/notesSlide" Target="/ppt/notesSlides/notesSlide14.xml" Id="R3e1b7e23173647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d09cfc3d34878" /><Relationship Type="http://schemas.openxmlformats.org/officeDocument/2006/relationships/image" Target="/ppt/media/image9.png" Id="Raadc51bb9baf4167" /><Relationship Type="http://schemas.openxmlformats.org/officeDocument/2006/relationships/notesSlide" Target="/ppt/notesSlides/notesSlide15.xml" Id="Rfb118040d34c43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a4ec32c4c484d" /><Relationship Type="http://schemas.openxmlformats.org/officeDocument/2006/relationships/image" Target="/ppt/media/image10.png" Id="Re952b225151146da" /><Relationship Type="http://schemas.openxmlformats.org/officeDocument/2006/relationships/notesSlide" Target="/ppt/notesSlides/notesSlide16.xml" Id="R3668fa4b95b343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c167a93034f02" /><Relationship Type="http://schemas.openxmlformats.org/officeDocument/2006/relationships/image" Target="/ppt/media/image11.png" Id="R259104c2b5884625" /><Relationship Type="http://schemas.openxmlformats.org/officeDocument/2006/relationships/notesSlide" Target="/ppt/notesSlides/notesSlide17.xml" Id="Ra4e930f6a6754a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a54def54f451f" /><Relationship Type="http://schemas.openxmlformats.org/officeDocument/2006/relationships/image" Target="/ppt/media/image12.png" Id="R23adfda4b1f84231" /><Relationship Type="http://schemas.openxmlformats.org/officeDocument/2006/relationships/notesSlide" Target="/ppt/notesSlides/notesSlide18.xml" Id="R76c951a8dec24e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b4ca156114fbf" /><Relationship Type="http://schemas.openxmlformats.org/officeDocument/2006/relationships/image" Target="/ppt/media/image13.png" Id="Rb17b7d5f796641f1" /><Relationship Type="http://schemas.openxmlformats.org/officeDocument/2006/relationships/notesSlide" Target="/ppt/notesSlides/notesSlide19.xml" Id="Rdec5155094e547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4d041aa6b464e" /><Relationship Type="http://schemas.openxmlformats.org/officeDocument/2006/relationships/image" Target="/ppt/media/image14.png" Id="R441ef26677dd4e39" /><Relationship Type="http://schemas.openxmlformats.org/officeDocument/2006/relationships/notesSlide" Target="/ppt/notesSlides/notesSlide20.xml" Id="R4e20dc567b4b49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d2b93942945ee" /><Relationship Type="http://schemas.openxmlformats.org/officeDocument/2006/relationships/image" Target="/ppt/media/image15.png" Id="Raea0c8c3e1884a69" /><Relationship Type="http://schemas.openxmlformats.org/officeDocument/2006/relationships/notesSlide" Target="/ppt/notesSlides/notesSlide21.xml" Id="R8807672ca94249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46d23cd3049ee" /><Relationship Type="http://schemas.openxmlformats.org/officeDocument/2006/relationships/image" Target="/ppt/media/image16.png" Id="R3174b9b8c65a4ad6" /><Relationship Type="http://schemas.openxmlformats.org/officeDocument/2006/relationships/notesSlide" Target="/ppt/notesSlides/notesSlide22.xml" Id="Rf91e8dab2dbc40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afe72cf074061" /><Relationship Type="http://schemas.openxmlformats.org/officeDocument/2006/relationships/notesSlide" Target="/ppt/notesSlides/notesSlide23.xml" Id="R25c9bca81ad046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63fcf0e844a0" /><Relationship Type="http://schemas.openxmlformats.org/officeDocument/2006/relationships/image" Target="/ppt/media/image17.png" Id="Rba2182d3ccdf40d8" /><Relationship Type="http://schemas.openxmlformats.org/officeDocument/2006/relationships/notesSlide" Target="/ppt/notesSlides/notesSlide24.xml" Id="R8c258381e05943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e9f10ee34418" /><Relationship Type="http://schemas.openxmlformats.org/officeDocument/2006/relationships/notesSlide" Target="/ppt/notesSlides/notesSlide25.xml" Id="R1fa63986a30e46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ba6ca5dcf4a13" /><Relationship Type="http://schemas.openxmlformats.org/officeDocument/2006/relationships/image" Target="/ppt/media/image18.png" Id="R20db045fcbdd4a7c" /><Relationship Type="http://schemas.openxmlformats.org/officeDocument/2006/relationships/notesSlide" Target="/ppt/notesSlides/notesSlide26.xml" Id="R2a3023c0132248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5762b06ac4adc" /><Relationship Type="http://schemas.openxmlformats.org/officeDocument/2006/relationships/notesSlide" Target="/ppt/notesSlides/notesSlide27.xml" Id="Re875c4b73392430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23ab118e9445e" /><Relationship Type="http://schemas.openxmlformats.org/officeDocument/2006/relationships/notesSlide" Target="/ppt/notesSlides/notesSlide28.xml" Id="Rbfb140d530fe42a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61a5ae9a84553" /><Relationship Type="http://schemas.openxmlformats.org/officeDocument/2006/relationships/notesSlide" Target="/ppt/notesSlides/notesSlide29.xml" Id="R77f8897fa89648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00a5b66cb473f" /><Relationship Type="http://schemas.openxmlformats.org/officeDocument/2006/relationships/notesSlide" Target="/ppt/notesSlides/notesSlide30.xml" Id="R054ef79eafd8497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2d4734b334e67" /><Relationship Type="http://schemas.openxmlformats.org/officeDocument/2006/relationships/notesSlide" Target="/ppt/notesSlides/notesSlide31.xml" Id="Rdd83420924c74b6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544aa46fd4b53" /><Relationship Type="http://schemas.openxmlformats.org/officeDocument/2006/relationships/notesSlide" Target="/ppt/notesSlides/notesSlide32.xml" Id="R424a763a4ae343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04ec3819c4156" /><Relationship Type="http://schemas.openxmlformats.org/officeDocument/2006/relationships/notesSlide" Target="/ppt/notesSlides/notesSlide33.xml" Id="R0b88efb55291460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bc5c1be614f9d" /><Relationship Type="http://schemas.openxmlformats.org/officeDocument/2006/relationships/notesSlide" Target="/ppt/notesSlides/notesSlide34.xml" Id="R11b5cc0870f8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F53493-AB5E-455F-9374-E108ADB9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ED52F-3BB6-49C9-902E-1087EF5C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50D33-1877-45D1-85BE-1BE8247F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4C5E1-787B-43E0-B9DF-EF81D79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SW개발/HW제작 설계서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BF9FA-D85D-469D-A106-11676C36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독거노인의 식생활 관리를 위한 AI 기반 스마트 냉장고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9B07F-EB87-4C6C-80E7-D6F4CC59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066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7C6C3-3DED-4B9F-9EE4-FD2E96BF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프로젝트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0A645-8381-4497-A097-6B9FF97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리드스위치로 냉장고 문 이벤트를 감지하고 필요한 시점에만 촬영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Raspberry Pi 5에서 YOLO·윤곽선 후보·식재료 분류를 수행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재고 등록·소비 반영과 사용자 검수를 함께 제공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보유 재료 기반으로 부족 재료가 적은 레시피를 우선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E3317-5A11-4A69-A3D6-2F998E2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6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2026. 07. 11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56D0E-B438-4880-8C73-EE7761E2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6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개인정보 미기재 편집 가능본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F40F7-6E5A-4976-A7CC-BA866782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</p:spTree>
    <p:extLst>
      <p:ext uri="{BB962C8B-B14F-4D97-AF65-F5344CB8AC3E}">
        <p14:creationId xmlns:p14="http://schemas.microsoft.com/office/powerpoint/2010/main" val="274695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F600A-098A-4E34-9087-740FDEC2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54B94-CDAD-483D-8D22-C6DF73A9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8D63F-50F1-403D-9582-2C0B08FB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1AF5F-33C8-4EB4-A46E-031EA7FD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83831-D27A-454A-A1C7-3973FB54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AF9A3-C7F1-47D2-998D-4496DB35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36F54-230B-44B0-BEC8-2835A2A8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수행 단계별 주요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9D73B-BC4D-4945-80CC-0FBF876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3E8B8-F58D-4BC2-BE22-BE8A0DC2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171700"/>
          <a:ext xmlns:a="http://schemas.openxmlformats.org/drawingml/2006/main" cx="11858625" cy="609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  <a:gridCol w="2476500"/>
                <a:gridCol w="1571625"/>
              </a:tblGrid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수록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시장/기술 동향 분석서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고령인구·노년 1인가구 중심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3-4p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요구사항분석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정의서, 유즈케이스 정의서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필수/선택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5-7p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아키텍처설계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구성도, 흐름도, UI/UX, H/W·센서 구성도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8-12p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기능설계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메뉴, 화면, 연계도, ERD, 기능처리도, 알고리즘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13-23p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개발/구현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설계도, 프로그램 목록, 테이블 정의서, 핵심 소스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24-28p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개발환경, S/W·H/W 실사, 동영상 콘티, 프로젝트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29-33p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FA1B9-812B-4645-A7DD-FF85DAE8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77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설문조사와 인터뷰 결과서는 실제 조사를 수행하지 않았으므로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072016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E3C9D3-7CE1-4FE3-800A-41C0C20B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EEB71-2FDB-481E-B112-897DA071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27289-6DE7-40FC-8D91-5F39279D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F0C13-6D74-4274-86E3-B5C466C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25AD3-14B6-49C7-8500-0603F652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22EAD-34B0-4CCC-BE4B-7159333A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D27D9-FF0E-48C1-B293-C94D348E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9AAB2-17B6-4177-978F-4FE61D62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사회·시장 배경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F559-86DB-4E8E-B05A-4B710C32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F8372-377C-4969-A01E-73E4FB81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9ACFE-92DC-4E96-B265-694D4128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715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06E4A-A4EB-40F1-A58E-024C1D63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그림 1-1. 고령인구 추이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62AA6-8F8C-4426-9B4E-7BAD40BF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5257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통계청 「2025 고령자 통계」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2025년 20.3% · 2036년 30% · 2050년 40% 초과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 제목·범례·기준연도가 보이게 캡처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80E8A-1520-4E34-9E3D-140F12A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03_market_elderly.png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9EA08-6B9F-4D76-BB38-A0D6170A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5791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B5057-1E5B-4E72-85FF-D650AE01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그림 1-2. 노년 1인가구 추이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785EE-6C03-47A8-99D8-C736943A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5334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1인가구가 아닌 65세 이상 노년 1인가구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2022년 197.3만 → 2023년 약 213.8만 → 2024년 228.9만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노년 가구 중 비중: 37.0% → 37.8% → 38.2%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0A9B9-D313-42E5-BEDF-BC662F3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03_market_elderly_single_household.png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E6745-77E1-4D21-B62F-4F191A34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DCF6F-6F7D-4533-8881-D58725DB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B60E1-470D-40E9-9160-B9EF2B10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15100"/>
            <a:ext cx="1163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해설 및 프로젝트 시사점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A877B-2620-4E95-84D3-3BDC7645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19950"/>
            <a:ext cx="1148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7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우리나라는 2025년 65세 이상 인구가 전체의 20.3%를 차지해 초고령사회에 진입했고, 고령인구 비중은 장기적으로 계속 증가할 전망이다.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2024년 가구주가 65세 이상인 노년 가구 중 1인 가구는 228만 9천 가구로 38.2%를 차지한다. 이는 식재료 구입·보관·소비를 혼자 관리하는 가구가 확대되고 있음을 뜻한다.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수기 입력을 계속 요구하는 방식은 고령 사용자에게 부담이 될 수 있으므로, 문 이벤트 기반 자동 촬영·인식과 확인이 필요한 항목만 검수하는 방식이 적합하다.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본 프로젝트는 재고 자동화에 그치지 않고 보유 재료와 레시피 필요 재료를 비교해 실제 식생활 의사결정까지 지원한다.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82753-6E3C-4327-A2F7-198F9978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출처: 통계청 「2025 고령자 통계」, 「2024년·2023년 생애단계별 행정통계」. 2023년 가구 수는 공표 비중으로 계산한 약값.</a:t>
            </a:r>
          </a:p>
        </p:txBody>
      </p:sp>
    </p:spTree>
    <p:extLst>
      <p:ext uri="{BB962C8B-B14F-4D97-AF65-F5344CB8AC3E}">
        <p14:creationId xmlns:p14="http://schemas.microsoft.com/office/powerpoint/2010/main" val="1937431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2BC44-025A-4868-90DE-F45D53E4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1ECB2-34FC-4F58-A19C-41D3C758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9DE63-4740-4927-BA17-A3D1B51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67C00-A2D5-47C2-95B9-F1295CBD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27BDE-AAD9-4E2A-BEB5-94C1B5A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1B43D-AA35-402D-B338-7B71683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531AA-C999-4763-86D9-8E0332B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F12F5-8C1F-4AF3-A550-A868B884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기술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00586-0806-459F-8CD4-F577796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318A0-9C47-47E7-B841-295A466A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18681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333625"/>
                <a:gridCol w="2095500"/>
                <a:gridCol w="2619375"/>
                <a:gridCol w="3390900"/>
              </a:tblGrid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수기·일반 앱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바코드/RFID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스마트 냉장고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프로젝트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방식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직접 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부착·스캔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카메라·제품 생태계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후 자동 촬영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방식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 그대로 사용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코드·태그 ID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영상 인식 중심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YOLO+contour+분류+fallback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수량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인식 시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시스템 내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등록, /consume 차감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항목 수기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확인 제한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제품별 방식 상이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UNRECOGNIZED만 선택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연계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앱에서 제공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대체로 미지원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서비스에 종속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matched/missing 계산·정렬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리더기·서버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의존도가 높음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엣지 추론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고령층 접근성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입력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관리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 비용·복잡성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자동화+큰 카드+확인 필요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36AD-2780-4044-8B32-45ACED30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00875"/>
            <a:ext cx="4476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EE640-4413-4DE6-83FA-8730B72B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91375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IoT·엣지 AI 기술 동향 그림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F4639-B093-42FE-A12B-4FA12C10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00975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97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IITP 기술로드맵의 엣지 AI·IoT 구조 그림 또는 핵심 문장 캡처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6F906-06D4-4853-BDC6-2043F72C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391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04_technology_trend.png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01900-403B-4438-B926-320C7372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7ABBA-218D-4050-97F8-80B0D4D9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B87E2-9956-4193-8F52-9759223E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1151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 동향 해설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C21C5-2584-4F9C-BFA1-286427DC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734300"/>
            <a:ext cx="680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5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엣지 AI는 클라우드 연결이 불안정해도 현장에서 상황을 인식하고 지연·데이터 전송량을 줄이는 방향으로 발전하고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문 센서 이벤트가 있을 때만 촬영하면 연속 녹화 대비 연산·저장 부담을 줄이고 실제 입출고 시점에 집중할 수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인식 결과를 무조건 확정하지 않고 낮은 신뢰도 항목만 사용자가 보완하는 사람-검수 구조가 정확성과 접근성을 함께 확보한다.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2BAF2-5ABF-4492-806A-F553818A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 참고: IITP 「ICT R&amp;D 기술로드맵 2025 - 스마트 디바이스」, 「2025년 지원사업 안내」. 비교표는 기술 유형 기준 분석.</a:t>
            </a:r>
          </a:p>
        </p:txBody>
      </p:sp>
    </p:spTree>
    <p:extLst>
      <p:ext uri="{BB962C8B-B14F-4D97-AF65-F5344CB8AC3E}">
        <p14:creationId xmlns:p14="http://schemas.microsoft.com/office/powerpoint/2010/main" val="861202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DD345-EACC-4BFA-869C-CC4324C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2C048-066C-4F40-9A8F-1B02865D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4BE79-4A4F-42EC-A1F8-042F583B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D30D0-0C36-44DC-A67B-0832BDC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F43AF-254A-4F3C-824B-F9455081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F6ED6-DB7B-4279-A2FE-786EE774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070E2-6955-44B4-A642-8B9B7882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393EF-1B67-4EE1-8F35-720021BB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343A2-A506-419B-B557-4497C024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D3A3C-19DF-4926-A43E-24BAA596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857250"/>
                <a:gridCol w="1952625"/>
                <a:gridCol w="6667500"/>
                <a:gridCol w="1143000"/>
              </a:tblGrid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회원가입/로그인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이름·이메일·비밀번호로 계정을 생성하고 로그인한다.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냉장고를 등록·선택·삭제하고 현재 냉장고를 지정한다.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조회/수정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수량·단위·상태·메모를 수정한다.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재료와 필요 재료를 비교해 부족 재료가 적은 순으로 제공한다.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감지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리드스위치의 GPIO17 입력으로 문 상태 이벤트를 감지한다.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촬영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또는 연속 모드에서 냉장고 내부 프레임을 수집한다.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영역을 추출하고 식재료명·confidence를 산출한다.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REQ-API-01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등록/소비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결과를 /upload로 등록하고 선택 모드에서 /consume으로 차감한다.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FE1F1-AE9B-448F-99EC-3EF9B0A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검증 기준: 실제 앱/API/H/W 실행 결과와 데이터베이스 저장 결과로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127277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2AFA0-3209-413C-8940-462937DD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AB0DA-3863-4816-9027-D2EF8C4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6481C-C135-40F7-8641-14560F64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7486C-6534-4012-A3E3-0BB9E42C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09019-149F-47CA-B48F-BBA4AE9B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DED3B-CA9D-4B77-B629-11E44DCB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5F486-75DE-4E0B-818F-CFBA5F57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876C0-E04F-48CC-8151-30113DCD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세부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07D15-16B0-4ADD-A40A-51D77D2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8AA76-E797-4E16-97FF-595BBE27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762250"/>
                <a:gridCol w="7820025"/>
              </a:tblGrid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이미지·인식 결과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label, confidence, 원본·crop 이미지 경로를 DB와 업로드 폴더에 저장한다.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직접 추가·수정·삭제할 수 있게 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보유/필요 재료를 비교해 missing_count가 낮은 순으로 정렬한다.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오인식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항목은 사용자가 이름과 상태를 수정할 수 있게 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문 이벤트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LOW·열림 HIGH를 기본값으로 사용하고 debounce 0.1초를 적용한다.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backend로 640×480, 30FPS 프레임을 수집한다.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미리보기 스트림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MJPEG preview를 제공해 장착 위치와 인식 박스를 브라우저에서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 추출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box → contour 보완 → center fallback 순으로 후보를 확보한다.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 프레임 판정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label signature가 3회 반복될 때만 전송해 중복·오탐을 줄인다.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BD2C3-DF68-4D37-8077-B793B3E6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비기능 요구: 개인정보·서버 IP·DB 계정은 문서와 캡처에서 제거하고, 미확정 H/W 사양은 “실물 제작 후 확정”으로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751378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4ECF6-B64B-48B8-8CAE-83700C4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7DE41-8C9D-4FCD-A917-B34384D3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692AB-4853-4074-888C-98F516E6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0F55C-7A13-4BCB-8338-C31A4FA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808F0-C4A1-42D2-88D2-D7D4815B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A8751-38DD-46EE-BCB8-2619D463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944D9-02D3-4C2F-A528-B136A3AE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유즈케이스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18BD5-0191-4FA1-8499-49984D13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1E7E6-3476-4182-AA0F-6CCF92C9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CEBBB-A9E4-4DA2-8EC8-D259F968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6572250"/>
          </a:xfrm>
          <a:prstGeom xmlns:a="http://schemas.openxmlformats.org/drawingml/2006/main" prst="roundRect">
            <a:avLst>
              <a:gd name="adj" fmla="val 119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ABB39-2231-4919-A194-0A16FA0B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642C1-8AE9-40EA-AB58-37937CA8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유즈케이스 다이어그램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3063994b34718"/>
          <a:stretch xmlns:a="http://schemas.openxmlformats.org/drawingml/2006/main"/>
        </p:blipFill>
        <p:spPr>
          <a:xfrm xmlns:a="http://schemas.openxmlformats.org/drawingml/2006/main">
            <a:off x="2643097" y="2952750"/>
            <a:ext cx="2543357" cy="5572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49E12-A957-464E-9B21-59B9473F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6572250"/>
          </a:xfrm>
          <a:prstGeom xmlns:a="http://schemas.openxmlformats.org/drawingml/2006/main" prst="roundRect">
            <a:avLst>
              <a:gd name="adj" fmla="val 143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EDFD6-CED4-4FC5-A216-F97370A6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347BE-60DE-4988-BEE8-CEECD086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UC-01 식재료 자동 등록 정의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448550" y="2952750"/>
          <a:ext xmlns:a="http://schemas.openxmlformats.org/drawingml/2006/main" cx="5010150" cy="556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3819525"/>
              </a:tblGrid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후 식재료를 촬영·인식하여 현재 냉장고 재고에 자동 등록한다.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Actor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및 현재 냉장고 선택, 카메라·리드스위치·서버 정상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후행조건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행과 원본/crop 이미지, label, confidence, 상태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시나리오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1) 문 열림 감지  2) 프레임 촬영  3) 후보 추출·분류  4) 동일 결과 3회 안정  5) /upload  6) 앱 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시나리오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신뢰도·매칭 실패는 UNRECOGNIZED로 저장 후 사용자 검수. 네트워크 오류는 재시도. cooldown 동안 중복 전송 방지.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소비 처리는 선택 워크플로에서 UC-02 /consume으로 수행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D809D-80EA-4FE1-BDEE-4F846BCE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 원본: diagrams/plantuml/07_usecase.puml</a:t>
            </a:r>
          </a:p>
        </p:txBody>
      </p:sp>
    </p:spTree>
    <p:extLst>
      <p:ext uri="{BB962C8B-B14F-4D97-AF65-F5344CB8AC3E}">
        <p14:creationId xmlns:p14="http://schemas.microsoft.com/office/powerpoint/2010/main" val="987121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54991-E482-4E0A-A99F-47569E8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EF9A6-E342-4ED7-8601-8136D413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D6AB0-0FCE-4109-B46B-A5FC41F5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3B1C5-2EFA-44CB-A879-52AF7E1B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3BC1C-3F6B-452C-B4A4-253E6855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DEE49-2E65-4554-9C60-66469495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E7F1B-02A8-4F4D-A125-CBEAFC4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C189D-855B-433C-AFCF-9F50E405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시나리오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C8C0B-9A1C-4A79-9910-7EE2526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F2630-95EB-4E5C-B325-C669452F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9EB0B-E8C5-4866-B6D7-6521FD0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3C20B-9C1C-458C-96C1-CBC21209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A8A4-83E9-4566-81C9-14F3D026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중심 서비스 시나리오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226c006a445e4"/>
          <a:stretch xmlns:a="http://schemas.openxmlformats.org/drawingml/2006/main"/>
        </p:blipFill>
        <p:spPr>
          <a:xfrm xmlns:a="http://schemas.openxmlformats.org/drawingml/2006/main">
            <a:off x="2741784" y="2990850"/>
            <a:ext cx="3203232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3B7AF-3D1B-4D24-BC64-F56E2931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5C7FE-AF0E-40DF-B132-2287A946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9B72B-255A-4C31-86DB-CEB6F61A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설명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23837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입력·처리·출력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예외/확인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문 열림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HIGH 이벤트를 Pi에 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bounce_time 0.1초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촬영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준비 후 640×480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읽기 실패 시 재시도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YOLO·contour·fallback 후보를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미달은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signature 3회 후 /upload·DB INSERT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cooldown으로 중복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앱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/inventory로 목록·상태·이미지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사용자 검수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 경로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모드에서 /consume으로 수량 감소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이하이면 행 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B43E3-C44E-4E4D-80EE-FCFEF72A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08_service_scenario.puml | 자동 등록을 기본 경로, 문 닫힘 소비를 보조 경로로 표현</a:t>
            </a:r>
          </a:p>
        </p:txBody>
      </p:sp>
    </p:spTree>
    <p:extLst>
      <p:ext uri="{BB962C8B-B14F-4D97-AF65-F5344CB8AC3E}">
        <p14:creationId xmlns:p14="http://schemas.microsoft.com/office/powerpoint/2010/main" val="1727533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C95D1-B962-4328-950A-CCB9CFBF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B83E4-A52C-4CBB-A196-3F011311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EE660-8CC1-48AD-A0F4-7E806D5B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7AA1C-34CD-418E-BE8B-04993001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B4414-9695-43B2-9685-25BE9A5F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470FB-AB55-4B74-897B-7411B00C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DDE12-0364-4A34-99EF-67302CF4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E796A-9FC0-4044-8748-85A6EBC7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E74C3-8707-4B2C-9244-A5C0CDCC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5642B-2778-4EA8-8F0C-92A2B8B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DC166-3A48-4BC9-ABE8-CC08ECCF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F030F-2256-433D-8EC0-708AF39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180BE-9FFB-4C88-902D-8106F601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아키텍처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0253da6ad4f72"/>
          <a:stretch xmlns:a="http://schemas.openxmlformats.org/drawingml/2006/main"/>
        </p:blipFill>
        <p:spPr>
          <a:xfrm xmlns:a="http://schemas.openxmlformats.org/drawingml/2006/main">
            <a:off x="895350" y="4057506"/>
            <a:ext cx="6896100" cy="334356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25FBF-D355-43BD-90B0-FE69402F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80D32-6836-4072-BEFA-5053726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176AA-5B69-446C-B9C1-85742811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구성요소 역할·데이터 흐름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95262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구성요소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데이터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이벤트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내부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감지·AI 추론·전송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crop, label, 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REST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JSON, multipart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MySQL/파일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데이터·원본/crop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SQL, JPEG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 앱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조회·검수·추천 UI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InventoryItem, Recipe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199DE-AE27-48EA-B0CA-21A06E2E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연결 순서: 센서/카메라 → Pi 엣지 AI → Flask → MySQL/이미지 → Flutter | 보호자 알림은 향후 확장</a:t>
            </a:r>
          </a:p>
        </p:txBody>
      </p:sp>
    </p:spTree>
    <p:extLst>
      <p:ext uri="{BB962C8B-B14F-4D97-AF65-F5344CB8AC3E}">
        <p14:creationId xmlns:p14="http://schemas.microsoft.com/office/powerpoint/2010/main" val="12467745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FA517-3BFB-4B96-A7C0-845A2D24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E1670-BEE9-4766-A850-BD1DDDD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96554-FE6B-447B-BD10-6F669F0F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8F723-6529-4004-9738-1E06D250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9E390-902C-4C54-8580-DC27462C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0ABCD-5754-4A2B-B8DE-4801BB57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99E6D-9686-4E24-BD00-08BA6D9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6C9B0-4576-445E-AABE-6D500B64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55D15-00FB-4DBD-A7FD-744BDA1D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DB68A-4E23-4741-BAF9-31D6EC2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FF208-73B5-40C0-8020-C5BC8CB3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3993D-7412-49FC-8D9B-BB3D9A7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서비스 흐름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41377ae2445c8"/>
          <a:stretch xmlns:a="http://schemas.openxmlformats.org/drawingml/2006/main"/>
        </p:blipFill>
        <p:spPr>
          <a:xfrm xmlns:a="http://schemas.openxmlformats.org/drawingml/2006/main">
            <a:off x="895350" y="5310033"/>
            <a:ext cx="6896100" cy="83850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3B294-055B-4454-A38C-814ACEA7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AB4A6-4591-4D06-9E3A-BB19A323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A7505-485C-4985-B0DE-8B75207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판단·예외 처리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지점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crop을 추가해 분류 기회를 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후보 제외 또는 확인 필요 처리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frame 미달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프레임으로 돌아가 signature 재평가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오류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 실패를 기록하고 다음 이벤트에서 재시도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재고 INSERT, 이미지·AI 메타데이터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재료 최신 재고 UPDATE, 0 이하 DELETE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5E5E2-4691-4028-A129-18AE5796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10_service_flow.puml | 기본값: stable_frames 3, cooldown 20초</a:t>
            </a:r>
          </a:p>
        </p:txBody>
      </p:sp>
    </p:spTree>
    <p:extLst>
      <p:ext uri="{BB962C8B-B14F-4D97-AF65-F5344CB8AC3E}">
        <p14:creationId xmlns:p14="http://schemas.microsoft.com/office/powerpoint/2010/main" val="1057237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999544-3133-4207-AC30-F6765B57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3777E-CB73-4ED4-A72E-C03EE591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184C9-896A-49E8-A959-3340C0A4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C1D82-29FA-4F64-A1C3-79A44549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DEB79-4D80-4BBA-B205-C84DECA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E270A-D8F3-4773-872C-0FF7196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1B9C8-DDDD-4CBA-95C6-B7C5006D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UI/UX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AC153-910A-422C-8C94-3996F30B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32DDB-B056-4FC8-8532-5103BE46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4479D-C752-4F60-8046-84EBECB5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EBC24-E4DC-4898-9E6F-AD43457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5CDF4-A614-417B-95C5-AF59A368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C8991-376A-47B6-A45C-0C448945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화면 와이어프레임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dcaa38e024206"/>
          <a:stretch xmlns:a="http://schemas.openxmlformats.org/drawingml/2006/main"/>
        </p:blipFill>
        <p:spPr>
          <a:xfrm xmlns:a="http://schemas.openxmlformats.org/drawingml/2006/main">
            <a:off x="895350" y="4820256"/>
            <a:ext cx="6896100" cy="181806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30A84-22C1-47D0-82ED-A0B92EE4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DCE1B-AB91-4BB5-8751-556AD0FD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8654A-76A4-4233-8A84-4C8FAAC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고령층 접근성·UI 원칙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19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원칙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방법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 우선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홈에 재고·레시피 두 개의 큰 진입 카드 배치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가시성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정상/확인 필요를 색·텍스트로 함께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최소화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 후 필요한 항목만 사용자 검수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회복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상태·네트워크 오류에 안내와 재시도 제공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일관된 용어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재고, 재료, 확인 필요, 부족 재료 표현 통일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보호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이메일·서버 주소를 캡처와 문서에서 제거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47EE7-A7D9-4B62-B46C-8E2FAEF6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11_uiux_wireframe.puml | 실제 앱 캡처가 준비되면 와이어프레임 이미지만 교체</a:t>
            </a:r>
          </a:p>
        </p:txBody>
      </p:sp>
    </p:spTree>
    <p:extLst>
      <p:ext uri="{BB962C8B-B14F-4D97-AF65-F5344CB8AC3E}">
        <p14:creationId xmlns:p14="http://schemas.microsoft.com/office/powerpoint/2010/main" val="409708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4CF77-5840-431C-97A6-FD2E4ECF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07333-B79A-4E25-A19C-489BD20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106BE-0A83-469F-889F-2668E127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E2489-4757-4D7E-B903-DB327A2D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A9671-F8C0-40E6-B6B1-3CBD3D88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5D82C-ADA6-418A-A088-CC99F371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6C138-6BE7-4319-8D4B-BE97F075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H/W·센서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F8812-2F0E-43C1-88CA-93C17023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13CA5-1DD3-4213-8C06-C9A45699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DDBFE-93FE-4C22-BBFA-4B401B81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54382-3C19-4817-B1D1-71E7ACA6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6ABD6-90DF-4D98-804E-2310EAA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센서·카메라 배선 설계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950eedcc9406d"/>
          <a:stretch xmlns:a="http://schemas.openxmlformats.org/drawingml/2006/main"/>
        </p:blipFill>
        <p:spPr>
          <a:xfrm xmlns:a="http://schemas.openxmlformats.org/drawingml/2006/main">
            <a:off x="895350" y="4531848"/>
            <a:ext cx="6896100" cy="239488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18AFE-21B7-495A-966C-8DD503F9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E1370-9276-4712-A86F-4694FECB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21EFE-4928-4ACC-8177-08C59B25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부품·연결·역할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666875"/>
                <a:gridCol w="1390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역할/비고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GPIO17, GND, 카메라, LAN/Wi-Fi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센서·영상·AI·전송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선 GPIO17(물리 11), 한 선 GND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LOW, 열림 HIGH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문에 부착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시 접점 근접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CSI/Picamera2 또는 USB/OpenCV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640×480, 30FPS 기본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USB-C 상시 전원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정격·케이블 실물 제작 후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:5000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/upload, /consume, inventory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66BB9-B072-4249-8A6D-5798DFE0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별도 MCU/자체 PCB 없음. 결로·케이블 고정·카메라 모델·전원 정격은 실물 제작 후 확정.</a:t>
            </a:r>
          </a:p>
        </p:txBody>
      </p:sp>
    </p:spTree>
    <p:extLst>
      <p:ext uri="{BB962C8B-B14F-4D97-AF65-F5344CB8AC3E}">
        <p14:creationId xmlns:p14="http://schemas.microsoft.com/office/powerpoint/2010/main" val="5120222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00A05-912E-4D9E-B900-C7418E0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172DA-A49C-4F31-8D38-B86BE218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CDB91-19A5-4983-9000-0E69CDC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37EB8-66E3-4D47-8267-47346B1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BA848-E9F8-43DA-83DB-A336242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AB143-F4B8-4534-81F9-9D28CE4F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EF34-2B5E-4494-8A70-DEC27EC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7CB3B-8DA2-4B03-8AEF-307D4FE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A5DD8-3D5F-47B5-B0BA-8E2F1108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011A6-E76B-468B-AD9D-AE0055A7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C1431-A9C7-42F9-9C76-47F20B1F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EBA70-8125-46CA-8682-26B00232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37A3E-BAB0-4C36-A12D-9E6CAB1E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이동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15460f5c846dc"/>
          <a:stretch xmlns:a="http://schemas.openxmlformats.org/drawingml/2006/main"/>
        </p:blipFill>
        <p:spPr>
          <a:xfrm xmlns:a="http://schemas.openxmlformats.org/drawingml/2006/main">
            <a:off x="896675" y="2990850"/>
            <a:ext cx="6893450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95441-C9FC-4E8E-B63E-9F99A1D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2AC20-A25E-46D2-9F20-191BF9D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3E39C-8C43-4681-A6D5-74376668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화면별 진입·복귀 규칙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476375"/>
                <a:gridCol w="1485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복귀/처리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로그인·회원가입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후 현재 냉장고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냉장고 없음 또는 홈의 변경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후 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재고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저장·삭제 후 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레시피 목록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상세에서 목록으로 복귀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상단 메뉴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상태 초기화 후 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향후 확장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보호자 화면·알림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미구현, 점선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2794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58E5CF-C0E3-4593-BAE6-494A0EA0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F3211-8EAA-420F-B2AF-4DF08857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8883-5F5F-4EC3-9A30-040509B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1BCD9-AA98-48D4-B60F-3CF9FB2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3B483-794D-45A5-B99A-8ABDAFF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D8B5F-AE03-4844-B03C-98794C2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64B56-B951-4A35-BC21-A256AB38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C8432-FDF7-4907-8C1A-B2543F50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061A8-FD54-43D6-9C1B-B522C98A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D3D8E-8677-4B90-8F7A-E98ABF9A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3F0E3-07DA-4DA5-9F6D-4B5BF34A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E003B-B076-4AEF-A809-A3561258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58096-71DE-4BE7-BD28-4F0658A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b96e0865a4a9b"/>
          <a:stretch xmlns:a="http://schemas.openxmlformats.org/drawingml/2006/main"/>
        </p:blipFill>
        <p:spPr>
          <a:xfrm xmlns:a="http://schemas.openxmlformats.org/drawingml/2006/main">
            <a:off x="895350" y="4763252"/>
            <a:ext cx="6896100" cy="19320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6449A-CAFE-42BA-A647-3EEC2034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CFAA4-D66D-462E-86FA-0C10A205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5D5B2-334F-4924-9739-DCB66458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설명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762125"/>
                <a:gridCol w="1295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위치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계정/냉장고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인증, 냉장고 CRUD·선택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Flutter·Flask·MySQL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센서/카메라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촬영, 미리보기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추출, 분류, 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YOLO/OpenCV/best.pt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등록·차감·CRUD·검수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/upload·/consume·inventory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검색·matched/missing·상세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/recipes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연동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REST·SQL·이미지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Flask·MySQL·uploads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0044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8E1324-0E70-470E-B68A-4DAAC52E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DF21C-C1E8-4D13-8461-05D341E6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D95D4-7D43-4F67-AB0C-7AD38C5E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C2F5A-D26A-4ACF-9625-5EE325EF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D1B42-070B-4964-9CA2-A0D4572B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928B8-4487-4633-BCCD-E258EB74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1AB5D-5277-483F-A6A2-BC378769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894FF-D423-4C68-A1DC-3FE4E3C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BE3E5-785B-44D2-9F10-7DB00B93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00D7E-007E-412D-8572-74625AC8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866A3-9202-4765-8095-D53DE928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FECFB-2FF7-4E91-8E58-1E6AFC65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9C1B4-EF86-40AA-87DA-FF58397D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로그인·홈·재고·레시피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c51bb9baf4167"/>
          <a:stretch xmlns:a="http://schemas.openxmlformats.org/drawingml/2006/main"/>
        </p:blipFill>
        <p:spPr>
          <a:xfrm xmlns:a="http://schemas.openxmlformats.org/drawingml/2006/main">
            <a:off x="895350" y="4793895"/>
            <a:ext cx="6896100" cy="187078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CD612-F67B-4A24-B1BE-8044CB4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9E7F6-49F0-4322-8E42-AD1C951B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4AA23-B6F8-4B28-BAA8-FC7F6C0D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기능번호·처리내용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"/>
                <a:gridCol w="1381125"/>
                <a:gridCol w="20478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화면/기능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/auth/login 후 사용자·냉장고 상태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냉장고명과 재고/레시피 진입 카드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/inventory, 검색·필터·새로고침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POST/PUT/DELETE inventory, AI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/recipes, 부족 재료 적은 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UI-06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필요/부족 재료와 조리 방법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2639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B1910-ADD2-4730-B94E-34E4B448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14682-4D3F-4FAA-A8B0-4F40E90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F9E8D-01C1-439C-940F-1C99750C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785AE-716A-41A1-9176-A8B44119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CFD84-E4F5-4FEA-9599-7F11AE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60946-623A-4D34-BA7D-4F87366B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34E5E-EB27-49CB-9794-18D0F49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7BFEC-DB21-4BBE-9B83-A055849F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상세/수정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D6E42-2B25-446B-96D9-69179F00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49603-7630-4658-8F26-7CCD7E1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C275D-89C5-4531-840B-838DFEF0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0C87E-308F-43AC-BCAD-C270AA4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2C309-4328-4DC8-9A37-5AF0EA10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상세·수정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2b225151146da"/>
          <a:stretch xmlns:a="http://schemas.openxmlformats.org/drawingml/2006/main"/>
        </p:blipFill>
        <p:spPr>
          <a:xfrm xmlns:a="http://schemas.openxmlformats.org/drawingml/2006/main">
            <a:off x="895350" y="3591178"/>
            <a:ext cx="6896100" cy="4276219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8C247-214E-4B90-A4CC-B37D9AD3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015F6-5932-4B0F-B6F0-46ABCBDF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C8AA0-D1B2-49C4-8640-FE26A3E7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입력·출력·예외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1524000"/>
                <a:gridCol w="19431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 재료명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quantity/unit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수량·단위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status/note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상태·메모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detected_name/confidence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추정값·신뢰도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crop/image URL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우선, 없으면 원본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 배너와 사용자 보완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저장/삭제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시 이전 화면 복귀·목록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0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D9A18-5212-4A41-9918-1C971F0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7BBB-11EF-4CE2-8D28-98FDF1F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64A41-619E-40BF-9256-9DF8A6C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D0FF5-C4AA-4761-900A-BE729690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0A20E-BE54-4324-B703-6F9B4E53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05E51-B5CB-49FD-B4D6-989AA35D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32F69-A751-478F-B382-B3448636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9B94-250C-4B8C-AC23-50637022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2E5A4-9D8A-4FEA-B2A9-F650FBC9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1E876-E854-4E0C-9703-50848CC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AB1FE-4E1F-4657-B9FB-933DBB34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E6947-0B5A-48B5-BB26-7C99202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화면 이동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104c2b5884625"/>
          <a:stretch xmlns:a="http://schemas.openxmlformats.org/drawingml/2006/main"/>
        </p:blipFill>
        <p:spPr>
          <a:xfrm xmlns:a="http://schemas.openxmlformats.org/drawingml/2006/main">
            <a:off x="3244187" y="2990850"/>
            <a:ext cx="2198425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F0A0F-2705-4C68-94F0-F94110B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02DE2-EBBE-4AFC-8A85-C33F50C5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7BE49-1CA6-47AF-B6B4-F4D07522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네비게이션 규칙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이동/처리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성공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있음 → 홈, 없음 → 냉장고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 성공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냉장고 생성 후 로그인/홈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카드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목록으로 복귀하고 재조회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변경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선택·관리 화면에서 현재 냉장고 갱신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상태 초기화 후 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0759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F6C48-2382-45D7-9258-07747F64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B52B1-A185-4C30-9B7C-668A2A87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53AFA-A214-4D6B-92F2-6ACF0B0D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C6A5F-409D-470B-845B-FB55369B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80223-05EB-46A9-A333-66FC4B57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3A55D-7FF7-45ED-BBA3-E4AF530A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4640D-25D4-46FF-B95E-CAF928B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연계도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5D362-1AE9-4549-A41C-F6B4ED7F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BC095-B116-4D64-ACF9-FDAB25C8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5EC43-BDD1-4E83-A989-3A55EE8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44488-4F62-4AA1-9527-5C1BEB2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B244E-EC33-47C1-B9A9-6607471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H/W·앱·서버·DB 연계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dfda4b1f84231"/>
          <a:stretch xmlns:a="http://schemas.openxmlformats.org/drawingml/2006/main"/>
        </p:blipFill>
        <p:spPr>
          <a:xfrm xmlns:a="http://schemas.openxmlformats.org/drawingml/2006/main">
            <a:off x="895350" y="4751613"/>
            <a:ext cx="6896100" cy="1955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7BC17-EC85-40C1-B3BC-8007C45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CB507-5CCD-470D-BF4A-14C3AC5D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B44FA-2D87-4E67-9CB8-3EA94BF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연계 인터페이스 정의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2000250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송신→수신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프로토콜/데이터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센서→Pi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상태 이벤트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카메라→Pi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추출·분류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Pi→Flask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multipart JPEG, label, 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등록/소비 요청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Flutter↔Flask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JSON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인증·재고·레시피 CRUD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Flask→파일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JPEG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원본·crop 증빙 보관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5608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22A5B4-EF54-4924-B5DD-194F18A6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D54E5-9771-4AED-92AD-727CACF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76AF9-2C90-4D93-BEDD-ABA5191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96BA9-61B3-4C40-BA65-BCA3036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0BA01-EA2E-4E93-9A1B-2EAD7ED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2D7D0-441A-4C59-95FD-1ACD9647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D3144-5C2E-4D8A-ADD5-267E0277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엔티티 관계도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A89BC-9DFC-4279-BDCC-3B62E02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D0CAE-8F1D-4801-825D-462746C2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85211-8751-40DD-92F4-70B0A0CA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63300-E254-46D6-BDBE-93BE975B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51E5B-09BA-4C16-B82A-D7689C6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6F8F7-AAAC-4303-8325-9F306423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개념 ERD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b7d5f796641f1"/>
          <a:stretch xmlns:a="http://schemas.openxmlformats.org/drawingml/2006/main"/>
        </p:blipFill>
        <p:spPr>
          <a:xfrm xmlns:a="http://schemas.openxmlformats.org/drawingml/2006/main">
            <a:off x="895350" y="3721951"/>
            <a:ext cx="6896100" cy="40146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6860D-7C74-4EE4-BB8A-BF9E13C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00082-334A-45B9-909A-BFB55A18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F94D1-21A6-47E7-8E2D-82D2507D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관계·무결성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000125"/>
                <a:gridCol w="1771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카디널리티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users-fridges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삭제 시 냉장고 cascade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fridges-fridge_items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삭제 시 재고 cascade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ingredients-fridge_items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0..1:N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 실패 시 ingredient_id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recipes-ingredients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N:M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recipe_ingredients 연결 테이블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users-current_fridge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애플리케이션에서 현재 냉장고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app_state-active_fridge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브리지의 대상 냉장고 상태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0407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B248E-E0CB-4970-B514-97D5EA5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05EF1-865E-40D7-B391-4B90283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F1973-83F6-469D-83F0-AF0E601B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9F3B9-F894-4628-BDB3-8B6B86F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0A2BF-820F-4E6B-AC0E-A8ED8E7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23205-D5DA-4B1D-A29A-36254BA0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56350-C128-4160-A57C-DA300E3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기능 처리도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25C00-3623-447E-BBA8-EA2384E3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EBB01-5E97-40AE-973B-C7F1E7A7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3BB65-A341-4D74-89A2-152D9551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CA948-0455-4E7A-B666-C7A1DC44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76AF0-68F7-4362-9AFC-1315675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66BE7-A32C-4788-9F73-B9758F7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재고 반영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ef26677dd4e39"/>
          <a:stretch xmlns:a="http://schemas.openxmlformats.org/drawingml/2006/main"/>
        </p:blipFill>
        <p:spPr>
          <a:xfrm xmlns:a="http://schemas.openxmlformats.org/drawingml/2006/main">
            <a:off x="895350" y="5400807"/>
            <a:ext cx="6896100" cy="65696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85F88-F0E7-4985-A476-52D834C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CB5B6-C116-4788-90E3-1A5623AD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2BB08-0AE7-4748-82C9-7257E2B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입력·처리·출력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9146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frame, fridge_id,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전처리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 후보 병합, fallback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분류, confidence, signature 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→ fridge_items INSERT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 → UPDATE 또는 DELETE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결과, 이미지 URL, Flutter 목록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stable_frames·cooldown·timeout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8964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3D25A-247C-4612-B86C-EBFF4E33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9929D-DB93-41B1-AB26-9951F315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CFA78-3E7B-4E05-9C45-E0358AE2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BA0B6-A782-486F-B350-91EC0D31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92FEC-E412-4A2D-A7CF-0545EBEF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1E186-7F45-488E-BE4E-6D52CF9B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F3ED8-35DC-47B9-AD4D-617C5BF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순차 다이어그램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5D3D6-316B-4599-B365-018A2873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D5FE3-0317-4C17-98C0-46A5D20F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3AC55-EF1D-4934-84D8-93F319D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0E3FA-959B-4948-B566-71A1A8B3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ED7A6-A49D-4B85-AC8A-96CF371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등록·소비 호출 순서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0c8c3e1884a69"/>
          <a:stretch xmlns:a="http://schemas.openxmlformats.org/drawingml/2006/main"/>
        </p:blipFill>
        <p:spPr>
          <a:xfrm xmlns:a="http://schemas.openxmlformats.org/drawingml/2006/main">
            <a:off x="1123294" y="2990850"/>
            <a:ext cx="6440212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80451-23EE-4670-88A0-35C6DAA7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4F191-A1B6-43BC-BD3D-1B1F98B7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72492-E35F-4D5E-ACD7-EC9BDA61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참여자·책임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7241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참여자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열기/닫기, 앱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OPEN/CLOSE 이벤트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카메라·AI·전송 오케스트레이션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카메라/AI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검증·비즈니스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INSERT/SELECT/UPDATE/DELETE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목록·상세 화면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303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3D3B2-5C04-4643-86FC-D90963D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9CDC0-B6C6-4716-AE9C-5802FAF7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0716B-C630-48D6-87AB-94ECDF18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82107-CE1C-443A-AE85-C048813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7E51D-4F45-41A0-878D-48673641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14D46-B35A-4A5F-9B53-CB8AD1A2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79AEA-1BFC-4776-9D64-17C95281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명세서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EAAD2-79ED-462D-B731-006919B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후보·분류·안정화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06734-B558-47E7-BF8C-D4EFD96D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B606F-E344-443C-AB1A-7F5D31CB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99D94-C8F3-4B3F-B21D-F7A0F61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A974B-891B-4075-AA32-B6B5EDD4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798BC-B3D4-4E9A-97B8-9261DC9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알고리즘 흐름도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4b9b8c65a4ad6"/>
          <a:stretch xmlns:a="http://schemas.openxmlformats.org/drawingml/2006/main"/>
        </p:blipFill>
        <p:spPr>
          <a:xfrm xmlns:a="http://schemas.openxmlformats.org/drawingml/2006/main">
            <a:off x="3282019" y="2990850"/>
            <a:ext cx="2122761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04DBC-D780-4A0C-8827-AA6A61D4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B43C1-950E-4193-941A-8D80540A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BB8C9-CF9A-4CB9-B230-2CCF52E2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명세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"/>
                <a:gridCol w="2143125"/>
                <a:gridCol w="1438275"/>
              </a:tblGrid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detector 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contour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후보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top5·confidence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none/background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uploadable 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signature 비교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stable_count 갱신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3회 안정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또는 /consume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전송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2786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624CA-E59B-403F-A4FF-E2E3818C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01305-E163-4256-B958-97331250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23512-BEB5-4787-A499-11C71A63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0A840-C4E5-4BE9-BC73-CFD3D133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C581B-8D7E-4282-ACD6-6E72D156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47493-D900-45AC-BADC-904ED2F1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F5538-8D3A-429F-A20E-AD1A03A9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상세 명세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A778E-C273-454D-B26C-E95342FF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4466-2018-45BD-8458-2DB7C223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42950" y="2076450"/>
          <a:ext xmlns:a="http://schemas.openxmlformats.org/drawingml/2006/main" cx="118681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333750"/>
                <a:gridCol w="7296150"/>
              </a:tblGrid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설정/입력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 이벤트의 식재료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생성·분류·안정화 후 재고 API 호출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 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camera backend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→ contour → center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겹침 제거 후 최대 4개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best.pt, top5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 confidence 기준과 background 보정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signature 3회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 프레임 일치 시 최종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interval 1초, cooldown 20초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중복·오탐·과도한 업로드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7C023-3443-49B3-B3FD-85571021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715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EFBAC-652C-49F7-8BB6-9B658A2E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정상 인식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47BBD-C1AA-453E-B877-7ECFEFB5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52578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원본 프레임·검출 박스·crop·label·confidence가 함께 보이는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설명 예: “동일 tomato signature 3회 후 /upload 성공”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27BDE-BC25-4B26-96B3-C0440AC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23_algorithm_success.png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B599F-8C8B-4017-B7C5-BCAAF715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57912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5FF42-607D-431B-A8E8-B082228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낮은 신뢰도/오인식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76CD3-2C40-475C-9813-BE38350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43600"/>
            <a:ext cx="53340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confidence 미달 또는 UNRECOGNIZED 사례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사용자가 재료명·상태를 보완하는 화면과 함께 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F5DC0-3FC8-4E95-94A5-D36E32E4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972425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23_algorithm_review.png</a:t>
            </a:r>
          </a:p>
        </p:txBody>
      </p:sp>
    </p:spTree>
    <p:extLst>
      <p:ext uri="{BB962C8B-B14F-4D97-AF65-F5344CB8AC3E}">
        <p14:creationId xmlns:p14="http://schemas.microsoft.com/office/powerpoint/2010/main" val="3740718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3A60E-FA9C-4D4F-BB72-78180F39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F2678-84C0-406C-8996-4D4A4303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DDFB5-A725-4972-80D7-D5854FA3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FC701-2F37-4045-B087-DE4F8414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94275-AAF7-41C4-8E00-CC928DFC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A785A-C5C3-4AA1-AEEC-6C150B8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44629-B028-4FBA-9268-CAA9FED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하드웨어 설계도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AF447-EAB3-41F7-8F29-EE63EB78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4E983-CCDA-46C7-9EBE-1E02259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B55F7-3F8F-45C1-93BA-5F0C0702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C5968-6B54-44CA-8180-3133BE27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A7249-F3FD-4DD3-B8CB-8D34A8EF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 모듈·장착 설계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182d3ccdf40d8"/>
          <a:stretch xmlns:a="http://schemas.openxmlformats.org/drawingml/2006/main"/>
        </p:blipFill>
        <p:spPr>
          <a:xfrm xmlns:a="http://schemas.openxmlformats.org/drawingml/2006/main">
            <a:off x="895350" y="4103778"/>
            <a:ext cx="6896100" cy="32510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0630A-C866-48DE-BB55-0ECE59E5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60D83-DC29-4F4C-9562-E5C9506A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54FCC-CD56-4D6E-8336-13A6C05A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장착·안전·미확정 항목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86702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원칙/상태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동선이 보이는 위치, 모델·화각 실물 제작 후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리드스위치/자석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문틀/문짝에 고정, 닫힘 시 근접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결로를 피하도록 냉장고 외부 제어부에 배치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CSI/USB, GPIO17/GND, USB-C 전원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Wi-Fi/유선 LAN, Flask :5000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케이블 고정·냉각·결로 대책은 실물 시험 후 확정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5996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FC62C-5E5A-4579-B046-A8EB001E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26239-ACD7-4762-8414-7AC3C2A3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E6E4F-F6D1-4357-A439-0950337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04B20-ADB0-406B-AA1C-0764C5E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255C6-8894-4F0D-B497-E23FCA3C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39216-3921-4DA4-8A53-EFF307B2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D2076-2D68-4942-AA25-E6A86C29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프로그램·목록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D2935-DB7D-46D6-AF00-41334A78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E96D3-C0F5-40A5-99B4-141BF8FE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381125"/>
                <a:gridCol w="3238500"/>
                <a:gridCol w="4524375"/>
                <a:gridCol w="1343025"/>
              </a:tblGrid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기능번호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프로그램/파일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신규/기존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login_screen.dart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register_screen.dart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FRG-01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fridge_selection_screen.dart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등록/선택/삭제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home_screen.dart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메뉴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inventory_screen.dart, /inventory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inventory_detail_screen.dart, /inventory/{id}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 수정/삭제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recipe_list_screen.dart, /recipes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recipe_detail_screen.dart, /recipes/{id}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H/W/AI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pi_fridge_camera.py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촬영·후보 추출·분류·전송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app.py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init_db()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 테이블 생성·seed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156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19923-929C-4F45-BB1A-53C21F65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D6366-EAD5-4026-906D-159F34FF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69902-AC3E-4944-B416-3509C5AB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FC6E5-A2E5-40ED-9013-606BB6FE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9CB5F-8D21-49FC-AF9D-DA28E3D3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DC6BC-7B46-4EEE-8445-6280ADF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582FB-676F-4CF1-BF98-5649514E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테이블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D4729-90E5-433F-BABB-650ADCF5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97488-1570-4560-B5F7-9AF2DFC1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67DDD-732A-4833-A086-6905A2A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4B2C9-6868-4717-BEA4-002DBCBD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65722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076AA-9D3A-4C60-A6D7-4970A274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6EC1C-90CA-41CD-9509-F3ED8B9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 축약본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b045fcbdd4a7c"/>
          <a:stretch xmlns:a="http://schemas.openxmlformats.org/drawingml/2006/main"/>
        </p:blipFill>
        <p:spPr>
          <a:xfrm xmlns:a="http://schemas.openxmlformats.org/drawingml/2006/main">
            <a:off x="857250" y="3846246"/>
            <a:ext cx="5067300" cy="382323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A93B5-0E3A-4305-8607-93E33E8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657225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FD925-8CDA-41DE-B1AB-E4B2AFE7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E631A-675B-4C4A-B565-E3896DDC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fridge_items 데이터사전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400800" y="2952750"/>
          <a:ext xmlns:a="http://schemas.openxmlformats.org/drawingml/2006/main" cx="60579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238250"/>
                <a:gridCol w="762000"/>
                <a:gridCol w="571500"/>
                <a:gridCol w="2057400"/>
              </a:tblGrid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PK/FK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기본값/설명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fridge_item_id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AUTO_INCREMENT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소속 냉장고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마스터 식재료 매칭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표시명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RECOGNIZED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image_path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이미지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crop_image_path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이미지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신뢰도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 라벨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TEXT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메모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7490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B8C64-3125-454B-A5B5-22797D0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078EF-D8FD-4B31-B9F8-D0D58B06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01275-4153-4611-BBB0-10F7A8E4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10A5B-547F-47B7-9A5B-0C939814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8A261-6301-4123-BD66-6503ED2C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5884F-0141-407C-9BB6-F07A210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82DCE-9F59-44BB-8F2D-A106D196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89BE4-7CA3-42BA-AC38-C8DF34B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E8E3D-AA09-455A-844A-9F2ED3BF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5D613-7F3E-4A2B-B592-11B34862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0DA37-B569-4A6D-9AD6-63EA7537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backend/app.py - upload_detection()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757E5-22C6-4BA8-A606-46D5FE0B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1144~1159, 1161~1199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이미지 검증·저장, RECOGNIZED/UNRECOGNIZED 결정, fridge_items INSERT가 보이게 캡처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파일명·줄번호 표시, 개인정보·서버 정보 가림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5B477-39D1-4C2E-BBA9-29D91DF2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27_code_upload.png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A5792-DFFB-4D69-999F-D2C9BF00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F1C70-1EAE-4E1E-BC94-A908290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backend/app.py - list_recipes()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F46A6-3443-4A49-83C0-6A1DED60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1018~1020, 1048~1082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1061~1066 missing 계산과 1081 정렬식을 포함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재료가 적고 matched가 많은 순 추천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85F8B-16EA-4436-81C1-E0C30C84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27_code_recipes.png</a:t>
            </a:r>
          </a:p>
        </p:txBody>
      </p:sp>
    </p:spTree>
    <p:extLst>
      <p:ext uri="{BB962C8B-B14F-4D97-AF65-F5344CB8AC3E}">
        <p14:creationId xmlns:p14="http://schemas.microsoft.com/office/powerpoint/2010/main" val="19946240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7F1E3-061B-434A-B262-CD41447E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AFC91-D55E-4595-8858-0B44F87B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615EE-67FD-458A-BD6F-0A6D8A9F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58729-DFDE-4139-B064-3961E49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F0736-3C72-43B8-957C-2793DCD6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98B7A-13DC-450E-A347-E2598B3F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A586C-9E45-4EC1-BEA1-301CC847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EE125-2063-4490-96B2-8BE3A45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B7C29-498B-4E15-BFCB-58FED5C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AD544-0092-41F7-BDCF-F53B567B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1BEA8-F7C0-4B16-8652-7369AF94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backend/pi_fridge_camera.py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D5701-9F4D-483D-A910-D9E73599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collect_crop_candidates(): 319~329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scan_until_action(): 912~947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YOLO·contour·center fallback과 signature 안정화 구간을 “...”로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4DABE-7CB8-41BF-959C-FB16EAFB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28_code_pi.png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0D67A-149C-4F26-BAE0-08F520FA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F5AE0-4DE3-4050-B790-C96CC4BE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fridge_app/lib/services/api_service.dart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036AC-3F03-425C-B3A2-D2E289DC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fetchInventory(): 91~95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fetchRecipes(): 147~156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fetchRecipeDetail(): 158~166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REST URL과 응답 모델 변환이 보이게 캡처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1E886-5261-4EB4-AE62-4AE72946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28_code_flutter.png</a:t>
            </a:r>
          </a:p>
        </p:txBody>
      </p:sp>
    </p:spTree>
    <p:extLst>
      <p:ext uri="{BB962C8B-B14F-4D97-AF65-F5344CB8AC3E}">
        <p14:creationId xmlns:p14="http://schemas.microsoft.com/office/powerpoint/2010/main" val="3108083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24370-FE17-41EE-A9DE-BCA3CAD4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6631B-976B-4752-82FF-B430BAF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9DE64-A0C2-495B-BC95-27434E92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16372-8E30-4506-BF61-1670E92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BAE17-5656-40EF-95AE-A4310198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E8326-13E1-4EA2-A3F9-014C4940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32B00-6D71-44FC-89C4-B8B471B5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참조-개발 환경 및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45B62-7A39-4842-98E7-4F79D9A8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E11E9-1B96-45D8-A1ED-1C7131D1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809750"/>
                <a:gridCol w="4953000"/>
                <a:gridCol w="3438525"/>
              </a:tblGrid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내역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개발 PC, Raspberry Pi OS 64-bit, Android/Web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개발과 H/W 실행 환경 분리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 Studio Code, Flutter, Python venv, Git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앱·백엔드·AI 브리지 개발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언어/프레임워크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Dart/Flutter, Python/Flask, SQL/MySQL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앱·API·DB 구성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개발환경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모델/라이브러리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Ultralytics YOLO, OpenCV, best.pt, yolov8n.pt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탐지와 식재료 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구성장비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디바이스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5, 카메라, 리드스위치, 자석, 냉장고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촬영과 문 이벤트 감지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 방식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REST, multipart upload, MJPEG preview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Pi·서버·앱 간 데이터 전달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문서/형상관리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HANDOFF.md, Git repository, 실행 안내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테스트·인수인계 절차 표준화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32202-182A-41DF-A7F6-23C1451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주의: 저장소 URL·계정명·서버 IP·DB 비밀번호는 제출 자료에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650239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A2545-0BE7-4D16-8BB3-CE596C28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A16A8-90E9-456C-B4BE-9AF260F3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E9106-5C23-453C-AEDE-AFF85F7B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6B187-74D5-4D23-9E6E-FA5740F7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84519-E4C5-4C4A-971D-9DF6BA5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B4B17-7281-4D62-B1A3-7AD8D34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10FE2-03C9-44E0-A34C-30C1625D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S/W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FAE70-132E-4A48-ADCE-B1640F43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FBFD9-351E-4402-999C-B329333A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54C05-618E-4398-8972-26F12AD7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D0CA9-E2E0-461D-B167-A7A1EE74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9886C-BC68-4ABB-8A2C-5C45E86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 crop·재료명·상태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FA492-0393-46A1-B63E-62FB0BA0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30_sw_inventory.png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9AC60-C2E6-4017-B5C3-00466E36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84275-6EA0-475A-98BC-9B53A7B2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상세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FC987-5B6A-4666-8940-9629B890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수량·단위·상태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2EA79-9131-4522-9AAF-26297CE8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30_sw_detail.png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A380E-1BF3-432E-966B-BA11A394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1E72C-D172-4CA5-A97D-A5050AF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목록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8C40F-213F-4CB2-8981-DD97BCAF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 수·추천 순서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4EB8B-885C-485E-94AF-DD460EC0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30_sw_recipes.png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D2A83-2BAE-43BC-B5C7-8466E5E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9CA93-2368-4D99-A630-9E027489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0A5B5-B41C-47B4-B7D1-548A42B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필요·부족 재료와 조리법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E5127-06D6-4751-BCAE-DFFC8064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30_sw_recipe_detail.png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B1631-345D-421C-884F-7CDFB294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실행 화면은 동일 사용자·냉장고 데이터 기준으로 촬영하고 개인정보·서버 주소를 가린다.</a:t>
            </a:r>
          </a:p>
        </p:txBody>
      </p:sp>
    </p:spTree>
    <p:extLst>
      <p:ext uri="{BB962C8B-B14F-4D97-AF65-F5344CB8AC3E}">
        <p14:creationId xmlns:p14="http://schemas.microsoft.com/office/powerpoint/2010/main" val="2624307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78DEF2-4D15-4707-AF0E-5031ACF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154A9-76D8-428B-A8BF-13DA7116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F61C0-9983-4062-8917-07B1D47D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AAF20-2089-4BBA-AAC4-6AEBBB31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5D45C-EBB2-4234-A6DA-87835F23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D5DDE-471F-47C2-B89F-F5101D8E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A178F-4936-4509-B8D6-D5AE9A36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참조-H/W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2941C-D687-4815-89F3-77B23A9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70D7-C055-4050-ACC0-6CDE3C22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FE5F9-BEDA-471D-9C56-D263284A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E2430-A41D-497C-B820-E6604FEA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전체 장착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DD8A0-7AC7-42E8-A31B-1CB8702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냉장고·Pi·카메라·센서·케이블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34F2E-F40D-4E9D-A014-DE4654A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31_hw_01.jpg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3DC46-C390-4675-9C1E-80F51F5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0CF24-2DC0-40FF-9EEE-6233044D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Pi-카메라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31F42-1B64-4CA9-9C7E-38CFF388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CSI 또는 USB 연결부·촬영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552A7-ED9E-4759-A7CF-8C183C4D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31_hw_02.jpg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B98AF-5A8D-42D6-A376-4C1C320B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23A80-6738-473A-9D64-D39B592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GPIO17/GND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F241D-0438-4468-87E6-9C12A7BF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물리 핀 11과 GND 배선 근접 사진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51469-29E5-4BE9-BDDD-45ABB2E5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31_hw_03.jpg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24F49-F841-41CA-94B5-F0084594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97ECD-676C-4134-B1B5-E46241AB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문 열림/닫힘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388FC-9F6F-45FA-B5F2-85A0B5B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리드스위치·자석 거리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CAC8C-D509-4FE7-93E6-78B8C7A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31_hw_04.jpg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FBB5A-F583-4DE7-86AD-470ABA9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19604-FE89-48AB-BB36-8AAD6C61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MJPEG 인식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1FD9B-6260-4548-983B-9C67CF85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식재료와 검출 박스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D5E9D5-8381-41BD-B028-2FF5605D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31_hw_05.jpg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80D68-BB87-43CE-8D93-9E392692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9F2957-F760-4C28-A7B7-5255D89F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앱 재고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C94BB-6385-4D24-9CFA-73D626C0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식재료 투입 후 목록 갱신 결과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A6EFE-7854-47DA-969E-C1371639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31_hw_06.jpg</a:t>
            </a:r>
          </a:p>
        </p:txBody>
      </p:sp>
    </p:spTree>
    <p:extLst>
      <p:ext uri="{BB962C8B-B14F-4D97-AF65-F5344CB8AC3E}">
        <p14:creationId xmlns:p14="http://schemas.microsoft.com/office/powerpoint/2010/main" val="17935392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487FD-7053-4C76-AF3C-4CD11F1B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ACCC4-5B73-4E15-9FEF-F145E68C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428D-D252-4593-A8B1-C13CBB1B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3C8FE-490C-45F6-9D55-CC22498E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8619C-86A2-420A-BA56-4DB2B8DF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D465A-56D5-4483-9559-19EDE092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28339-1551-46FA-AA13-BA478A7E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동영상 촬영 콘티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7A053-2AAE-41D5-A8BE-342ED4D7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3DEA9-4026-453B-9FA9-EE01FBF3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F0F8C-711D-4903-970E-AA5D761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FAC29-902F-426D-9E96-EE495592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#1 문제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91F23-ACD9-4532-A3BD-DE4FF2E4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고령인구·노년 1인가구 증가와 수기 재고관리 부담을 1~2문장으로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1827E-642B-4FFD-80B1-8F9522DE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32_story_1.png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945C5-8A88-47B6-B961-9A128F94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4A32D-F9A1-4A21-A066-0610A7FE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#2 하드웨어 소개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9DE7E-21EF-4A92-B6F2-BEAD64A2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카메라·리드스위치·Raspberry Pi 장착 위치와 연결을 소개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A4DD6-C28B-430D-AB9F-9FA6F650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32_story_2.png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EE7DC-0179-4615-8F51-FFB4EEC9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27E86-5C00-44EA-84C2-E89BBD8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#3 자동 인식·저장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E5DC3-25F1-448E-9BA2-E8D3A6C8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문 열림 → 촬영 → AI 인식 → /upload → 재고 반영을 시연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674F9-105F-4AC8-B07E-E8DC2F4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32_story_3.png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2B079-9755-4EE1-9275-A0B34D13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9050">
            <a:solidFill>
              <a:srgbClr val="96363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C62D3-36BA-44A2-B597-B891185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#4 앱 확인·레시피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AF7E4-38EE-4023-9B8E-91F2EBE8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 필요 항목 검수와 부족 재료가 적은 레시피 추천을 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D1683-01EF-49EB-8CF3-353AB07B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교체 파일: 32_story_4.png</a:t>
            </a:r>
          </a:p>
        </p:txBody>
      </p:sp>
    </p:spTree>
    <p:extLst>
      <p:ext uri="{BB962C8B-B14F-4D97-AF65-F5344CB8AC3E}">
        <p14:creationId xmlns:p14="http://schemas.microsoft.com/office/powerpoint/2010/main" val="12984090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6FC69-B6E5-4F8D-87B2-5111FDE8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3E3F6-05D9-4E4F-8DA8-67191E30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14C75-6660-4151-99E4-2E8B6705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417C3-54C9-4FB7-A365-ABB62A0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30515-3001-402D-9F25-449F34BF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17BA1-F153-4DD2-9391-A9F8E4A1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01C1C-097E-4CFA-8ED9-6457816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참조-프로젝트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DA33D-7CCF-41BE-9029-5517A07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FD01F-1EDC-4789-A2E9-DEB56C0D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D3532-BD9C-46C6-B715-3B25FEC9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452C7-E8A5-43F9-8461-042668B2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프로젝트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D62E0-E033-486E-B672-3AA2879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주간 일정 또는 Kanban 보드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완료/진행/대기 상태와 담당을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FBA48-CD6F-4378-A851-F4879538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33_project_board.png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58433-9373-48BD-925B-92875A2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BC45C-9C1C-470C-AEFF-C82EF21B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형상관리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0C0EE-E9DF-4EC5-9362-5E2730D7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Git commit·branch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개인 계정명·원격 저장소 URL은 가림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FA05E-05E0-4215-BEC4-C7EAA173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33_git_history.png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905B2-6170-415E-A3C1-70FC08A5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F00B4-BA40-4B24-89F3-80DF9C56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이슈관리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7EAEF-1E49-4EB8-8548-10D317B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오류-원인-해결-검증이 보이는 이슈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재현 조건과 수정 commit을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E4AE9-B5D1-4802-88D3-FE631317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33_issue_log.png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EB348-EC19-4364-A32B-E861E535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관리 증빙은 날짜·상태·해결 결과가 보이도록 캡처하고 개인정보는 제거한다.</a:t>
            </a:r>
          </a:p>
        </p:txBody>
      </p:sp>
    </p:spTree>
    <p:extLst>
      <p:ext uri="{BB962C8B-B14F-4D97-AF65-F5344CB8AC3E}">
        <p14:creationId xmlns:p14="http://schemas.microsoft.com/office/powerpoint/2010/main" val="4879722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EA8C0-FE2F-4BF5-AFA5-FEB977BA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1C2F1-B7C6-4D5E-8172-B9CB31F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제작설계 핵심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934A2-C97C-4A05-8CA5-71B6456F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38DD0-8655-4C16-9ACD-1412F2FE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직접 수요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85CBB-3311-443B-9DEE-8382A796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초고령사회와 노년 1인가구 증가에 맞춘 식재료 관리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6D76D-1494-457B-AA70-A96764C8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236CD-6E9C-4074-A111-19328820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35DA4-C648-42CE-A9A8-BD9DC337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이벤트·엣지 AI·Flask/MySQL·Flutter를 연결한 모듈형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A1FD7-C055-4594-B946-93A2F2B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FDF8F-0097-4017-83B2-D6792235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신뢰성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63FF0-6C42-4751-B227-ABB4493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stable frame과 UNRECOGNIZED 사용자 검수로 자동화와 정확성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F41FC-4C4A-4EDE-B886-4BBDFC1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최종 제출 전 교체할 자료: 통계 그래프 · 기술 동향 그림 · 코드 캡처 · S/W/H/W 실사 · 관리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CFF80-C270-42F3-8993-B9FA6A23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191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8206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2026-07-12T08:06:17.5840000Z</dcterms:created>
  <dcterms:modified xsi:type="dcterms:W3CDTF">2026-07-12T08:06:17.5840000Z</dcterms:modified>
</coreProperties>
</file>