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a635ad319a4331" /><Relationship Type="http://schemas.openxmlformats.org/officeDocument/2006/relationships/extended-properties" Target="/docProps/app.xml" Id="R39409d2827854da9" /><Relationship Type="http://schemas.openxmlformats.org/officeDocument/2006/relationships/officeDocument" Target="/ppt/presentation.xml" Id="Rd9cceb2e59104d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b1d0d22fbf49f6"/>
  </p:sldMasterIdLst>
  <p:notesMasterIdLst>
    <p:notesMasterId xmlns:r="http://schemas.openxmlformats.org/officeDocument/2006/relationships" r:id="R4e9d706874634baf"/>
  </p:notesMasterIdLst>
  <p:sldIdLst>
    <p:sldId xmlns:r="http://schemas.openxmlformats.org/officeDocument/2006/relationships" id="256" r:id="Rac19b58826594d43"/>
    <p:sldId xmlns:r="http://schemas.openxmlformats.org/officeDocument/2006/relationships" id="257" r:id="R890ef644baeb403b"/>
    <p:sldId xmlns:r="http://schemas.openxmlformats.org/officeDocument/2006/relationships" id="258" r:id="R5b92627084ef4ea2"/>
    <p:sldId xmlns:r="http://schemas.openxmlformats.org/officeDocument/2006/relationships" id="259" r:id="R8e72c814ee8447ea"/>
    <p:sldId xmlns:r="http://schemas.openxmlformats.org/officeDocument/2006/relationships" id="260" r:id="Rd882f3bc572b4ce1"/>
    <p:sldId xmlns:r="http://schemas.openxmlformats.org/officeDocument/2006/relationships" id="261" r:id="Rb82fe7bad65a436d"/>
    <p:sldId xmlns:r="http://schemas.openxmlformats.org/officeDocument/2006/relationships" id="262" r:id="R41feca42851e4c2f"/>
    <p:sldId xmlns:r="http://schemas.openxmlformats.org/officeDocument/2006/relationships" id="263" r:id="R6e085102ccc94d89"/>
    <p:sldId xmlns:r="http://schemas.openxmlformats.org/officeDocument/2006/relationships" id="264" r:id="Rff22ae5dccb84aba"/>
    <p:sldId xmlns:r="http://schemas.openxmlformats.org/officeDocument/2006/relationships" id="265" r:id="R5cb97209c42f4f7e"/>
    <p:sldId xmlns:r="http://schemas.openxmlformats.org/officeDocument/2006/relationships" id="266" r:id="R2a84bb7971084798"/>
    <p:sldId xmlns:r="http://schemas.openxmlformats.org/officeDocument/2006/relationships" id="267" r:id="Rfc30d1f10f704888"/>
    <p:sldId xmlns:r="http://schemas.openxmlformats.org/officeDocument/2006/relationships" id="268" r:id="R0b01c549aeea478e"/>
    <p:sldId xmlns:r="http://schemas.openxmlformats.org/officeDocument/2006/relationships" id="269" r:id="R531dc02764e6472a"/>
    <p:sldId xmlns:r="http://schemas.openxmlformats.org/officeDocument/2006/relationships" id="270" r:id="R7b206d2531504084"/>
    <p:sldId xmlns:r="http://schemas.openxmlformats.org/officeDocument/2006/relationships" id="271" r:id="R7a7f71be1a884ae7"/>
    <p:sldId xmlns:r="http://schemas.openxmlformats.org/officeDocument/2006/relationships" id="272" r:id="R293a86de6c02419a"/>
    <p:sldId xmlns:r="http://schemas.openxmlformats.org/officeDocument/2006/relationships" id="273" r:id="R672d73e5ca804ba3"/>
    <p:sldId xmlns:r="http://schemas.openxmlformats.org/officeDocument/2006/relationships" id="274" r:id="Rdded1480be464ef7"/>
    <p:sldId xmlns:r="http://schemas.openxmlformats.org/officeDocument/2006/relationships" id="275" r:id="Rea72ad2a46ea48df"/>
    <p:sldId xmlns:r="http://schemas.openxmlformats.org/officeDocument/2006/relationships" id="276" r:id="Rf603ac93cf7841f4"/>
    <p:sldId xmlns:r="http://schemas.openxmlformats.org/officeDocument/2006/relationships" id="277" r:id="Rb7ec60b9e78d4f84"/>
    <p:sldId xmlns:r="http://schemas.openxmlformats.org/officeDocument/2006/relationships" id="278" r:id="R8306b83fa4144ee7"/>
    <p:sldId xmlns:r="http://schemas.openxmlformats.org/officeDocument/2006/relationships" id="279" r:id="R5fd3ebe8a3c04468"/>
    <p:sldId xmlns:r="http://schemas.openxmlformats.org/officeDocument/2006/relationships" id="280" r:id="R211d76d24e874a55"/>
    <p:sldId xmlns:r="http://schemas.openxmlformats.org/officeDocument/2006/relationships" id="281" r:id="R01649b4f20b74737"/>
    <p:sldId xmlns:r="http://schemas.openxmlformats.org/officeDocument/2006/relationships" id="282" r:id="R9655a9ce66b84705"/>
    <p:sldId xmlns:r="http://schemas.openxmlformats.org/officeDocument/2006/relationships" id="283" r:id="R9bbf7c522fca472e"/>
    <p:sldId xmlns:r="http://schemas.openxmlformats.org/officeDocument/2006/relationships" id="284" r:id="R4f63a27ac8a341a7"/>
    <p:sldId xmlns:r="http://schemas.openxmlformats.org/officeDocument/2006/relationships" id="285" r:id="R53336a2b34c64235"/>
    <p:sldId xmlns:r="http://schemas.openxmlformats.org/officeDocument/2006/relationships" id="286" r:id="R75119b171ec24e62"/>
    <p:sldId xmlns:r="http://schemas.openxmlformats.org/officeDocument/2006/relationships" id="287" r:id="R1298a8b58a514ac7"/>
    <p:sldId xmlns:r="http://schemas.openxmlformats.org/officeDocument/2006/relationships" id="288" r:id="Rb62dbc4613274524"/>
    <p:sldId xmlns:r="http://schemas.openxmlformats.org/officeDocument/2006/relationships" id="289" r:id="R1828560faa0a4724"/>
  </p:sldIdLst>
  <p:sldSz cx="13335000" cy="94297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12afd2c5254e09" /><Relationship Type="http://schemas.openxmlformats.org/officeDocument/2006/relationships/slideMaster" Target="/ppt/slideMasters/slideMaster1.xml" Id="Ra9b1d0d22fbf49f6" /><Relationship Type="http://schemas.openxmlformats.org/officeDocument/2006/relationships/notesMaster" Target="/ppt/notesMasters/notesMaster1.xml" Id="R4e9d706874634baf" /><Relationship Type="http://schemas.openxmlformats.org/officeDocument/2006/relationships/presProps" Target="/ppt/presProps.xml" Id="Rdd912141e9514c8d" /><Relationship Type="http://schemas.openxmlformats.org/officeDocument/2006/relationships/tableStyles" Target="/ppt/tableStyles.xml" Id="R4c6538bf38dc4fa1" /><Relationship Type="http://schemas.openxmlformats.org/officeDocument/2006/relationships/slide" Target="/ppt/slides/slide1.xml" Id="Rac19b58826594d43" /><Relationship Type="http://schemas.openxmlformats.org/officeDocument/2006/relationships/slide" Target="/ppt/slides/slide2.xml" Id="R890ef644baeb403b" /><Relationship Type="http://schemas.openxmlformats.org/officeDocument/2006/relationships/slide" Target="/ppt/slides/slide3.xml" Id="R5b92627084ef4ea2" /><Relationship Type="http://schemas.openxmlformats.org/officeDocument/2006/relationships/slide" Target="/ppt/slides/slide4.xml" Id="R8e72c814ee8447ea" /><Relationship Type="http://schemas.openxmlformats.org/officeDocument/2006/relationships/slide" Target="/ppt/slides/slide5.xml" Id="Rd882f3bc572b4ce1" /><Relationship Type="http://schemas.openxmlformats.org/officeDocument/2006/relationships/slide" Target="/ppt/slides/slide6.xml" Id="Rb82fe7bad65a436d" /><Relationship Type="http://schemas.openxmlformats.org/officeDocument/2006/relationships/slide" Target="/ppt/slides/slide7.xml" Id="R41feca42851e4c2f" /><Relationship Type="http://schemas.openxmlformats.org/officeDocument/2006/relationships/slide" Target="/ppt/slides/slide8.xml" Id="R6e085102ccc94d89" /><Relationship Type="http://schemas.openxmlformats.org/officeDocument/2006/relationships/slide" Target="/ppt/slides/slide9.xml" Id="Rff22ae5dccb84aba" /><Relationship Type="http://schemas.openxmlformats.org/officeDocument/2006/relationships/slide" Target="/ppt/slides/slide10.xml" Id="R5cb97209c42f4f7e" /><Relationship Type="http://schemas.openxmlformats.org/officeDocument/2006/relationships/slide" Target="/ppt/slides/slide11.xml" Id="R2a84bb7971084798" /><Relationship Type="http://schemas.openxmlformats.org/officeDocument/2006/relationships/slide" Target="/ppt/slides/slide12.xml" Id="Rfc30d1f10f704888" /><Relationship Type="http://schemas.openxmlformats.org/officeDocument/2006/relationships/slide" Target="/ppt/slides/slide13.xml" Id="R0b01c549aeea478e" /><Relationship Type="http://schemas.openxmlformats.org/officeDocument/2006/relationships/slide" Target="/ppt/slides/slide14.xml" Id="R531dc02764e6472a" /><Relationship Type="http://schemas.openxmlformats.org/officeDocument/2006/relationships/slide" Target="/ppt/slides/slide15.xml" Id="R7b206d2531504084" /><Relationship Type="http://schemas.openxmlformats.org/officeDocument/2006/relationships/slide" Target="/ppt/slides/slide16.xml" Id="R7a7f71be1a884ae7" /><Relationship Type="http://schemas.openxmlformats.org/officeDocument/2006/relationships/slide" Target="/ppt/slides/slide17.xml" Id="R293a86de6c02419a" /><Relationship Type="http://schemas.openxmlformats.org/officeDocument/2006/relationships/slide" Target="/ppt/slides/slide18.xml" Id="R672d73e5ca804ba3" /><Relationship Type="http://schemas.openxmlformats.org/officeDocument/2006/relationships/slide" Target="/ppt/slides/slide19.xml" Id="Rdded1480be464ef7" /><Relationship Type="http://schemas.openxmlformats.org/officeDocument/2006/relationships/slide" Target="/ppt/slides/slide20.xml" Id="Rea72ad2a46ea48df" /><Relationship Type="http://schemas.openxmlformats.org/officeDocument/2006/relationships/slide" Target="/ppt/slides/slide21.xml" Id="Rf603ac93cf7841f4" /><Relationship Type="http://schemas.openxmlformats.org/officeDocument/2006/relationships/slide" Target="/ppt/slides/slide22.xml" Id="Rb7ec60b9e78d4f84" /><Relationship Type="http://schemas.openxmlformats.org/officeDocument/2006/relationships/slide" Target="/ppt/slides/slide23.xml" Id="R8306b83fa4144ee7" /><Relationship Type="http://schemas.openxmlformats.org/officeDocument/2006/relationships/slide" Target="/ppt/slides/slide24.xml" Id="R5fd3ebe8a3c04468" /><Relationship Type="http://schemas.openxmlformats.org/officeDocument/2006/relationships/slide" Target="/ppt/slides/slide25.xml" Id="R211d76d24e874a55" /><Relationship Type="http://schemas.openxmlformats.org/officeDocument/2006/relationships/slide" Target="/ppt/slides/slide26.xml" Id="R01649b4f20b74737" /><Relationship Type="http://schemas.openxmlformats.org/officeDocument/2006/relationships/slide" Target="/ppt/slides/slide27.xml" Id="R9655a9ce66b84705" /><Relationship Type="http://schemas.openxmlformats.org/officeDocument/2006/relationships/slide" Target="/ppt/slides/slide28.xml" Id="R9bbf7c522fca472e" /><Relationship Type="http://schemas.openxmlformats.org/officeDocument/2006/relationships/slide" Target="/ppt/slides/slide29.xml" Id="R4f63a27ac8a341a7" /><Relationship Type="http://schemas.openxmlformats.org/officeDocument/2006/relationships/slide" Target="/ppt/slides/slide30.xml" Id="R53336a2b34c64235" /><Relationship Type="http://schemas.openxmlformats.org/officeDocument/2006/relationships/slide" Target="/ppt/slides/slide31.xml" Id="R75119b171ec24e62" /><Relationship Type="http://schemas.openxmlformats.org/officeDocument/2006/relationships/slide" Target="/ppt/slides/slide32.xml" Id="R1298a8b58a514ac7" /><Relationship Type="http://schemas.openxmlformats.org/officeDocument/2006/relationships/slide" Target="/ppt/slides/slide33.xml" Id="Rb62dbc4613274524" /><Relationship Type="http://schemas.openxmlformats.org/officeDocument/2006/relationships/slide" Target="/ppt/slides/slide34.xml" Id="R1828560faa0a47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c66d45cd5443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4dc69d89184524" /><Relationship Type="http://schemas.openxmlformats.org/officeDocument/2006/relationships/notesMaster" Target="/ppt/notesMasters/notesMaster1.xml" Id="Rc581d891947243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e23a9e027442f7" /><Relationship Type="http://schemas.openxmlformats.org/officeDocument/2006/relationships/notesMaster" Target="/ppt/notesMasters/notesMaster1.xml" Id="R3f6903e0ebdf48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0deda468464c6e" /><Relationship Type="http://schemas.openxmlformats.org/officeDocument/2006/relationships/notesMaster" Target="/ppt/notesMasters/notesMaster1.xml" Id="R98e01487c0ac4c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664e68e39b42f4" /><Relationship Type="http://schemas.openxmlformats.org/officeDocument/2006/relationships/notesMaster" Target="/ppt/notesMasters/notesMaster1.xml" Id="Rd82b1479cefe4b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2d34d4630e4447" /><Relationship Type="http://schemas.openxmlformats.org/officeDocument/2006/relationships/notesMaster" Target="/ppt/notesMasters/notesMaster1.xml" Id="Rbb3a852090604f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85557cb6714834" /><Relationship Type="http://schemas.openxmlformats.org/officeDocument/2006/relationships/notesMaster" Target="/ppt/notesMasters/notesMaster1.xml" Id="R7ebb32f3c9e843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e33951446c4e92" /><Relationship Type="http://schemas.openxmlformats.org/officeDocument/2006/relationships/notesMaster" Target="/ppt/notesMasters/notesMaster1.xml" Id="Rb964f6ffc8114e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c00d7b43424a66" /><Relationship Type="http://schemas.openxmlformats.org/officeDocument/2006/relationships/notesMaster" Target="/ppt/notesMasters/notesMaster1.xml" Id="Re1396b65ade141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424b2e063440f3" /><Relationship Type="http://schemas.openxmlformats.org/officeDocument/2006/relationships/notesMaster" Target="/ppt/notesMasters/notesMaster1.xml" Id="Rc345e7317ccd4f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5477f2eaa74122" /><Relationship Type="http://schemas.openxmlformats.org/officeDocument/2006/relationships/notesMaster" Target="/ppt/notesMasters/notesMaster1.xml" Id="R6497f1c1734e4c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dc5d55b97b45b6" /><Relationship Type="http://schemas.openxmlformats.org/officeDocument/2006/relationships/notesMaster" Target="/ppt/notesMasters/notesMaster1.xml" Id="R4953bff8add341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6f4b472ad14182" /><Relationship Type="http://schemas.openxmlformats.org/officeDocument/2006/relationships/notesMaster" Target="/ppt/notesMasters/notesMaster1.xml" Id="R3b22062a303c4d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45ef578731c49ea" /><Relationship Type="http://schemas.openxmlformats.org/officeDocument/2006/relationships/notesMaster" Target="/ppt/notesMasters/notesMaster1.xml" Id="Rfc7a73a60ef6439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55d53503b214649" /><Relationship Type="http://schemas.openxmlformats.org/officeDocument/2006/relationships/notesMaster" Target="/ppt/notesMasters/notesMaster1.xml" Id="R1c8150cbf5b6422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331cbfc8ac449c3" /><Relationship Type="http://schemas.openxmlformats.org/officeDocument/2006/relationships/notesMaster" Target="/ppt/notesMasters/notesMaster1.xml" Id="R4974b1a404574a4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9234497313c4d96" /><Relationship Type="http://schemas.openxmlformats.org/officeDocument/2006/relationships/notesMaster" Target="/ppt/notesMasters/notesMaster1.xml" Id="Re6633e72a3364ae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14e48983bd840c6" /><Relationship Type="http://schemas.openxmlformats.org/officeDocument/2006/relationships/notesMaster" Target="/ppt/notesMasters/notesMaster1.xml" Id="Re493b9a345b74e6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fa74c492acd45e2" /><Relationship Type="http://schemas.openxmlformats.org/officeDocument/2006/relationships/notesMaster" Target="/ppt/notesMasters/notesMaster1.xml" Id="R6bd5b5eabd3a43e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d46ce8907734f2f" /><Relationship Type="http://schemas.openxmlformats.org/officeDocument/2006/relationships/notesMaster" Target="/ppt/notesMasters/notesMaster1.xml" Id="R60f83798f7fb468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893cfd9cd2f468e" /><Relationship Type="http://schemas.openxmlformats.org/officeDocument/2006/relationships/notesMaster" Target="/ppt/notesMasters/notesMaster1.xml" Id="R4dd9eb3ab0054be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7273e2ac658468e" /><Relationship Type="http://schemas.openxmlformats.org/officeDocument/2006/relationships/notesMaster" Target="/ppt/notesMasters/notesMaster1.xml" Id="R860eaa0b8a8247c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b829cda70ca4ce9" /><Relationship Type="http://schemas.openxmlformats.org/officeDocument/2006/relationships/notesMaster" Target="/ppt/notesMasters/notesMaster1.xml" Id="R4602b4d1873b40d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ab7568497c34c88" /><Relationship Type="http://schemas.openxmlformats.org/officeDocument/2006/relationships/notesMaster" Target="/ppt/notesMasters/notesMaster1.xml" Id="R133579f1506f450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564586a3d8d47f8" /><Relationship Type="http://schemas.openxmlformats.org/officeDocument/2006/relationships/notesMaster" Target="/ppt/notesMasters/notesMaster1.xml" Id="Rff9e1d663ca3444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8a56ac0da344894" /><Relationship Type="http://schemas.openxmlformats.org/officeDocument/2006/relationships/notesMaster" Target="/ppt/notesMasters/notesMaster1.xml" Id="R034c4f536ded430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42b1b7d0d6a4ba1" /><Relationship Type="http://schemas.openxmlformats.org/officeDocument/2006/relationships/notesMaster" Target="/ppt/notesMasters/notesMaster1.xml" Id="Rbf72b21d30904ee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0b7b84255224649" /><Relationship Type="http://schemas.openxmlformats.org/officeDocument/2006/relationships/notesMaster" Target="/ppt/notesMasters/notesMaster1.xml" Id="R4fa8980f11ca424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d320d9e805e453e" /><Relationship Type="http://schemas.openxmlformats.org/officeDocument/2006/relationships/notesMaster" Target="/ppt/notesMasters/notesMaster1.xml" Id="R2d91eb7800b94da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8912f1644ec41d9" /><Relationship Type="http://schemas.openxmlformats.org/officeDocument/2006/relationships/notesMaster" Target="/ppt/notesMasters/notesMaster1.xml" Id="R23d708c87f8c473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48f61a01f9d4c41" /><Relationship Type="http://schemas.openxmlformats.org/officeDocument/2006/relationships/notesMaster" Target="/ppt/notesMasters/notesMaster1.xml" Id="R954f8227c7fb47b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d19abf4a0794ea1" /><Relationship Type="http://schemas.openxmlformats.org/officeDocument/2006/relationships/notesMaster" Target="/ppt/notesMasters/notesMaster1.xml" Id="R4614357138ed46f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11c353751d944b3" /><Relationship Type="http://schemas.openxmlformats.org/officeDocument/2006/relationships/notesMaster" Target="/ppt/notesMasters/notesMaster1.xml" Id="Rb6c6e44e986744f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cc3bbca72eb4770" /><Relationship Type="http://schemas.openxmlformats.org/officeDocument/2006/relationships/notesMaster" Target="/ppt/notesMasters/notesMaster1.xml" Id="Rba6f833447d64bd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cacdd5ff8e14770" /><Relationship Type="http://schemas.openxmlformats.org/officeDocument/2006/relationships/notesMaster" Target="/ppt/notesMasters/notesMaster1.xml" Id="R241df25a933f43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고령인구: https://kostat.go.kr/board.es?act=view&amp;bid=10820&amp;list_no=438832&amp;mid=a10301060100</a:t>
            </a:r>
          </a:p>
          <a:p xmlns:a="http://schemas.openxmlformats.org/drawingml/2006/main">
            <a:r>
              <a:t>2024 노년 1인가구: https://www.kostat.go.kr/board.es?act=view&amp;bid=11895&amp;list_no=442561&amp;mid=a10301010000</a:t>
            </a:r>
          </a:p>
          <a:p xmlns:a="http://schemas.openxmlformats.org/drawingml/2006/main">
            <a:r>
              <a:t>전체 1인가구 그래프는 사용하지 말고 노년 1인가구 추이를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IITP 스마트 디바이스 기술로드맵: https://www.iitp.kr/resources/file/201217/5.ICT%EB%94%94%EB%B0%94%EC%9D%B4%EC%8A%A4_%EC%96%91%EC%9E%90%EB%B3%B4%EA%B3%A0%EC%84%9C.pdf</a:t>
            </a:r>
          </a:p>
          <a:p xmlns:a="http://schemas.openxmlformats.org/drawingml/2006/main">
            <a:r>
              <a:t>IITP 2025 지원사업 안내: https://www.iitp.kr/resources/file/2025%EB%85%84%20IITP%20%EC%A7%80%EC%9B%90%EC%82%AC%EC%97%85%20%EC%95%88%EB%82%B4.pdf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3c790bf1a64e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72e6895d454b3f" /><Relationship Type="http://schemas.openxmlformats.org/officeDocument/2006/relationships/slideLayout" Target="/ppt/slideLayouts/slideLayout1.xml" Id="R5c6dfd31ad1d45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6dfd31ad1d45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b38cf27e04a51" /><Relationship Type="http://schemas.openxmlformats.org/officeDocument/2006/relationships/notesSlide" Target="/ppt/notesSlides/notesSlide1.xml" Id="R2c82ca0c092041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1ae1ecc1c440a" /><Relationship Type="http://schemas.openxmlformats.org/officeDocument/2006/relationships/notesSlide" Target="/ppt/notesSlides/notesSlide2.xml" Id="Rce814031562a4c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f242dc1dc4ed1" /><Relationship Type="http://schemas.openxmlformats.org/officeDocument/2006/relationships/notesSlide" Target="/ppt/notesSlides/notesSlide3.xml" Id="Rc36d565df31e4a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90c756e574ec2" /><Relationship Type="http://schemas.openxmlformats.org/officeDocument/2006/relationships/notesSlide" Target="/ppt/notesSlides/notesSlide4.xml" Id="Rdf519ce8459240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97f12be79447c" /><Relationship Type="http://schemas.openxmlformats.org/officeDocument/2006/relationships/notesSlide" Target="/ppt/notesSlides/notesSlide5.xml" Id="Raf1789d5923240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09f59afa744f1" /><Relationship Type="http://schemas.openxmlformats.org/officeDocument/2006/relationships/notesSlide" Target="/ppt/notesSlides/notesSlide6.xml" Id="Rb9fa8febccf14a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1963ec3e442d5" /><Relationship Type="http://schemas.openxmlformats.org/officeDocument/2006/relationships/image" Target="/ppt/media/image.png" Id="Rdb9fd7a3fdd644f2" /><Relationship Type="http://schemas.openxmlformats.org/officeDocument/2006/relationships/notesSlide" Target="/ppt/notesSlides/notesSlide7.xml" Id="R60706e3d13f244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8c4d11050494f" /><Relationship Type="http://schemas.openxmlformats.org/officeDocument/2006/relationships/image" Target="/ppt/media/image2.png" Id="Ra608940ef0ef47bb" /><Relationship Type="http://schemas.openxmlformats.org/officeDocument/2006/relationships/notesSlide" Target="/ppt/notesSlides/notesSlide8.xml" Id="Rf85b4971f80c49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e2b302387480d" /><Relationship Type="http://schemas.openxmlformats.org/officeDocument/2006/relationships/image" Target="/ppt/media/image3.png" Id="R0cb8777bfab84d30" /><Relationship Type="http://schemas.openxmlformats.org/officeDocument/2006/relationships/notesSlide" Target="/ppt/notesSlides/notesSlide9.xml" Id="R95287ea441684e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5324d205645d3" /><Relationship Type="http://schemas.openxmlformats.org/officeDocument/2006/relationships/image" Target="/ppt/media/image4.png" Id="R06a5aaef70024797" /><Relationship Type="http://schemas.openxmlformats.org/officeDocument/2006/relationships/notesSlide" Target="/ppt/notesSlides/notesSlide10.xml" Id="R206cd3b892d24f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55b1de72f4f17" /><Relationship Type="http://schemas.openxmlformats.org/officeDocument/2006/relationships/image" Target="/ppt/media/image5.png" Id="R296063e9c351460c" /><Relationship Type="http://schemas.openxmlformats.org/officeDocument/2006/relationships/notesSlide" Target="/ppt/notesSlides/notesSlide11.xml" Id="R7278d645994f42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53d27f79447ed" /><Relationship Type="http://schemas.openxmlformats.org/officeDocument/2006/relationships/image" Target="/ppt/media/image6.png" Id="R033545f0aa844745" /><Relationship Type="http://schemas.openxmlformats.org/officeDocument/2006/relationships/notesSlide" Target="/ppt/notesSlides/notesSlide12.xml" Id="Rdfbdc9ce654448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015001ed843fc" /><Relationship Type="http://schemas.openxmlformats.org/officeDocument/2006/relationships/image" Target="/ppt/media/image7.png" Id="Rf2e3519db8c643b4" /><Relationship Type="http://schemas.openxmlformats.org/officeDocument/2006/relationships/notesSlide" Target="/ppt/notesSlides/notesSlide13.xml" Id="R49c50474d71d4a6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b5e467d0f4189" /><Relationship Type="http://schemas.openxmlformats.org/officeDocument/2006/relationships/image" Target="/ppt/media/image8.png" Id="Ra3286fbf0db844ed" /><Relationship Type="http://schemas.openxmlformats.org/officeDocument/2006/relationships/notesSlide" Target="/ppt/notesSlides/notesSlide14.xml" Id="Ra700066d7c6f41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d67a722284e07" /><Relationship Type="http://schemas.openxmlformats.org/officeDocument/2006/relationships/image" Target="/ppt/media/image9.png" Id="R41bbb71986d94f00" /><Relationship Type="http://schemas.openxmlformats.org/officeDocument/2006/relationships/notesSlide" Target="/ppt/notesSlides/notesSlide15.xml" Id="Ra7ae35a71620483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a9bce661845c2" /><Relationship Type="http://schemas.openxmlformats.org/officeDocument/2006/relationships/image" Target="/ppt/media/image10.png" Id="R2283cbec318c4bc3" /><Relationship Type="http://schemas.openxmlformats.org/officeDocument/2006/relationships/notesSlide" Target="/ppt/notesSlides/notesSlide16.xml" Id="Ra2c6ab5abf5a43b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eecc5b06c428e" /><Relationship Type="http://schemas.openxmlformats.org/officeDocument/2006/relationships/image" Target="/ppt/media/image11.png" Id="Rdd1c1e144ff94a1d" /><Relationship Type="http://schemas.openxmlformats.org/officeDocument/2006/relationships/notesSlide" Target="/ppt/notesSlides/notesSlide17.xml" Id="Re96d54218f0444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3d2f09cee47d1" /><Relationship Type="http://schemas.openxmlformats.org/officeDocument/2006/relationships/image" Target="/ppt/media/image12.png" Id="R358e6f9ce1e64348" /><Relationship Type="http://schemas.openxmlformats.org/officeDocument/2006/relationships/notesSlide" Target="/ppt/notesSlides/notesSlide18.xml" Id="R216b04329b554c5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7eb59cdc641be" /><Relationship Type="http://schemas.openxmlformats.org/officeDocument/2006/relationships/image" Target="/ppt/media/image13.png" Id="Re437e1518b964c57" /><Relationship Type="http://schemas.openxmlformats.org/officeDocument/2006/relationships/notesSlide" Target="/ppt/notesSlides/notesSlide19.xml" Id="R2272b32423ae4a5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d4b85283d4737" /><Relationship Type="http://schemas.openxmlformats.org/officeDocument/2006/relationships/image" Target="/ppt/media/image14.png" Id="Rc0e93938c7144b2e" /><Relationship Type="http://schemas.openxmlformats.org/officeDocument/2006/relationships/notesSlide" Target="/ppt/notesSlides/notesSlide20.xml" Id="Rdae008bc1f624f4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441f4d7e54a08" /><Relationship Type="http://schemas.openxmlformats.org/officeDocument/2006/relationships/image" Target="/ppt/media/image15.png" Id="R2db981f37e79411d" /><Relationship Type="http://schemas.openxmlformats.org/officeDocument/2006/relationships/notesSlide" Target="/ppt/notesSlides/notesSlide21.xml" Id="R45d6e1acff874fe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ab8164e804bb4" /><Relationship Type="http://schemas.openxmlformats.org/officeDocument/2006/relationships/image" Target="/ppt/media/image16.png" Id="R0780b02741f740b4" /><Relationship Type="http://schemas.openxmlformats.org/officeDocument/2006/relationships/notesSlide" Target="/ppt/notesSlides/notesSlide22.xml" Id="Rccc2fb925c6b441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861b67a414312" /><Relationship Type="http://schemas.openxmlformats.org/officeDocument/2006/relationships/notesSlide" Target="/ppt/notesSlides/notesSlide23.xml" Id="Rc00f6709f8564b7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4a5f39cc0442f" /><Relationship Type="http://schemas.openxmlformats.org/officeDocument/2006/relationships/image" Target="/ppt/media/image17.png" Id="R9235f15ff0ed41d7" /><Relationship Type="http://schemas.openxmlformats.org/officeDocument/2006/relationships/notesSlide" Target="/ppt/notesSlides/notesSlide24.xml" Id="R814e20584f9245e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c56eb3d6b4ca0" /><Relationship Type="http://schemas.openxmlformats.org/officeDocument/2006/relationships/notesSlide" Target="/ppt/notesSlides/notesSlide25.xml" Id="R26ed61b550604c2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eed6e602d4280" /><Relationship Type="http://schemas.openxmlformats.org/officeDocument/2006/relationships/image" Target="/ppt/media/image18.png" Id="Rb887e96830374924" /><Relationship Type="http://schemas.openxmlformats.org/officeDocument/2006/relationships/notesSlide" Target="/ppt/notesSlides/notesSlide26.xml" Id="R54ba025958334f5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b858fc92e4618" /><Relationship Type="http://schemas.openxmlformats.org/officeDocument/2006/relationships/notesSlide" Target="/ppt/notesSlides/notesSlide27.xml" Id="R34758dc0e19d421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f40d34e3547c2" /><Relationship Type="http://schemas.openxmlformats.org/officeDocument/2006/relationships/notesSlide" Target="/ppt/notesSlides/notesSlide28.xml" Id="Rdf1b96f244d64a2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ad82331c44f7e" /><Relationship Type="http://schemas.openxmlformats.org/officeDocument/2006/relationships/notesSlide" Target="/ppt/notesSlides/notesSlide29.xml" Id="Rabeee69c7fe448c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abab1d0f444f3" /><Relationship Type="http://schemas.openxmlformats.org/officeDocument/2006/relationships/notesSlide" Target="/ppt/notesSlides/notesSlide30.xml" Id="R00a9bff4393e466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652b9131f46e1" /><Relationship Type="http://schemas.openxmlformats.org/officeDocument/2006/relationships/notesSlide" Target="/ppt/notesSlides/notesSlide31.xml" Id="R1690feee6ed24c9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a9199702442a3" /><Relationship Type="http://schemas.openxmlformats.org/officeDocument/2006/relationships/notesSlide" Target="/ppt/notesSlides/notesSlide32.xml" Id="Raf5b0f61a7b24d7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4d7004e5046ba" /><Relationship Type="http://schemas.openxmlformats.org/officeDocument/2006/relationships/notesSlide" Target="/ppt/notesSlides/notesSlide33.xml" Id="Rcbc8ab5c415e4ad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7e26f0bd7485f" /><Relationship Type="http://schemas.openxmlformats.org/officeDocument/2006/relationships/notesSlide" Target="/ppt/notesSlides/notesSlide34.xml" Id="R2fce87aabdb745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087D30-A311-47DC-918A-6C1BDF36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E0D26-A816-4744-BC4C-BFE00C80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8EB45-849F-4C70-91B7-F68AA188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3000"/>
            <a:ext cx="95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91268-CB45-4CC2-9AE5-08D81A74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14300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rPr>
              <a:t>SW개발/HW제작 설계서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CD753-752B-4DBB-8E2A-5AAA5B22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독거노인의 식생활 관리를 위한 AI 기반 스마트 냉장고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9BA69-9CF1-46BD-AF4F-DF65C491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106680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90D78-88CD-4B46-A090-A3DF2944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프로젝트 핵심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BC644-3C17-4B73-A6A7-81AC1A8E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9625"/>
            <a:ext cx="942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리드스위치로 냉장고 문 이벤트를 감지하고 필요한 시점에만 촬영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Raspberry Pi 5에서 YOLO·윤곽선 후보·식재료 분류를 수행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자동 재고 등록·소비 반영과 사용자 검수를 함께 제공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보유 재료 기반으로 부족 재료가 적은 레시피를 우선 추천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2AFB0-399E-4F56-9C18-52C26C7A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675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2026. 07. 11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0EC69-B5E1-4C51-A90C-49130DE7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067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개인정보 미기재 편집 가능본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B0566B-EA4E-40BB-8CD4-73B2BD8C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76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645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</p:spTree>
    <p:extLst>
      <p:ext uri="{BB962C8B-B14F-4D97-AF65-F5344CB8AC3E}">
        <p14:creationId xmlns:p14="http://schemas.microsoft.com/office/powerpoint/2010/main" val="16473073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AD8B10-B939-4EAB-8A57-9F9E3950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5284B-DB72-4A0B-8458-4E45881C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382DE-DE46-4101-9BCF-A666BF46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6474B-D525-4C7C-AE99-FD0B27D5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2B360-9766-4367-B3EF-C365A928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F84D6-41C0-4C30-99C4-269C0E12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8A8B3-4065-4CE8-9B18-F33B4E05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수행 단계별 주요 산출물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7EC28-2352-4295-B8E4-6EFE05A7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83B2E-1620-4C04-9271-8C9E0428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742950" y="2171700"/>
          <a:ext xmlns:a="http://schemas.openxmlformats.org/drawingml/2006/main" cx="11858625" cy="609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715000"/>
                <a:gridCol w="2476500"/>
                <a:gridCol w="1571625"/>
              </a:tblGrid>
              <a:tr h="87085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수록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</a:tr>
              <a:tr h="87085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환경분석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시장/기술 동향 분석서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고령인구·노년 1인가구 중심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3-4p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7085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요구사항분석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 정의서, 유즈케이스 정의서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필수/선택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5-7p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87085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아키텍처설계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 구성도, 흐름도, UI/UX, H/W·센서 구성도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8-12p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7085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기능설계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메뉴, 화면, 연계도, ERD, 기능처리도, 알고리즘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13-23p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87085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개발/구현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 설계도, 프로그램 목록, 테이블 정의서, 핵심 소스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24-28p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7085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참조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개발환경, S/W·H/W 실사, 동영상 콘티, 프로젝트 관리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29-33p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A80C6-5BE0-4E5A-A83D-2BA38951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4772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설문조사와 인터뷰 결과서는 실제 조사를 수행하지 않았으므로 제외한다.</a:t>
            </a:r>
          </a:p>
        </p:txBody>
      </p:sp>
    </p:spTree>
    <p:extLst>
      <p:ext uri="{BB962C8B-B14F-4D97-AF65-F5344CB8AC3E}">
        <p14:creationId xmlns:p14="http://schemas.microsoft.com/office/powerpoint/2010/main" val="14011272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B8EF0A-C3AD-496F-9B01-8B9B1C42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152B4-441C-4782-ABD7-95A676C1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7E679-D398-4233-BD54-067B5969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A98FB-E15E-4237-A316-9E57B945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31690-C488-4C4C-AAE8-52CC8B7D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2A3FA-112D-40D5-BD14-5E198DE8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5F6D2-CDCC-4A4B-8B8F-5BC43AB6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시장/기술 동향 분석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33C93-89BA-40F9-A66E-51645CC8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사회·시장 배경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95EAB-AC3A-4BBB-9D83-F569B091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C214D-402A-44BE-BC75-ECABDF3E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439809-EF32-4F17-B51C-085BC716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5715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3E095F-19BB-4474-9291-40B10543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537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그림 1-1. 고령인구 추이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1230B-0197-439F-8DBE-CC496764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52578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통계청 「2025 고령자 통계」 그래프 삽입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2025년 20.3% · 2036년 30% · 2050년 40% 초과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그래프 제목·범례·기준연도가 보이게 캡처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E0369-8D54-4428-9E75-FC48A7DC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537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03_market_elderly.png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D16BF-16CE-4E8D-AFEF-85BFCAAF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71700"/>
            <a:ext cx="57912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283A7-0118-4DE9-9E90-AC578F3B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6220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그림 1-2. 노년 1인가구 추이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DF372-5297-41B9-B86C-2405772D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71800"/>
            <a:ext cx="53340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전체 1인가구가 아닌 65세 이상 노년 1인가구 그래프 삽입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2022년 197.3만 → 2023년 약 213.8만 → 2024년 228.9만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노년 가구 중 비중: 37.0% → 37.8% → 38.2%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61A69B-083C-48B0-810C-A72BAD39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715000"/>
            <a:ext cx="544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교체 파일: 03_market_elderly_single_household.png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C6B873-6C91-4756-BD53-F260F4BB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00800"/>
            <a:ext cx="118681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904B6C-035C-4772-AA27-DABF43EF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00800"/>
            <a:ext cx="118681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BF9CE9-F328-43B6-8D4C-8D793B2F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15100"/>
            <a:ext cx="1163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해설 및 프로젝트 시사점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F99D9A-52B1-4F7A-A537-A3C9072A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219950"/>
            <a:ext cx="1148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72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우리나라는 2025년 65세 이상 인구가 전체의 20.3%를 차지해 초고령사회에 진입했고, 고령인구 비중은 장기적으로 계속 증가할 전망이다.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2024년 가구주가 65세 이상인 노년 가구 중 1인 가구는 228만 9천 가구로 38.2%를 차지한다. 이는 식재료 구입·보관·소비를 혼자 관리하는 가구가 확대되고 있음을 뜻한다.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수기 입력을 계속 요구하는 방식은 고령 사용자에게 부담이 될 수 있으므로, 문 이벤트 기반 자동 촬영·인식과 확인이 필요한 항목만 검수하는 방식이 적합하다.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본 프로젝트는 재고 자동화에 그치지 않고 보유 재료와 레시피 필요 재료를 비교해 실제 식생활 의사결정까지 지원한다.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252E27-EEFD-4F8F-86AD-0A3E8516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출처: 통계청 「2025 고령자 통계」, 「2024년·2023년 생애단계별 행정통계」. 2023년 가구 수는 공표 비중으로 계산한 약값.</a:t>
            </a:r>
          </a:p>
        </p:txBody>
      </p:sp>
    </p:spTree>
    <p:extLst>
      <p:ext uri="{BB962C8B-B14F-4D97-AF65-F5344CB8AC3E}">
        <p14:creationId xmlns:p14="http://schemas.microsoft.com/office/powerpoint/2010/main" val="16071339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FED874-CBFF-46AA-AEA1-88A7C04A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48D16-CC1A-413A-B621-5F2D03DD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60EB4-AF3F-4017-92F2-D930BFBE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2EE61-801D-490B-BA65-E2E5D1C3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BA5BB-5EFF-455C-AD19-BD26931B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6E467-7D0D-4EEF-B88A-AF29F7B5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5B630-D062-43C5-A01C-1D17DC0B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시장/기술 동향 분석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8A749-2272-4984-AD47-A066E3D1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기술 비교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566BA-6315-4CD7-BAC9-383743C7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14E80-510E-4C9E-B772-DEE3C88D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31" name=""/>
          <p:cNvGraphicFramePr/>
          <p:nvPr/>
        </p:nvGraphicFramePr>
        <p:xfrm>
          <a:off xmlns:a="http://schemas.openxmlformats.org/drawingml/2006/main" x="742950" y="2038350"/>
          <a:ext xmlns:a="http://schemas.openxmlformats.org/drawingml/2006/main" cx="1186815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333625"/>
                <a:gridCol w="2095500"/>
                <a:gridCol w="2619375"/>
                <a:gridCol w="3390900"/>
              </a:tblGrid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항목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수기·일반 앱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바코드/RFID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상용 스마트 냉장고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 프로젝트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</a:tr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방식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사용자가 직접 입력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태그 부착·스캔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내부 카메라·제품 생태계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이벤트 후 자동 촬영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인식 방식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입력값 그대로 사용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코드·태그 ID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클라우드 영상 인식 중심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YOLO+contour+분류+fallback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반영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사용자가 수량 수정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태그 인식 시 반영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제조사 시스템 내 반영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/upload 등록, /consume 차감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검수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모든 항목 수기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 확인 제한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제품별 방식 상이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UNRECOGNIZED만 선택 검수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연계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일부 앱에서 제공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대체로 미지원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제조사 서비스에 종속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matched/missing 계산·정렬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위치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앱·서버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리더기·서버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클라우드 의존도가 높음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 엣지 추론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고령층 접근성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입력 부담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태그 관리 부담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구매 비용·복잡성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자동화+큰 카드+확인 필요 표시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0AE3E-A5B2-466C-A372-EB4A7D47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00875"/>
            <a:ext cx="44767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47575-CC8E-4B57-B24F-4B3B5DDE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191375"/>
            <a:ext cx="413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IoT·엣지 AI 기술 동향 그림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286FFB-0336-4C93-8A13-095ECD1F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00975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97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IITP 기술로드맵의 엣지 AI·IoT 구조 그림 또는 핵심 문장 캡처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3BF425-266B-42E7-91BA-E45B44EE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39125"/>
            <a:ext cx="413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교체 파일: 04_technology_trend.png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95EA9D-EDE1-4574-B9AA-75162E0D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000875"/>
            <a:ext cx="71818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23268D-BD98-44BC-9493-F8AACB57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000875"/>
            <a:ext cx="7181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866670-7B55-48B2-B780-ECC925AD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7115175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기술 동향 해설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957A44-5799-4CC5-840B-E16861A7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734300"/>
            <a:ext cx="6800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50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엣지 AI는 클라우드 연결이 불안정해도 현장에서 상황을 인식하고 지연·데이터 전송량을 줄이는 방향으로 발전하고 있다.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문 센서 이벤트가 있을 때만 촬영하면 연속 녹화 대비 연산·저장 부담을 줄이고 실제 입출고 시점에 집중할 수 있다.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자동 인식 결과를 무조건 확정하지 않고 낮은 신뢰도 항목만 사용자가 보완하는 사람-검수 구조가 정확성과 접근성을 함께 확보한다.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ECFFA8-94AD-4507-A721-715BE3F0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출처 참고: IITP 「ICT R&amp;D 기술로드맵 2025 - 스마트 디바이스」, 「2025년 지원사업 안내」. 비교표는 기술 유형 기준 분석.</a:t>
            </a:r>
          </a:p>
        </p:txBody>
      </p:sp>
    </p:spTree>
    <p:extLst>
      <p:ext uri="{BB962C8B-B14F-4D97-AF65-F5344CB8AC3E}">
        <p14:creationId xmlns:p14="http://schemas.microsoft.com/office/powerpoint/2010/main" val="1046976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EEDF3C-FCAE-4CF0-AE64-62140787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7F6DE-86C3-493B-AA71-D1CAFF0E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9B41D-4525-4784-A987-C452DFE9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D6C41-850D-4A23-9DB7-ED9BAAB1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ADA36-510E-40F4-9C3C-9FEEE4D9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DC978-73D1-4196-89C1-F0CA9D77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EA55A-B3C3-4838-8E87-27EA51EE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요구사항 정의서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5A504-89D3-4FD4-88D1-67147281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기능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E9FA4-917A-4B70-9C49-01266254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5015B-5301-4500-AB04-408D7C3D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742950" y="2114550"/>
          <a:ext xmlns:a="http://schemas.openxmlformats.org/drawingml/2006/main" cx="11868150" cy="619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857250"/>
                <a:gridCol w="1952625"/>
                <a:gridCol w="6667500"/>
                <a:gridCol w="1143000"/>
              </a:tblGrid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요구사항명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상세 설명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우선순위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REQ-SW-01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회원가입/로그인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이름·이메일·비밀번호로 계정을 생성하고 로그인한다.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REQ-SW-02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관리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냉장고를 등록·선택·삭제하고 현재 냉장고를 지정한다.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REQ-SW-03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조회/수정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냉장고별 재고를 조회하고 수량·단위·상태·메모를 수정한다.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REQ-SW-04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추천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보유 재료와 필요 재료를 비교해 부족 재료가 적은 순으로 제공한다.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REQ-HW-01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열림/닫힘 감지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리드스위치의 GPIO17 입력으로 문 상태 이벤트를 감지한다.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REQ-HW-02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 촬영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이벤트 또는 연속 모드에서 냉장고 내부 프레임을 수집한다.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REQ-AI-01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식재료 인식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영역을 추출하고 식재료명·confidence를 산출한다.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REQ-API-01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등록/소비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인식 결과를 /upload로 등록하고 선택 모드에서 /consume으로 차감한다.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E22766-B6C5-4E8E-AFF2-029F87EF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49630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검증 기준: 실제 앱/API/H/W 실행 결과와 데이터베이스 저장 결과로 확인한다.</a:t>
            </a:r>
          </a:p>
        </p:txBody>
      </p:sp>
    </p:spTree>
    <p:extLst>
      <p:ext uri="{BB962C8B-B14F-4D97-AF65-F5344CB8AC3E}">
        <p14:creationId xmlns:p14="http://schemas.microsoft.com/office/powerpoint/2010/main" val="4155185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A4360D-8066-4422-B313-F9C62AE3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834F0-1362-4688-840B-56792A5C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B9C99-0B99-418A-BF34-43B25709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2E3A6-31A2-462D-A888-E3653011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56EF9-BE56-4E9B-B91F-D9AD8AFB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74BFE-5112-4FFF-99D8-3A64B0C2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24B59-F88A-4393-A3E0-FB844536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요구사항 정의서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A4521-C9A9-408B-BA4A-5163E78C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세부 처리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450BD-1ADC-4E66-A932-CAE2852D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F3EE8-4C94-4EA1-960A-02406593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742950" y="2114550"/>
          <a:ext xmlns:a="http://schemas.openxmlformats.org/drawingml/2006/main" cx="11868150" cy="619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2762250"/>
                <a:gridCol w="7820025"/>
              </a:tblGrid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식재료 이미지·인식 결과 저장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label, confidence, 원본·crop 이미지 경로를 DB와 업로드 폴더에 저장한다.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목록 관리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냉장고별 재고를 조회하고 직접 추가·수정·삭제할 수 있게 한다.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추천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보유/필요 재료를 비교해 missing_count가 낮은 순으로 정렬한다.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오인식 검수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UNRECOGNIZED 항목은 사용자가 이름과 상태를 수정할 수 있게 한다.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 문 이벤트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닫힘 LOW·열림 HIGH를 기본값으로 사용하고 debounce 0.1초를 적용한다.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 프레임 수집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Picamera2 또는 OpenCV backend로 640×480, 30FPS 프레임을 수집한다.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미리보기 스트림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MJPEG preview를 제공해 장착 위치와 인식 박스를 브라우저에서 확인한다.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영역 추출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 box → contour 보완 → center fallback 순으로 후보를 확보한다.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안정 프레임 판정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label signature가 3회 반복될 때만 전송해 중복·오탐을 줄인다.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EC77E-6330-4E50-9B37-FA09C948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477250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비기능 요구: 개인정보·서버 IP·DB 계정은 문서와 캡처에서 제거하고, 미확정 H/W 사양은 “실물 제작 후 확정”으로 표시한다.</a:t>
            </a:r>
          </a:p>
        </p:txBody>
      </p:sp>
    </p:spTree>
    <p:extLst>
      <p:ext uri="{BB962C8B-B14F-4D97-AF65-F5344CB8AC3E}">
        <p14:creationId xmlns:p14="http://schemas.microsoft.com/office/powerpoint/2010/main" val="1230093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7B75D7-7F1C-4C05-B463-137EF4D7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3C098-9E48-467A-B68C-CAAC6B28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4B3E7-078C-451C-AEC2-F7EB7996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42BC6-C011-4D19-877F-1A13F977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BE4FB-C5B2-4B18-8BF1-4A06F250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D7913-03BA-401D-86B2-81A24EE2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276EF-17D2-458F-A2C1-F2773585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유즈케이스 정의서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22CC7-0871-4933-A76E-A38F2CB9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D43A42-1558-4DF3-AB56-81FD1319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54FF73-4403-410E-BF07-097A6B84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6381750" cy="6572250"/>
          </a:xfrm>
          <a:prstGeom xmlns:a="http://schemas.openxmlformats.org/drawingml/2006/main" prst="roundRect">
            <a:avLst>
              <a:gd name="adj" fmla="val 1194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EA109-0114-431A-8DF9-C02F7B9F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6381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3B907-AE40-4ECA-BA48-59ED44FB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615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유즈케이스 다이어그램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fd7a3fdd644f2"/>
          <a:stretch xmlns:a="http://schemas.openxmlformats.org/drawingml/2006/main"/>
        </p:blipFill>
        <p:spPr>
          <a:xfrm xmlns:a="http://schemas.openxmlformats.org/drawingml/2006/main">
            <a:off x="2476319" y="2952750"/>
            <a:ext cx="2876912" cy="55721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2600E6-5AED-46D9-A0DF-30C2D19E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71700"/>
            <a:ext cx="5314950" cy="6572250"/>
          </a:xfrm>
          <a:prstGeom xmlns:a="http://schemas.openxmlformats.org/drawingml/2006/main" prst="roundRect">
            <a:avLst>
              <a:gd name="adj" fmla="val 1434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E14A36-73D8-49D7-B9FC-A20EB439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71700"/>
            <a:ext cx="5314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B9A969-D260-45C9-9EBE-73EF9BFC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508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UC-01 식재료 자동 등록 정의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7448550" y="2952750"/>
          <a:ext xmlns:a="http://schemas.openxmlformats.org/drawingml/2006/main" cx="5010150" cy="5562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90625"/>
                <a:gridCol w="3819525"/>
              </a:tblGrid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정의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열림 후 식재료를 촬영·인식하여 현재 냉장고 재고에 자동 등록한다.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 Actor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사용자, Raspberry Pi 5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보조 Actor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Flask API, MySQL, Flutter 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우선순위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선행조건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및 현재 냉장고 선택, 카메라·리드스위치·서버 정상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후행조건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행과 원본/crop 이미지, label, confidence, 상태 저장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시나리오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1) 문 열림 감지  2) 프레임 촬영  3) 후보 추출·분류  4) 동일 결과 3회 안정  5) /upload  6) 앱 목록 갱신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대안 시나리오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낮은 신뢰도·매칭 실패는 UNRECOGNIZED로 저장 후 사용자 검수. 네트워크 오류는 재시도. cooldown 동안 중복 전송 방지.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닫힘 소비 처리는 선택 워크플로에서 UC-02 /consume으로 수행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49A5CA-952C-408D-8A83-6A4006D6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PlantUML 원본: diagrams/plantuml/07_usecase.puml</a:t>
            </a:r>
          </a:p>
        </p:txBody>
      </p:sp>
    </p:spTree>
    <p:extLst>
      <p:ext uri="{BB962C8B-B14F-4D97-AF65-F5344CB8AC3E}">
        <p14:creationId xmlns:p14="http://schemas.microsoft.com/office/powerpoint/2010/main" val="3013693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D1BA48-5551-42A8-A353-EDEC4588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087D9-EADC-4910-905E-F1C5F4F1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AACC5-2AAA-4DE9-AEFC-6B9AF6F5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FB6A6-DB21-4F6A-A901-AB5BDE4C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8BE3A-184E-42EC-AB9B-DCDF499F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0995B-29C5-4788-8A76-8FA0074C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73046-B815-42BF-8CFC-A55747E5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서비스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3A1E4-E0C6-4BC2-8656-2DE26365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서비스 시나리오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9098E-1A3D-4239-8C93-A09CB09C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9A957-C41D-4ABD-81D2-78FAE759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9C40F-09DA-4F9F-92FD-F609547C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FDB70-8F80-4767-BD50-D98A07B9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593917-4FF6-467B-BC97-31DD3264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사용자 중심 서비스 시나리오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8940ef0ef47bb"/>
          <a:stretch xmlns:a="http://schemas.openxmlformats.org/drawingml/2006/main"/>
        </p:blipFill>
        <p:spPr>
          <a:xfrm xmlns:a="http://schemas.openxmlformats.org/drawingml/2006/main">
            <a:off x="2741784" y="2990850"/>
            <a:ext cx="3203232" cy="54768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41319C-5828-4696-8E1A-A6DA878F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40E80-4EBA-4A66-A09F-0DC3F979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3FA130-0721-4BE6-B150-AFCF22D8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단계별 설명</a:t>
            </a:r>
          </a:p>
        </p:txBody>
      </p:sp>
      <p:graphicFrame>
        <p:nvGraphicFramePr>
          <p:cNvPr id="37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2238375"/>
                <a:gridCol w="1057275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입력·처리·출력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예외/확인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 문 열림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 HIGH 이벤트를 Pi에 전달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bounce_time 0.1초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 촬영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 준비 후 640×480 프레임 수집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프레임 읽기 실패 시 재시도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 인식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YOLO·contour·fallback 후보를 분류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confidence 미달은 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 저장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stable signature 3회 후 /upload·DB INSERT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cooldown으로 중복 방지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 앱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 /inventory로 목록·상태·이미지 표시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UNRECOGNIZED 사용자 검수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소비 경로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닫힘 모드에서 /consume으로 수량 감소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 이하이면 행 삭제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5662AD-8C45-4D67-A0D6-D057E71C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PlantUML: 08_service_scenario.puml | 자동 등록을 기본 경로, 문 닫힘 소비를 보조 경로로 표현</a:t>
            </a:r>
          </a:p>
        </p:txBody>
      </p:sp>
    </p:spTree>
    <p:extLst>
      <p:ext uri="{BB962C8B-B14F-4D97-AF65-F5344CB8AC3E}">
        <p14:creationId xmlns:p14="http://schemas.microsoft.com/office/powerpoint/2010/main" val="7619590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922D3F-DE9D-4763-9739-F473EF1C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8C71A-BE25-4B1B-8AE6-F0D9A19C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85655-AAD6-4B2F-BBBA-87B93D93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0DA42-6B41-457B-B91A-CC24CC2E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E60EC-23D2-4F36-BC3F-440E82E8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6D4C6-53EA-4C7A-974A-52FB15DE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88EA7-C8DC-467D-9E57-940B0BD6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서비스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49DE9-9084-4CF0-A050-6D850804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시스템 아키텍처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AC40D-609F-4DF0-ADFB-B65D0F42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90381-7C92-4BD4-BDA5-D7E40040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B712D-F47F-4075-90CA-BA48E053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3FAC0-D10A-494B-8B9A-75B496A1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0C103-D9F8-4189-AC09-4E35B72E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서비스 아키텍처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b8777bfab84d30"/>
          <a:stretch xmlns:a="http://schemas.openxmlformats.org/drawingml/2006/main"/>
        </p:blipFill>
        <p:spPr>
          <a:xfrm xmlns:a="http://schemas.openxmlformats.org/drawingml/2006/main">
            <a:off x="895350" y="4057506"/>
            <a:ext cx="6896100" cy="3343564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8F731-754B-47AC-B2EE-C49C1908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30FC8C-88C5-4D5B-A5D3-60F43082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299F7B-D415-48E1-B350-344BCBE6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구성요소 역할·데이터 흐름</a:t>
            </a:r>
          </a:p>
        </p:txBody>
      </p:sp>
      <p:graphicFrame>
        <p:nvGraphicFramePr>
          <p:cNvPr id="37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1952625"/>
                <a:gridCol w="1057275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구성요소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데이터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열림/닫힘 이벤트 생성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GPIO17 HIGH/LOW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내부 프레임 수집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RGB frame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 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 감지·AI 추론·전송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crop, label, confidence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Flask API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인증·냉장고·재고·레시피 REST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JSON, multipart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MySQL/파일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관계 데이터·원본/crop 보관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SQL, JPEG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Flutter 앱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조회·검수·추천 UI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InventoryItem, Recipe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40C28D-8743-4FD0-B6FB-8BFE6054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연결 순서: 센서/카메라 → Pi 엣지 AI → Flask → MySQL/이미지 → Flutter | 보호자 알림은 향후 확장</a:t>
            </a:r>
          </a:p>
        </p:txBody>
      </p:sp>
    </p:spTree>
    <p:extLst>
      <p:ext uri="{BB962C8B-B14F-4D97-AF65-F5344CB8AC3E}">
        <p14:creationId xmlns:p14="http://schemas.microsoft.com/office/powerpoint/2010/main" val="20274720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46CAD6-348F-4F2D-8D7A-0E0CCFED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B7D27-571D-4F0C-8BD4-61FE2A32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982C9-6443-4D5C-AF43-3D17040D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8FB3F-5E34-47CD-BAB5-93F44EBA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B0D5C-03D3-456B-9B29-42C8A036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79424-BAB4-4D59-8C43-8F1EB8E7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415AD-4220-4603-941C-44A690BF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서비스 흐름도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D7365-C5B5-4A90-BC99-1434244B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049CC-B9C3-4A0B-9927-78C3DE99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47036-583E-4C39-9313-61FE1122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88AC6F-3F95-47BF-B91C-DA2CBCCB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67841E-99C2-4888-B4F9-D033F94A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 이벤트 기반 서비스 흐름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5aaef70024797"/>
          <a:stretch xmlns:a="http://schemas.openxmlformats.org/drawingml/2006/main"/>
        </p:blipFill>
        <p:spPr>
          <a:xfrm xmlns:a="http://schemas.openxmlformats.org/drawingml/2006/main">
            <a:off x="895350" y="5310033"/>
            <a:ext cx="6896100" cy="838509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5E070F-E3C2-4D12-9F44-2F9BB1E7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ABAED-6B7D-480A-8D84-2C3D9FC6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459BB6-89D9-4517-8826-BBBE0EC3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판단·예외 처리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2628900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판단 지점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없음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center crop을 추가해 분류 기회를 확보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confidence 미달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후보 제외 또는 확인 필요 처리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stable frame 미달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프레임으로 돌아가 signature 재평가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 오류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전송 실패를 기록하고 다음 이벤트에서 재시도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/upload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재고 INSERT, 이미지·AI 메타데이터 저장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/consume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재료 최신 재고 UPDATE, 0 이하 DELETE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1D14DB-6E1B-456C-85CC-19C1452C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PlantUML: 10_service_flow.puml | 기본값: stable_frames 3, cooldown 20초</a:t>
            </a:r>
          </a:p>
        </p:txBody>
      </p:sp>
    </p:spTree>
    <p:extLst>
      <p:ext uri="{BB962C8B-B14F-4D97-AF65-F5344CB8AC3E}">
        <p14:creationId xmlns:p14="http://schemas.microsoft.com/office/powerpoint/2010/main" val="14570378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7558AA-5951-406E-8BEC-92B04A8D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1A3EF-0E0F-47B0-8276-DF68EB78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0421C-8963-45C5-8695-7F46C4D6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76329-3566-42FC-82F2-EE054718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D3639-C187-4030-B7A4-BADC5CFC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10C7B-BA58-422F-96D5-F90E5244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EE58E-CF0D-4B74-B3C2-2F053B81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UI/UX 정의서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47DBD-9308-4446-9AC1-37D5B429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화면 설계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DAB02-4750-4F3C-BB5E-C442C82E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846DB-B945-4AE7-9E65-0E9DED4E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28086-565C-4205-B71A-3C9CAB48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584C35-7AC6-4504-9088-35BF4739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324BFF-F130-4423-932D-E0A1EE20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주요 화면 와이어프레임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063e9c351460c"/>
          <a:stretch xmlns:a="http://schemas.openxmlformats.org/drawingml/2006/main"/>
        </p:blipFill>
        <p:spPr>
          <a:xfrm xmlns:a="http://schemas.openxmlformats.org/drawingml/2006/main">
            <a:off x="895350" y="4820256"/>
            <a:ext cx="6896100" cy="1818063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A23A6C-204C-42EA-A201-1B093863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BC7494-174B-4C02-B3CB-4D194100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4E0E5F-BD35-4323-9330-9351C8AF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고령층 접근성·UI 원칙</a:t>
            </a:r>
          </a:p>
        </p:txBody>
      </p:sp>
      <p:graphicFrame>
        <p:nvGraphicFramePr>
          <p:cNvPr id="37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2819400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원칙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방법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기능 우선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홈에 재고·레시피 두 개의 큰 진입 카드 배치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가시성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정상/확인 필요를 색·텍스트로 함께 표시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최소화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등록 후 필요한 항목만 사용자 검수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 회복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빈 상태·네트워크 오류에 안내와 재시도 제공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일관된 용어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재고, 재료, 확인 필요, 부족 재료 표현 통일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개인정보 보호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이메일·서버 주소를 캡처와 문서에서 제거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AF67F2-7566-4074-BF75-98A79439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PlantUML: 11_uiux_wireframe.puml | 실제 앱 캡처가 준비되면 와이어프레임 이미지만 교체</a:t>
            </a:r>
          </a:p>
        </p:txBody>
      </p:sp>
    </p:spTree>
    <p:extLst>
      <p:ext uri="{BB962C8B-B14F-4D97-AF65-F5344CB8AC3E}">
        <p14:creationId xmlns:p14="http://schemas.microsoft.com/office/powerpoint/2010/main" val="19794487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D060DD-6717-48EB-8D12-31E52872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E27E5-0F4A-47BE-AE29-EF8A7C8A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CEAEB-2634-466A-B073-36912832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1D8D6-D8A4-4B7C-A9AA-8E58D729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DB419-C131-4CE5-BEF6-CFE11401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2AD5A-8437-4015-B08F-0E51F336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A5B4B-4FB8-40EF-BF45-CFE05BBA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H/W·센서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A3685-C5CF-46DA-9B68-38D9F576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57B17-843D-48B7-8A92-CCBA7FE9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22B8F-A309-414B-ADD5-DAF4C0A0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340CE1-FD5F-45A0-9589-BF0DA284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FE3ED-59BE-40ED-8611-FECF71D2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센서·카메라 배선 설계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545f0aa844745"/>
          <a:stretch xmlns:a="http://schemas.openxmlformats.org/drawingml/2006/main"/>
        </p:blipFill>
        <p:spPr>
          <a:xfrm xmlns:a="http://schemas.openxmlformats.org/drawingml/2006/main">
            <a:off x="895350" y="4531848"/>
            <a:ext cx="6896100" cy="239488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C5470C-F8D9-4F81-9814-750CCC39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3CEB01-3316-4E33-8069-9021260C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85A706-B6EB-44EF-A7E5-21176227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부품·연결·역할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1666875"/>
                <a:gridCol w="1390650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부품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역할/비고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 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GPIO17, GND, 카메라, LAN/Wi-Fi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센서·영상·AI·전송 제어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선 GPIO17(물리 11), 한 선 GND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닫힘 LOW, 열림 HIGH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문에 부착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닫힘 시 접점 근접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CSI/Picamera2 또는 USB/OpenCV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640×480, 30FPS 기본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USB-C 상시 전원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정격·케이블 실물 제작 후 확정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 :5000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/upload, /consume, inventory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4C7768-1969-414B-9D12-4A74DFEA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별도 MCU/자체 PCB 없음. 결로·케이블 고정·카메라 모델·전원 정격은 실물 제작 후 확정.</a:t>
            </a:r>
          </a:p>
        </p:txBody>
      </p:sp>
    </p:spTree>
    <p:extLst>
      <p:ext uri="{BB962C8B-B14F-4D97-AF65-F5344CB8AC3E}">
        <p14:creationId xmlns:p14="http://schemas.microsoft.com/office/powerpoint/2010/main" val="13543129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A379E5-4863-4126-92E0-A5AFD22E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25147-7648-4AEB-8EDA-69FF1FD0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7101C-EF30-4CBB-A2C1-567E103F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9E0C9-7DE0-46C2-A5B4-ED6FC910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4658D-F10E-4425-B3FF-FE78EFAD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50E67C-73FA-434F-834E-7C4A2AE2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D0EF8-FB58-4DBC-AB79-C4068825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메뉴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77A44-5FD0-4B59-B4E2-3D10EA74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화면 트리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AA6CF-66DC-42AF-9EA6-47E1E6D2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7D2682-2B4A-40D5-AFB5-B01FD5F6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4A6B08-40C5-4750-B82C-E8185EBA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6E65C-9FFF-4E78-B0D6-20820436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8B0B73-F254-4064-B65D-E53E5775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화면 이동 중심 메뉴 트리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3519db8c643b4"/>
          <a:stretch xmlns:a="http://schemas.openxmlformats.org/drawingml/2006/main"/>
        </p:blipFill>
        <p:spPr>
          <a:xfrm xmlns:a="http://schemas.openxmlformats.org/drawingml/2006/main">
            <a:off x="896675" y="2990850"/>
            <a:ext cx="6893450" cy="54768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D86478-E07E-4065-AD8C-F86E3C69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60EBA-0E9B-4FFE-90B4-E0EE1C72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4DA98E-A8A7-4ED8-B0E3-D70EA33F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화면별 진입·복귀 규칙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90625"/>
                <a:gridCol w="1476375"/>
                <a:gridCol w="1485900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화면군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진입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복귀/처리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로그인·회원가입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성공 후 현재 냉장고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관리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냉장고 없음 또는 홈의 변경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후 홈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 → 재고 목록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상세 저장·삭제 후 목록 갱신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 → 레시피 목록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상세에서 목록으로 복귀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로그아웃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 상단 메뉴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상태 초기화 후 로그인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향후 확장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보호자 화면·알림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미구현, 점선 표시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4310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D6ADB9-430D-4F79-B9EC-D189BF3E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5D38B-450E-4CF5-B3E6-12BA1A71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2F0D7-4577-4A2A-A6C5-76314132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6082A-1006-46C3-B87D-013CAF7C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8B110-C6D0-495A-A0B6-E3EEBA18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688EA-8019-4340-9B3F-D7B49000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86733-3BE8-4B35-9C4F-000EBDA1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메뉴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F9957-6648-477B-907F-5C2771E0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기능 트리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EDFA5-8467-4743-BA66-EA78D1FF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42519-DD69-47FC-ABD3-20776EEB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3899B-B9E2-46B8-881A-300BF30E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7B6024-BB31-4F77-81DC-95F742CD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5D0B8-40B3-46FC-A56D-C0D5374D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기능군 중심 메뉴 트리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86fbf0db844ed"/>
          <a:stretch xmlns:a="http://schemas.openxmlformats.org/drawingml/2006/main"/>
        </p:blipFill>
        <p:spPr>
          <a:xfrm xmlns:a="http://schemas.openxmlformats.org/drawingml/2006/main">
            <a:off x="895350" y="4763252"/>
            <a:ext cx="6896100" cy="1932072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F5C021-329B-4E95-85FE-2CD1CEDC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0F2D90-9F72-4C1F-B363-81BDF2EC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DED501-FEB8-4781-B79B-52F68858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기능군 설명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1762125"/>
                <a:gridCol w="1295400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기능군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기능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위치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계정/냉장고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인증, 냉장고 CRUD·선택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Flutter·Flask·MySQL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센서/카메라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이벤트, 촬영, 미리보기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인식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추출, 분류, 안정화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YOLO/OpenCV/best.pt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관리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등록·차감·CRUD·검수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/upload·/consume·inventory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검색·matched/missing·상세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/recipes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 연동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REST·SQL·이미지 저장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Flask·MySQL·uploads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6834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907D7B-82B4-4E27-8DDF-D5FD1303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5B105-2D12-4784-872C-7425ACC9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D274C-2891-4F63-A8F9-CB95608A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30A74-783A-4FB1-B2DB-99C28D3A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48EC6-A228-4006-9B41-FFB8399B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9CB53-B7FF-4549-9F9B-59C00835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51CFA-2988-4BDE-9370-DA1CF841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화면 설계서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1149B-40C2-4F8A-A2C3-58D117D7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대표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B1DA2-A71D-4C13-B05C-975FD06A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7D3EE-0D31-4570-88AA-785BCA45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E6BFCB-10ED-4044-8686-C666E67D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91D53-0228-4BEE-91A6-1B1CB3B3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C5658-09EC-417B-9C5A-C1EC1647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로그인·홈·재고·레시피 화면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bb71986d94f00"/>
          <a:stretch xmlns:a="http://schemas.openxmlformats.org/drawingml/2006/main"/>
        </p:blipFill>
        <p:spPr>
          <a:xfrm xmlns:a="http://schemas.openxmlformats.org/drawingml/2006/main">
            <a:off x="895350" y="4793895"/>
            <a:ext cx="6896100" cy="187078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6CC3B3-9EE5-429D-8A43-6AD9D79F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7938CB-E38E-4946-A7C5-3BCB9B8D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B9F248-15EA-4361-AA7D-7713CD3D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기능번호·처리내용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23900"/>
                <a:gridCol w="1381125"/>
                <a:gridCol w="2047875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화면/기능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 /auth/login 후 사용자·냉장고 상태 저장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UI-02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냉장고명과 재고/레시피 진입 카드 표시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목록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 /inventory, 검색·필터·새로고침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UI-04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상세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POST/PUT/DELETE inventory, AI 검수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목록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 /recipes, 부족 재료 적은 순 표시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UI-06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상세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필요/부족 재료와 조리 방법 표시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7613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4B4C37-8D09-4674-A2C7-F608F1AD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DCD43-5E4F-407D-A056-8C9003EA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8B8E8-F318-4E46-ABD0-3F75DB04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433E4-916B-4AD8-B11C-64B14EEF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04E36-2F98-45DB-9152-8455F66A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C6BC1-EE49-4862-B2B2-BE89FBE9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89C8E-E691-4086-9840-CD677EE4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화면 설계서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02898-A713-4D16-B33D-4130FAF9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재고 상세/수정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959D2-15DA-448A-8AA1-D49BCEFC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FFEAE6-5A96-467C-9D90-0D46D775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80388-E127-496F-9668-A852F298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917E5-A08A-4BF0-B107-ED449972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1ECD42-88C0-4BB5-9742-3E27D3FF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재고 상세·수정 화면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3cbec318c4bc3"/>
          <a:stretch xmlns:a="http://schemas.openxmlformats.org/drawingml/2006/main"/>
        </p:blipFill>
        <p:spPr>
          <a:xfrm xmlns:a="http://schemas.openxmlformats.org/drawingml/2006/main">
            <a:off x="895350" y="3591178"/>
            <a:ext cx="6896100" cy="4276219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D77589-D108-4878-BB59-4AC44586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4F2DC0-48A3-4909-89D8-0B750967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A1977-2617-499F-AC45-C60B680A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입력·출력·예외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85800"/>
                <a:gridCol w="1524000"/>
                <a:gridCol w="1943100"/>
              </a:tblGrid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display_name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표시 재료명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quantity/unit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수량·단위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status/note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인식 상태·메모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detected_name/confidence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추정값·신뢰도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crop/image URL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 우선, 없으면 원본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예외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UNRECOGNIZED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 배너와 사용자 보완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저장/삭제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성공 시 이전 화면 복귀·목록 갱신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85899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947DFA-D843-4827-8BE4-74FC5E20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18F98-C72B-4F31-8BCF-ADCF080A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9E474-BD6B-4398-8EA2-431A6ACC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42C12-2950-4792-8C28-A849A01A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43BA9-91E0-42E0-ACB1-1FECDE09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D9186-748E-466D-BF11-68FB0B64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9A29A-D0B7-40EB-A556-646BE499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UI 흐름도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9FCF9-BA53-4B98-98F7-609FB362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BF290-04E8-4867-91E7-4A80FCDA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238ED-77AD-459F-82AE-CD61E04C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504EBA-C92F-4666-A85E-0F2C3ABE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44644-983E-4F58-AA22-3FE9BECC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사용자 화면 이동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c1e144ff94a1d"/>
          <a:stretch xmlns:a="http://schemas.openxmlformats.org/drawingml/2006/main"/>
        </p:blipFill>
        <p:spPr>
          <a:xfrm xmlns:a="http://schemas.openxmlformats.org/drawingml/2006/main">
            <a:off x="3244187" y="2990850"/>
            <a:ext cx="2198425" cy="54768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66BF47-9B29-43A1-BC7E-DFD7F5D6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5835E-7CC9-4327-AEDA-3B6D3700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A04805-C025-4A02-86AA-7E4ACF50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네비게이션 규칙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2628900"/>
              </a:tblGrid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상황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이동/처리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성공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있음 → 홈, 없음 → 냉장고 선택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회원가입 성공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냉장고 생성 후 로그인/홈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카드 선택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상세로 이동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저장·삭제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목록으로 복귀하고 재조회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선택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상세로 이동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변경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선택·관리 화면에서 현재 냉장고 갱신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로그아웃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세션 상태 초기화 후 로그인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93418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FABAE8-BAF6-4A07-BF0F-7EA23076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13EC7-C067-4B78-834F-2660347A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D8124-12E2-4491-9914-2444B764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8EAB8-3502-475A-83F0-AA85CA77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E9413-2B10-4BAB-9F11-2435B06F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5C6EA-08E2-4B9F-BC50-139C9B48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C6691-8074-416C-9144-7AE89B1D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연계도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2AA0D-585D-41DE-AC86-0CDC2F5D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DF17B-D51E-431F-816C-BDB51143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B8CEE-144D-448F-9F69-40B2B06B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093D4-9E6C-45FF-81F0-0BB6FEA0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B0AC3-71E8-49AE-8D93-7F650FAF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H/W·앱·서버·DB 연계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e6f9ce1e64348"/>
          <a:stretch xmlns:a="http://schemas.openxmlformats.org/drawingml/2006/main"/>
        </p:blipFill>
        <p:spPr>
          <a:xfrm xmlns:a="http://schemas.openxmlformats.org/drawingml/2006/main">
            <a:off x="895350" y="4751613"/>
            <a:ext cx="6896100" cy="19553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A9367-16A7-43DF-821E-848A73D5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E272F2-39A4-4E63-8989-5C5D5EDB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F85384-14DA-43C0-A478-AB171455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연계 인터페이스 정의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2000250"/>
                <a:gridCol w="1057275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송신→수신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프로토콜/데이터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목적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센서→Pi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GPIO17 HIGH/LOW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상태 이벤트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카메라→Pi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RGB frame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추출·분류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Pi→Flask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 multipart JPEG, label, confidence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등록/소비 요청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Flutter↔Flask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 JSON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인증·재고·레시피 CRUD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Flask→MySQL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SQL transaction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관계 데이터 저장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Flask→파일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JPEG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원본·crop 증빙 보관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712835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8A841A-647A-4B49-BE8B-033B9C59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A3BE9-5272-4294-B529-140ABCF3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7D625-34DD-483A-8A37-7545BED3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BB4CA-B7B2-4212-BF49-868AEF69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707B3-16EE-4F1B-9FD9-FFA8D14A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06519-A759-4458-ACCB-8E5B0112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522AF-90CF-48EA-B12E-762BAE79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엔티티 관계도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0EB13-5006-4D9D-8970-0453743B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620B4-12FF-4540-90D5-92ABE111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CD6970-9AD3-4B14-8803-30E9225D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3B65A-045E-4830-A058-F0DE1BC4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36EEC-55E4-4453-B6C2-A15244B0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89597-5035-422C-A3B5-F6994B76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개념 ERD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37e1518b964c57"/>
          <a:stretch xmlns:a="http://schemas.openxmlformats.org/drawingml/2006/main"/>
        </p:blipFill>
        <p:spPr>
          <a:xfrm xmlns:a="http://schemas.openxmlformats.org/drawingml/2006/main">
            <a:off x="895350" y="3721951"/>
            <a:ext cx="6896100" cy="4014672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693228-C3DE-4E25-B3BA-99EF8C7F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45671B-702B-4033-B7F7-375CB56F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089A2D-7337-43B6-9A02-625EC47E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관계·무결성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1000125"/>
                <a:gridCol w="1771650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관계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카디널리티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규칙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users-fridges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1:N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삭제 시 냉장고 cascade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fridges-fridge_items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1:N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삭제 시 재고 cascade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ingredients-fridge_items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0..1:N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매칭 실패 시 ingredient_id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recipes-ingredients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N:M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recipe_ingredients 연결 테이블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users-current_fridge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논리 참조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애플리케이션에서 현재 냉장고 관리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app_state-active_fridge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논리 참조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 브리지의 대상 냉장고 상태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092842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B2EDE7-7BDA-4EE3-B9F3-9EEA8E64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B141E-2683-4903-9DD2-267CD144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F4E24-1B39-4D1C-8DC9-4546DAEF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8B3F1-02C0-4FD8-8925-8D0352A2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BAA79-9324-4267-A08D-6C3B8785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1E7BB-43AF-4B82-AFA4-C4C94DDE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AA64E-B138-491D-AB1B-F5D00F3B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기능 처리도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679EA-9701-4EB3-9973-DA9E257D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자동 등록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4FD44-0A1F-48D2-8BB5-F3DF72EA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35276-2F99-40CC-8076-EFD2B382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BEC2F5-C6E0-4C4C-B0B4-B7935006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2FA394-E3A9-47A3-9920-CE01440C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D54C4-34A0-4251-86D3-0C3A9984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 이벤트 기반 재고 반영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93938c7144b2e"/>
          <a:stretch xmlns:a="http://schemas.openxmlformats.org/drawingml/2006/main"/>
        </p:blipFill>
        <p:spPr>
          <a:xfrm xmlns:a="http://schemas.openxmlformats.org/drawingml/2006/main">
            <a:off x="895350" y="5400807"/>
            <a:ext cx="6896100" cy="656961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B91817-CD1E-4AED-8610-5026CBEB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B3A1FC-8C82-4A88-B3AE-2FE90F39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550569-C3B5-4859-A390-616CB525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입력·처리·출력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2914650"/>
              </a:tblGrid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이벤트, frame, fridge_id, 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전처리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YOLO·contour 후보 병합, fallback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처리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 분류, confidence, signature 안정화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/upload → fridge_items INSERT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/consume → UPDATE 또는 DELETE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JSON 결과, 이미지 URL, Flutter 목록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stable_frames·cooldown·timeout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63505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998781-9DE9-4CC0-A700-E2FE36B3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CCCF0-A78C-483B-A1C9-E21BFC4E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233C7-0299-45BC-B746-0F9AB404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4573F-6794-4AE5-9C03-ED919C06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7C5AC-CA23-476F-BD4D-EDAC8551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D400B-786D-4639-9120-1827FA02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8FEEB-63BA-4998-8462-FE9ECC24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순차 다이어그램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11058-6FA4-4C7C-A2D4-D1B271D2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0EFF6-3AA7-40DB-9D2F-355E5834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2017F-791E-470C-B9C3-659FC0E0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2CA6E-E2E1-4D68-A600-733EB578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AF933-D07A-4803-8CDB-2F903726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자동 등록·소비 호출 순서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981f37e79411d"/>
          <a:stretch xmlns:a="http://schemas.openxmlformats.org/drawingml/2006/main"/>
        </p:blipFill>
        <p:spPr>
          <a:xfrm xmlns:a="http://schemas.openxmlformats.org/drawingml/2006/main">
            <a:off x="1123294" y="2990850"/>
            <a:ext cx="6440212" cy="54768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02C4AA-059E-425F-8918-7932648A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53B739-87C1-45C4-8B89-F69689C1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10E47-3161-4DD9-B9C8-760D1E8B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참여자·책임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724150"/>
              </a:tblGrid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참여자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열기/닫기, 앱 조회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OPEN/CLOSE 이벤트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카메라·AI·전송 오케스트레이션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카메라/AI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생성·분류·confidence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Flask 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 검증·비즈니스 처리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MySQL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INSERT/SELECT/UPDATE/DELETE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Flutter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최신 목록·상세 화면 표시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691879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CB7D56-9E0A-48A4-9708-042C3A39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85B7F-425B-42DA-A4C4-DFBD0386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75FC6-FFCB-443B-8859-23967AD3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761AB-7A28-4358-9262-50EB3521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D7B99-D439-4E37-9C9F-D96EFDAA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CA6BC-BAC3-4EE0-AC37-377EFC9B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DE220-9AC6-4A47-BA5D-619360EA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알고리즘 명세서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B6718-8E56-4D13-9DD0-CD43063F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후보·분류·안정화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9F0D4-C356-4A26-ABCB-FE682846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FC249-5496-462A-B5C7-784A4A37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3DB8DA-0B9D-4B28-8450-EB7BA0B2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26573-6111-4489-83A2-093DA28F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8C5FF8-CD83-4F7E-85C5-1854C108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알고리즘 흐름도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80b02741f740b4"/>
          <a:stretch xmlns:a="http://schemas.openxmlformats.org/drawingml/2006/main"/>
        </p:blipFill>
        <p:spPr>
          <a:xfrm xmlns:a="http://schemas.openxmlformats.org/drawingml/2006/main">
            <a:off x="3282019" y="2990850"/>
            <a:ext cx="2122761" cy="54768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D4DA6-FA1B-4671-97F6-D58B207C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B1FE1-D803-4B5B-AFF6-539DDB5B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C819BB-29CA-4CA9-9899-5B467F4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단계별 명세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"/>
                <a:gridCol w="2143125"/>
                <a:gridCol w="1438275"/>
              </a:tblGrid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 detector box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후보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OpenCV contour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후보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없음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center fallback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 분류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top5·confidence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none/background 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uploadable 결과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signature 비교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stable_count 갱신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3회 안정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/upload 또는 /consume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cooldown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중복 전송 방지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317008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139A6B-C518-4B93-AF6F-1778EC09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2F39F-7F9D-44EC-A493-7BA8FC89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76F51-1503-4A3E-AC98-8C57ECE8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086C5-012B-4ED0-92CD-11A1AA50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ABB3F-51C8-40D6-9050-B1AF6006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ACFC7-231E-475A-83B9-4451662A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3304E-3A5A-45B3-8122-28EBC069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알고리즘 상세 명세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FD161-D436-4727-8BB6-057CD7C7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AA58B-5ADF-4CD6-9D8D-B6ED7D9E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742950" y="2076450"/>
          <a:ext xmlns:a="http://schemas.openxmlformats.org/drawingml/2006/main" cx="11868150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3333750"/>
                <a:gridCol w="7296150"/>
              </a:tblGrid>
              <a:tr h="401411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설정/입력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</a:tr>
              <a:tr h="401411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문 이벤트의 식재료 인식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생성·분류·안정화 후 재고 API 호출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1411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640×480 RGB frame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Picamera2 또는 OpenCV camera backend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401411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 → contour → center fallback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겹침 제거 후 최대 4개 후보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1411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best.pt, top5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min confidence 기준과 background 보정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401411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안정화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signature 3회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연속 프레임 일치 시 최종 확정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1411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제어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interval 1초, cooldown 20초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중복·오탐·과도한 업로드 방지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DFBB1E-5A98-4AE5-BC80-F516EC64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571500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A3B34-0447-47AE-A4FB-96ECDA87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537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정상 인식 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14FA98-13AD-4E46-99BF-4282E00D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43600"/>
            <a:ext cx="525780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원본 프레임·검출 박스·crop·label·confidence가 함께 보이는 화면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설명 예: “동일 tomato signature 3회 후 /upload 성공”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0D266-6B89-485C-84DF-673FB9BB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72425"/>
            <a:ext cx="537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23_algorithm_success.png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ECB996-132E-42B0-BEE5-2255B8BA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143500"/>
            <a:ext cx="579120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9C6344-5679-41FF-9C4E-3CC81AA4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3400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낮은 신뢰도/오인식 결과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58DA3A-24CE-4664-BDE9-D3DA7E0B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943600"/>
            <a:ext cx="533400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confidence 미달 또는 UNRECOGNIZED 사례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사용자가 재료명·상태를 보완하는 화면과 함께 제시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2C41D0-3C3F-41A9-804E-5B398F82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7972425"/>
            <a:ext cx="544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교체 파일: 23_algorithm_review.png</a:t>
            </a:r>
          </a:p>
        </p:txBody>
      </p:sp>
    </p:spTree>
    <p:extLst>
      <p:ext uri="{BB962C8B-B14F-4D97-AF65-F5344CB8AC3E}">
        <p14:creationId xmlns:p14="http://schemas.microsoft.com/office/powerpoint/2010/main" val="34913206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D76F02-3207-45F0-9F53-7FF12739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32203-FFF5-419C-BA90-2F3CBCFF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9EF21-A48B-4F65-9BB8-E7FE3A2F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AA06C-CC83-4E5A-9D02-FAA0F494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7821E-6320-45E0-90C3-723B3B17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DC5F3-C3BA-499F-87D4-BCD4B522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54CC3-97C8-4B24-87D2-396A3616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하드웨어 설계도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40ADC-ACE0-415C-87D7-5A371BB1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071E7-EE7F-4EC0-885A-AD2F2851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74EE5-A118-475B-B932-1FB0280B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14DD9-563B-460F-AC34-53724462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A638F-82E8-4436-8D4B-1B370A60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H/W 모듈·장착 설계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5f15ff0ed41d7"/>
          <a:stretch xmlns:a="http://schemas.openxmlformats.org/drawingml/2006/main"/>
        </p:blipFill>
        <p:spPr>
          <a:xfrm xmlns:a="http://schemas.openxmlformats.org/drawingml/2006/main">
            <a:off x="895350" y="4103778"/>
            <a:ext cx="6896100" cy="3251019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75FB4-060B-4AB8-A17B-E9096C27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65C72A-2BE9-4209-B41F-02FB4C59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6B066F-E6C5-415E-94E8-39DAF9F6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장착·안전·미확정 항목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2867025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설계 원칙/상태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식재료 동선이 보이는 위치, 모델·화각 실물 제작 후 확정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리드스위치/자석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문틀/문짝에 고정, 닫힘 시 근접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결로를 피하도록 냉장고 외부 제어부에 배치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배선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CSI/USB, GPIO17/GND, USB-C 전원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Wi-Fi/유선 LAN, Flask :5000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보호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케이블 고정·냉각·결로 대책은 실물 시험 후 확정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12329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218B49-B72A-4269-9013-83DB94D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80D99-DD86-4572-9EFF-6DF72D6B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D62E5-4A02-4880-80D9-C81FBE06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12CA7-3A18-4226-99DD-7F0809A2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38FAF-D43D-4B34-AB8A-32FB3D0E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0C79B-9356-4FB9-9E02-D793AFE0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C3C2B-5F1D-46DD-99A7-BD426B8D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프로그램·목록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F9C0C-3452-47A1-9A70-E4949BEB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B2A02-F1FC-4173-9AD4-1A4B6118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742950" y="2095500"/>
          <a:ext xmlns:a="http://schemas.openxmlformats.org/drawingml/2006/main" cx="11868150" cy="633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1381125"/>
                <a:gridCol w="3238500"/>
                <a:gridCol w="4524375"/>
                <a:gridCol w="1343025"/>
              </a:tblGrid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기능번호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프로그램/파일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신규/기존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login_screen.dart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REG-01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register_screen.dart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회원가입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FRG-01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fridge_selection_screen.dart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등록/선택/삭제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HOME-01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home_screen.dart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 메뉴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INV-01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APP/API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inventory_screen.dart, /inventory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목록 조회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INV-02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APP/API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inventory_detail_screen.dart, /inventory/{id}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상세 수정/삭제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RCP-01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APP/API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recipe_list_screen.dart, /recipes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추천 목록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RCP-02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APP/API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recipe_detail_screen.dart, /recipes/{id}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상세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H/W/AI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pi_fridge_camera.py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촬영·후보 추출·분류·전송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API-01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SERVER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app.py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인증·냉장고·재고·레시피 API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SERVER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init_db()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MySQL 테이블 생성·seed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607533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4FE514-5F74-4F87-A25B-1157049F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13577-266B-4879-85FC-040F2CF8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C2BC4-BAB9-41E9-A03C-228C6B43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0A71F-27CA-4E92-972C-887FFD87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04E74-D78A-4D4C-9458-AB316EFF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3D8B6-AC2E-4CB5-A5A3-F0A8CF62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73B8C-F695-4F05-BA9D-30927EDF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테이블 정의서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37032-B8B0-4E13-B3F2-02191EBE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57AE2-B869-4F1F-A866-A8752D06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E41EC-0184-4006-A514-0A9C2DA6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50600-FB25-4F75-888B-DE311D7F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5334000" cy="65722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6B70F-5AA1-489F-88C9-3D2B69C2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533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11AB7-249D-40C8-ABDC-F2C635F3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ERD 축약본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7e96830374924"/>
          <a:stretch xmlns:a="http://schemas.openxmlformats.org/drawingml/2006/main"/>
        </p:blipFill>
        <p:spPr>
          <a:xfrm xmlns:a="http://schemas.openxmlformats.org/drawingml/2006/main">
            <a:off x="857250" y="3846246"/>
            <a:ext cx="5067300" cy="3823232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959BC2-6C92-4F58-86DE-AF5D8425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6362700" cy="6572250"/>
          </a:xfrm>
          <a:prstGeom xmlns:a="http://schemas.openxmlformats.org/drawingml/2006/main" prst="roundRect">
            <a:avLst>
              <a:gd name="adj" fmla="val 1198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8CFE3B-BE94-4F2F-977B-31114390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6362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9B4E7E-FDD3-4387-8283-96D991BA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613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fridge_items 데이터사전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6400800" y="2952750"/>
          <a:ext xmlns:a="http://schemas.openxmlformats.org/drawingml/2006/main" cx="6057900" cy="5581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238250"/>
                <a:gridCol w="762000"/>
                <a:gridCol w="571500"/>
                <a:gridCol w="2057400"/>
              </a:tblGrid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항목명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Type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PK/FK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NULL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기본값/설명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fridge_item_id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AUTO_INCREMENT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fridge_id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FK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소속 냉장고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ingredient_id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마스터 식재료 매칭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display_name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VARCHAR(100)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표시명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quantity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DOUBLE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unit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VARCHAR(30)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VARCHAR(30)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RECOGNIZED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image_path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VARCHAR(255)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 이미지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crop_image_path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VARCHAR(255)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 이미지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confidence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DOUBLE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신뢰도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detected_name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VARCHAR(100)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추정 라벨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note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TEXT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메모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44406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08C117-D46B-48A3-83E2-D3C2323B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2ADE6-060B-405F-8E01-C4DF49FD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70851-783B-47C2-AE21-F4C0F497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EF6BC-D6EC-44C2-8385-B18D9FF7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77353-92E6-426C-8587-27557ACD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CB794-C2CC-403F-9919-42B76F77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60964-6C7F-43AE-B7EF-555D9879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핵심 소스코드(1)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506A5-3AE7-42D9-86BA-F1DAFDAB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D39B8-0DDA-424F-87E1-FF647526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7A2B5-C366-41BD-ABE0-6D39D6B0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5810250" cy="6191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162131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70E61-94B2-4E7B-8F93-E8CCDBFB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backend/app.py - upload_detection()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4A8CD-CE17-49BF-9747-CB4C211E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53530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권장 캡처: 1144~1159, 1161~1199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이미지 검증·저장, RECOGNIZED/UNRECOGNIZED 결정, fridge_items INSERT가 보이게 캡처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파일명·줄번호 표시, 개인정보·서버 정보 가림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6F9EE-993D-4C3E-904B-2AEF11FB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200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27_code_upload.png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093577-D47F-4E58-BBED-CA2F85B7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86000"/>
            <a:ext cx="5810250" cy="6191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162131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0C125F-D272-4E11-A62F-7187837F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backend/app.py - list_recipes()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DFD7D-B465-4E0F-8FF3-0B214D98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86100"/>
            <a:ext cx="53530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권장 캡처: 1018~1020, 1048~1082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1061~1066 missing 계산과 1081 정렬식을 포함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부족 재료가 적고 matched가 많은 순 추천 근거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3B3C46-A204-4D9E-8B65-9A0553B3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80200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27_code_recipes.png</a:t>
            </a:r>
          </a:p>
        </p:txBody>
      </p:sp>
    </p:spTree>
    <p:extLst>
      <p:ext uri="{BB962C8B-B14F-4D97-AF65-F5344CB8AC3E}">
        <p14:creationId xmlns:p14="http://schemas.microsoft.com/office/powerpoint/2010/main" val="74497724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221FC8-9EC1-4E40-BBD3-393819FA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7CDB5-89D5-41EF-988B-C6FE9E4C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6E711-DB40-4E37-B1BE-888EB7B7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03904-5F27-4E1A-A240-C1E9C62E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88298-F85B-4C27-B73F-AD63A25D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21D2E-CC43-4851-85E3-965D39CB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DE9DB-936D-4FA6-A462-C63E39F5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핵심 소스코드(2)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7AC42-21B4-4724-AD3A-B70D5F49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77504-5FAF-4711-BFEA-0CD70576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B04F9-C616-49D8-B9F6-A58637A5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5810250" cy="6191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162131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56EF02-B423-4B19-87D6-6FCE960C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backend/pi_fridge_camera.py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3519FD-0EE5-4E9E-962B-3BB66595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53530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collect_crop_candidates(): 319~329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scan_until_action(): 912~947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YOLO·contour·center fallback과 signature 안정화 구간을 “...”로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AA5EA-3462-48B0-ABF5-A5C9DE8A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200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28_code_pi.png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F70C2-BB39-42C4-9E2B-92DC0655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86000"/>
            <a:ext cx="5810250" cy="6191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162131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73965-97E9-44DA-A9CE-1A45C735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fridge_app/lib/services/api_service.dart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B97A21-F8A0-4822-B85C-94ADBCE0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86100"/>
            <a:ext cx="53530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fetchInventory(): 91~95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fetchRecipes(): 147~156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fetchRecipeDetail(): 158~166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REST URL과 응답 모델 변환이 보이게 캡처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D39B5D-9BE9-4876-BE5F-F85DBBD6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80200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28_code_flutter.png</a:t>
            </a:r>
          </a:p>
        </p:txBody>
      </p:sp>
    </p:spTree>
    <p:extLst>
      <p:ext uri="{BB962C8B-B14F-4D97-AF65-F5344CB8AC3E}">
        <p14:creationId xmlns:p14="http://schemas.microsoft.com/office/powerpoint/2010/main" val="90286086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C30B1B-961D-47A7-81F5-515463DD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564FC-946F-48E1-BCB0-365649C5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50795-9A0C-4DAB-A8F2-C367FC23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2C2B9-E42A-4A21-AB7C-88771094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54667-3374-43CE-8760-255FE988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35885-3258-45E8-9EDD-4F94CDA2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EA46E-5A95-4812-894C-A16B1311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참조-개발 환경 및 설명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99AA8-4101-4EE8-B322-38A366E1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14C7D-91A2-4A63-9555-F5168AED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742950" y="2095500"/>
          <a:ext xmlns:a="http://schemas.openxmlformats.org/drawingml/2006/main" cx="11868150" cy="590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1809750"/>
                <a:gridCol w="4953000"/>
                <a:gridCol w="3438525"/>
              </a:tblGrid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내역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</a:tr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 개발환경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 개발 PC, Raspberry Pi OS 64-bit, Android/Web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개발과 H/W 실행 환경 분리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 개발환경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개발도구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Visual Studio Code, Flutter, Python venv, Git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앱·백엔드·AI 브리지 개발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 개발환경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언어/프레임워크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Dart/Flutter, Python/Flask, SQL/MySQL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모바일 앱·API·DB 구성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개발환경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모델/라이브러리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Ultralytics YOLO, OpenCV, best.pt, yolov8n.pt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탐지와 식재료 분류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 구성장비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디바이스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 5, 카메라, 리드스위치, 자석, 냉장고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촬영과 문 이벤트 감지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통신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연동 방식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 REST, multipart upload, MJPEG preview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Pi·서버·앱 간 데이터 전달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관리환경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문서/형상관리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HANDOFF.md, Git repository, 실행 안내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테스트·인수인계 절차 표준화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CFAF9-940F-4944-B84A-9BDB435D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2867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주의: 저장소 URL·계정명·서버 IP·DB 비밀번호는 제출 자료에 노출하지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16326085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728E3E-61D4-40B0-B26E-724B25E9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0FF1E-27C4-411B-B996-E1945FEA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48564-EC1D-4305-BB14-5D8201F0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8FE5C-9916-48F0-885C-4EFDD963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310F4-A84E-4FE0-AA29-5F28F32D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B15A0-6AE4-4FE1-930A-3950F2CE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31FF3-1F81-4F66-90B7-0F36A927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S/W 기능 실사 사진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2AFA3-3918-47BE-A2AB-E8388540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A1CB1-3D29-49A5-9B88-CCF8C4EB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3B552-FEB5-49F0-AE62-6D123123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781300" cy="60007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736DB-6DBE-4A95-91CC-D29FD5BD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재고 목록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EC068-2892-4E0B-BE44-790EA023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23241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AI crop·재료명·상태 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82517-60AF-4654-89FC-BA42AA22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486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30_sw_inventory.png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13952-AF2D-47A4-AE72-7F731EA1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305050"/>
            <a:ext cx="2781300" cy="60007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9A36BA-D5D2-4BD7-B18F-422CA7B2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49555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재고 상세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317AAC-BD4D-4BF9-9D96-6C6E1962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105150"/>
            <a:ext cx="23241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수량·단위·상태 수정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466071-658B-47B2-B9DD-AF2EDFEE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78486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30_sw_detail.png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42B207-3C69-42FA-BF3F-F6CAA35D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05050"/>
            <a:ext cx="2781300" cy="60007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AED28F-7E56-4588-A401-2CA4BA8F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9555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레시피 목록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D64556-2752-4891-87FE-EB968EE6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05150"/>
            <a:ext cx="23241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부족 재료 수·추천 순서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C6E2F6-23C9-41CC-8A3F-684F8286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78486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30_sw_recipes.png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8E5651-5DF1-4DFA-A871-3703C8B1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305050"/>
            <a:ext cx="2781300" cy="60007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8E6871-A277-4AED-BA9B-0D457DEA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49555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레시피 상세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EE982A-DB27-4550-B996-873CC2B2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105150"/>
            <a:ext cx="23241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필요·부족 재료와 조리법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452375-D4E2-4D71-8027-65E82E32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78486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30_sw_recipe_detail.png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5A5151-717D-464F-8EE7-092102B7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실행 화면은 동일 사용자·냉장고 데이터 기준으로 촬영하고 개인정보·서버 주소를 가린다.</a:t>
            </a:r>
          </a:p>
        </p:txBody>
      </p:sp>
    </p:spTree>
    <p:extLst>
      <p:ext uri="{BB962C8B-B14F-4D97-AF65-F5344CB8AC3E}">
        <p14:creationId xmlns:p14="http://schemas.microsoft.com/office/powerpoint/2010/main" val="29608032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59B390-34D4-4DBF-8EDA-BE8E4CB3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7B802-4613-442A-B16A-55EF7F6F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C4F42-D297-4AA3-877F-ACBBD81B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D855F-A593-414A-97B1-7D598779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7BC4F-2181-4F6D-A7FC-F67E3686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4DA13-F186-4B37-9BF6-214446A0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54CB2-054D-40BE-99C0-E084AD02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참조-H/W 기능 실사 사진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FCA5F-0E38-4808-9C41-AFB90E60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BF9E2-143B-4303-97C6-7A684F59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11E1D-8C88-438C-AB2A-88201FFD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F287F-D7CD-4CF3-B352-9C3F0ECA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전체 장착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427B8-476B-4722-B157-108BC6C8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냉장고·Pi·카메라·센서·케이블 경로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0D049-7AEE-4077-B35C-BF35DFCF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339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31_hw_01.jpg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F50F9-1AC7-4C0B-B5B1-698AAAFF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8600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9C800-CB07-4D2E-8801-AFD373DB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7650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Pi-카메라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5FA3F4-B339-4DC1-85A7-F6B20D13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8610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CSI 또는 USB 연결부·촬영 방향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13FE5-B888-45B6-9516-B8DA22C7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7339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31_hw_02.jpg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FEA513-A40E-49FE-9B8C-1A7D796C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8600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D37A88-F881-471F-98BF-368EBD4C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7650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GPIO17/GND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0991B7-1728-4E5F-8882-926D760C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8610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물리 핀 11과 GND 배선 근접 사진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E64E11-0C0E-439F-BDC5-F303BB4E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339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31_hw_03.jpg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004B03-5679-46FC-94A4-1E1A1958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7B7F66-8756-45ED-B3D3-9D5383A8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문 열림/닫힘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270293-C047-40FA-A617-B0B12B39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22935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리드스위치·자석 거리 비교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4B801E-C88A-49A3-A85D-6DF478E1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7717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31_hw_04.jpg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7F57A9-EC3C-4B8F-84D5-6405CACA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2925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D4D889-35AF-4B42-8826-3881E63E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6197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MJPEG 인식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9D60A5-C4B5-4A77-89BD-C5A8B350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22935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실제 식재료와 검출 박스 화면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E274A8-3E92-4D75-819A-54789FC8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87717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31_hw_05.jpg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5CE114-28C5-498A-92EE-443CD439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2925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B955C8-74D5-424E-9637-CD84DE1D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6197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앱 재고 반영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3347F2-24CF-4503-92CE-70587E39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22935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식재료 투입 후 목록 갱신 결과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BB50CB-099D-4B58-908E-CD802F9E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87717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31_hw_06.jpg</a:t>
            </a:r>
          </a:p>
        </p:txBody>
      </p:sp>
    </p:spTree>
    <p:extLst>
      <p:ext uri="{BB962C8B-B14F-4D97-AF65-F5344CB8AC3E}">
        <p14:creationId xmlns:p14="http://schemas.microsoft.com/office/powerpoint/2010/main" val="44120617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1397F7-9438-475F-B417-A5FB5E36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A40BB-0F81-4D59-944B-2E636828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67305-4183-4123-8447-E459B56D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1CCE4-4705-4DEF-B785-6B839F9F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DD58D-0E18-4D0F-BA97-4A7A8DE2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788C7-16FA-4771-947C-065AE631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9DF9E-13C7-4665-A1C3-E79AC6F4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동영상 촬영 콘티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AC9B6-1A02-4943-823A-C4A4015B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A47311-B0F4-446B-A55B-46C217BA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07607-A457-4025-BB25-8087E2A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5810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01700-5244-4B60-A4A3-E81B308D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#1 문제 제시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16A95A-8A7A-4FDD-A5C2-2B5F2F72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53530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고령인구·노년 1인가구 증가와 수기 재고관리 부담을 1~2문장으로 설명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815D36-C942-4B5E-AD5A-7DBA15F6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3392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32_story_1.png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8BAD7-E06D-443C-894C-2BDAABD8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86000"/>
            <a:ext cx="5810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D8E71-BDAC-4B0C-BE88-B72E435E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#2 하드웨어 소개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D9F9BB-3FAC-432E-A0FA-C4F24E9E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86100"/>
            <a:ext cx="53530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카메라·리드스위치·Raspberry Pi 장착 위치와 연결을 소개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64BA40-6AF5-48A1-8926-97E5E185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3392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32_story_2.png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60D2BE-DDF1-41E7-8B58-96205651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5810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AA6900-B6C3-41ED-AD2A-076374BB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#3 자동 인식·저장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2091B3-2734-4C32-AD51-8BDD9FE0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229350"/>
            <a:ext cx="53530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문 열림 → 촬영 → AI 인식 → /upload → 재고 반영을 시연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5FADFE-99FC-44C3-AC31-51D67470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7717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교체 파일: 32_story_3.png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8CAF16-092F-4C05-BCFC-4454F7B2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429250"/>
            <a:ext cx="5810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19050">
            <a:solidFill>
              <a:srgbClr val="963632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50750E-16B9-42F0-906E-5DD7E801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61975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rPr>
              <a:t>#4 앱 확인·레시피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9289D8-0FEB-498D-9387-56378249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229350"/>
            <a:ext cx="53530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확인 필요 항목 검수와 부족 재료가 적은 레시피 추천을 시연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E55B53-E58C-4DFA-9B28-10743749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787717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rPr>
              <a:t>교체 파일: 32_story_4.png</a:t>
            </a:r>
          </a:p>
        </p:txBody>
      </p:sp>
    </p:spTree>
    <p:extLst>
      <p:ext uri="{BB962C8B-B14F-4D97-AF65-F5344CB8AC3E}">
        <p14:creationId xmlns:p14="http://schemas.microsoft.com/office/powerpoint/2010/main" val="135507755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38157A-7F04-45E8-968A-0DF51721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21C38-81C7-456D-869E-145B0D7B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D6F2A-226B-4E77-8FA0-8E18061C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1BC85-021C-4202-9BC5-81CA2C18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E4E1E-0149-498C-B4EA-7F5C1624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FBFC9-CCCE-48DE-80BA-9923E17D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8701F-1DBC-4678-B276-58F33674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참조-프로젝트 관리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5534F-2DAB-411D-840C-5118581B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39BE3-EFE1-4A42-ABFD-2FB9F394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34D11-4437-4058-890E-6972A261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3733800" cy="60007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D18F4-3B46-4817-A54C-4AF021FA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프로젝트 관리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B0C48-D7B4-4FDE-B15E-707F3642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32766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주간 일정 또는 Kanban 보드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완료/진행/대기 상태와 담당을 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7F702E-F9D7-4DE3-92F8-4CA2AA50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4860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33_project_board.png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DEE2F-FF01-4DD8-87FB-DD955D10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05050"/>
            <a:ext cx="3733800" cy="60007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547EC-0C6D-4E23-A7C5-0A7CF6A3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955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형상관리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4ADFD4-ED6C-452E-9731-A61C0A3C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05150"/>
            <a:ext cx="32766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Git commit·branch 화면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개인 계정명·원격 저장소 URL은 가림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CDD973-12A1-4A24-9401-2CA601A8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84860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33_git_history.png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AA5FA-7088-4468-92D0-318C44FE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05050"/>
            <a:ext cx="3733800" cy="60007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B1FB6F-7578-44DD-BA22-BC5F5828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955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이슈관리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ADD8D8-67D9-4173-A0A9-773CB932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05150"/>
            <a:ext cx="32766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오류-원인-해결-검증이 보이는 이슈 화면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재현 조건과 수정 commit을 연결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C1EF08-1594-4615-A1F5-B27BA74F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84860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교체 파일: 33_issue_log.png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EE337E-7C87-4844-8FBE-6937B20C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관리 증빙은 날짜·상태·해결 결과가 보이도록 캡처하고 개인정보는 제거한다.</a:t>
            </a:r>
          </a:p>
        </p:txBody>
      </p:sp>
    </p:spTree>
    <p:extLst>
      <p:ext uri="{BB962C8B-B14F-4D97-AF65-F5344CB8AC3E}">
        <p14:creationId xmlns:p14="http://schemas.microsoft.com/office/powerpoint/2010/main" val="63011042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39D8DC-266F-41C8-A613-95783714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23DDF-BF72-410F-A507-F34EC118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477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3F5FA9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3F5FA9"/>
                </a:solidFill>
                <a:latin typeface="Malgun Gothic"/>
                <a:ea typeface="Malgun Gothic"/>
                <a:cs typeface="Malgun Gothic"/>
              </a:rPr>
              <a:t>제작설계 핵심 정리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F2901-A213-444D-9571-7C27D49A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0668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3141E-66ED-4DB3-8E71-176AC31F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1937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직접 수요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1FB4E-EBC5-4BD8-A0D9-0421CE61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19375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초고령사회와 노년 1인가구 증가에 맞춘 식재료 관리 자동화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FD5C8-74AA-4CE3-9E39-1276B316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10668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145F9-D352-43CD-9BFD-4B7FD671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4812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구현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7C001-300C-4DEC-A65D-80E4D3B8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문 이벤트·엣지 AI·Flask/MySQL·Flutter를 연결한 모듈형 구조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228DE-C9FC-4094-BC0D-DE05CB77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10668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9E6F3-8619-4212-9275-FB18B294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7687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신뢰성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A9243-7404-4A16-9D34-4D4A5069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76875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stable frame과 UNRECOGNIZED 사용자 검수로 자동화와 정확성 균형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302C5-416F-4769-8BDD-7ABC8C70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2390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rPr>
              <a:t>최종 제출 전 교체할 자료: 통계 그래프 · 기술 동향 그림 · 코드 캡처 · S/W/H/W 실사 · 관리 증빙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489EA5-090B-4E87-AC93-506E0A9C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81915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162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3F5FA9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3F5FA9"/>
                </a:solidFill>
                <a:latin typeface="Malgun Gothic"/>
                <a:ea typeface="Malgun Gothic"/>
                <a:cs typeface="Malgun Gothic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807437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2026-07-12T07:44:26.0410000Z</dcterms:created>
  <dcterms:modified xsi:type="dcterms:W3CDTF">2026-07-12T07:44:26.0410000Z</dcterms:modified>
</coreProperties>
</file>