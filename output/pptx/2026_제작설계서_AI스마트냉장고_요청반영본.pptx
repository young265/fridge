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7a14693a444f5e" /><Relationship Type="http://schemas.openxmlformats.org/officeDocument/2006/relationships/extended-properties" Target="/docProps/app.xml" Id="Ra67136a405f84301" /><Relationship Type="http://schemas.openxmlformats.org/officeDocument/2006/relationships/officeDocument" Target="/ppt/presentation.xml" Id="R7d455f73e06441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92f191d2ae4b4b"/>
  </p:sldMasterIdLst>
  <p:notesMasterIdLst>
    <p:notesMasterId xmlns:r="http://schemas.openxmlformats.org/officeDocument/2006/relationships" r:id="R395ee46f0c5f4b1c"/>
  </p:notesMasterIdLst>
  <p:sldIdLst>
    <p:sldId xmlns:r="http://schemas.openxmlformats.org/officeDocument/2006/relationships" id="256" r:id="Rce8bc99d0c48405f"/>
    <p:sldId xmlns:r="http://schemas.openxmlformats.org/officeDocument/2006/relationships" id="257" r:id="Rc1c0ccdd552b41d7"/>
    <p:sldId xmlns:r="http://schemas.openxmlformats.org/officeDocument/2006/relationships" id="258" r:id="Rdd4cec1e3ee1428c"/>
    <p:sldId xmlns:r="http://schemas.openxmlformats.org/officeDocument/2006/relationships" id="259" r:id="R0bf4b0f717814235"/>
    <p:sldId xmlns:r="http://schemas.openxmlformats.org/officeDocument/2006/relationships" id="260" r:id="Rcb5f0553b0c94446"/>
    <p:sldId xmlns:r="http://schemas.openxmlformats.org/officeDocument/2006/relationships" id="261" r:id="R941e4a35acb145e3"/>
    <p:sldId xmlns:r="http://schemas.openxmlformats.org/officeDocument/2006/relationships" id="262" r:id="R729015a94c1a4827"/>
    <p:sldId xmlns:r="http://schemas.openxmlformats.org/officeDocument/2006/relationships" id="263" r:id="R97f5b26417eb4337"/>
    <p:sldId xmlns:r="http://schemas.openxmlformats.org/officeDocument/2006/relationships" id="264" r:id="Ra890b73aece84e18"/>
    <p:sldId xmlns:r="http://schemas.openxmlformats.org/officeDocument/2006/relationships" id="265" r:id="R4bc66e67b33944bb"/>
    <p:sldId xmlns:r="http://schemas.openxmlformats.org/officeDocument/2006/relationships" id="266" r:id="Re7508c8b19b84225"/>
    <p:sldId xmlns:r="http://schemas.openxmlformats.org/officeDocument/2006/relationships" id="267" r:id="Re73f3a4c46f54b98"/>
    <p:sldId xmlns:r="http://schemas.openxmlformats.org/officeDocument/2006/relationships" id="268" r:id="R4378092375754e34"/>
    <p:sldId xmlns:r="http://schemas.openxmlformats.org/officeDocument/2006/relationships" id="269" r:id="Rc922b8853c4d4fe8"/>
    <p:sldId xmlns:r="http://schemas.openxmlformats.org/officeDocument/2006/relationships" id="270" r:id="R1fbc7119e32b424c"/>
    <p:sldId xmlns:r="http://schemas.openxmlformats.org/officeDocument/2006/relationships" id="271" r:id="Rfa7970d604264df8"/>
    <p:sldId xmlns:r="http://schemas.openxmlformats.org/officeDocument/2006/relationships" id="272" r:id="R27db03d1e71a4ef3"/>
    <p:sldId xmlns:r="http://schemas.openxmlformats.org/officeDocument/2006/relationships" id="273" r:id="Re2fdc1b80bd04161"/>
    <p:sldId xmlns:r="http://schemas.openxmlformats.org/officeDocument/2006/relationships" id="274" r:id="Rdf5a29a5f8ac467b"/>
    <p:sldId xmlns:r="http://schemas.openxmlformats.org/officeDocument/2006/relationships" id="275" r:id="R57d6029075da4182"/>
    <p:sldId xmlns:r="http://schemas.openxmlformats.org/officeDocument/2006/relationships" id="276" r:id="R84e436895a474de9"/>
    <p:sldId xmlns:r="http://schemas.openxmlformats.org/officeDocument/2006/relationships" id="277" r:id="R8671471fe8c646a8"/>
    <p:sldId xmlns:r="http://schemas.openxmlformats.org/officeDocument/2006/relationships" id="278" r:id="R7fab1eeeeb8f4306"/>
    <p:sldId xmlns:r="http://schemas.openxmlformats.org/officeDocument/2006/relationships" id="279" r:id="R129c3649056745d0"/>
    <p:sldId xmlns:r="http://schemas.openxmlformats.org/officeDocument/2006/relationships" id="280" r:id="R288a791367304501"/>
    <p:sldId xmlns:r="http://schemas.openxmlformats.org/officeDocument/2006/relationships" id="281" r:id="R56ab5c932c9c4e73"/>
    <p:sldId xmlns:r="http://schemas.openxmlformats.org/officeDocument/2006/relationships" id="282" r:id="Rff7d03a1ee99417a"/>
    <p:sldId xmlns:r="http://schemas.openxmlformats.org/officeDocument/2006/relationships" id="283" r:id="Ra39040ec0ceb472f"/>
    <p:sldId xmlns:r="http://schemas.openxmlformats.org/officeDocument/2006/relationships" id="284" r:id="R5722a584490b4135"/>
    <p:sldId xmlns:r="http://schemas.openxmlformats.org/officeDocument/2006/relationships" id="285" r:id="R014b2d5d613342ec"/>
    <p:sldId xmlns:r="http://schemas.openxmlformats.org/officeDocument/2006/relationships" id="286" r:id="R23855bc126944fa6"/>
    <p:sldId xmlns:r="http://schemas.openxmlformats.org/officeDocument/2006/relationships" id="287" r:id="Reae7915844524ef6"/>
    <p:sldId xmlns:r="http://schemas.openxmlformats.org/officeDocument/2006/relationships" id="288" r:id="Rb1bdc60f23764d69"/>
    <p:sldId xmlns:r="http://schemas.openxmlformats.org/officeDocument/2006/relationships" id="289" r:id="Rfa1389cbd3ef4f64"/>
    <p:sldId xmlns:r="http://schemas.openxmlformats.org/officeDocument/2006/relationships" id="290" r:id="R7f0a56b9456e4d09"/>
    <p:sldId xmlns:r="http://schemas.openxmlformats.org/officeDocument/2006/relationships" id="291" r:id="R1d8d28ada8ca4797"/>
    <p:sldId xmlns:r="http://schemas.openxmlformats.org/officeDocument/2006/relationships" id="292" r:id="R75daddbda82f43ab"/>
    <p:sldId xmlns:r="http://schemas.openxmlformats.org/officeDocument/2006/relationships" id="293" r:id="Rb4e9f86dcfe64270"/>
    <p:sldId xmlns:r="http://schemas.openxmlformats.org/officeDocument/2006/relationships" id="294" r:id="R5deefe44a38f408e"/>
    <p:sldId xmlns:r="http://schemas.openxmlformats.org/officeDocument/2006/relationships" id="295" r:id="Rb330949c2c5a41e2"/>
    <p:sldId xmlns:r="http://schemas.openxmlformats.org/officeDocument/2006/relationships" id="296" r:id="R9761d76b23ce4e29"/>
    <p:sldId xmlns:r="http://schemas.openxmlformats.org/officeDocument/2006/relationships" id="297" r:id="Ra6261270da184af4"/>
  </p:sldIdLst>
  <p:sldSz cx="13335000" cy="94297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38c53cac794118" /><Relationship Type="http://schemas.openxmlformats.org/officeDocument/2006/relationships/slideMaster" Target="/ppt/slideMasters/slideMaster1.xml" Id="Re692f191d2ae4b4b" /><Relationship Type="http://schemas.openxmlformats.org/officeDocument/2006/relationships/notesMaster" Target="/ppt/notesMasters/notesMaster1.xml" Id="R395ee46f0c5f4b1c" /><Relationship Type="http://schemas.openxmlformats.org/officeDocument/2006/relationships/presProps" Target="/ppt/presProps.xml" Id="R8a7d95569c6f4ebf" /><Relationship Type="http://schemas.openxmlformats.org/officeDocument/2006/relationships/tableStyles" Target="/ppt/tableStyles.xml" Id="Rb14fd6326bd3438a" /><Relationship Type="http://schemas.openxmlformats.org/officeDocument/2006/relationships/slide" Target="/ppt/slides/slide1.xml" Id="Rce8bc99d0c48405f" /><Relationship Type="http://schemas.openxmlformats.org/officeDocument/2006/relationships/slide" Target="/ppt/slides/slide2.xml" Id="Rc1c0ccdd552b41d7" /><Relationship Type="http://schemas.openxmlformats.org/officeDocument/2006/relationships/slide" Target="/ppt/slides/slide3.xml" Id="Rdd4cec1e3ee1428c" /><Relationship Type="http://schemas.openxmlformats.org/officeDocument/2006/relationships/slide" Target="/ppt/slides/slide4.xml" Id="R0bf4b0f717814235" /><Relationship Type="http://schemas.openxmlformats.org/officeDocument/2006/relationships/slide" Target="/ppt/slides/slide5.xml" Id="Rcb5f0553b0c94446" /><Relationship Type="http://schemas.openxmlformats.org/officeDocument/2006/relationships/slide" Target="/ppt/slides/slide6.xml" Id="R941e4a35acb145e3" /><Relationship Type="http://schemas.openxmlformats.org/officeDocument/2006/relationships/slide" Target="/ppt/slides/slide7.xml" Id="R729015a94c1a4827" /><Relationship Type="http://schemas.openxmlformats.org/officeDocument/2006/relationships/slide" Target="/ppt/slides/slide8.xml" Id="R97f5b26417eb4337" /><Relationship Type="http://schemas.openxmlformats.org/officeDocument/2006/relationships/slide" Target="/ppt/slides/slide9.xml" Id="Ra890b73aece84e18" /><Relationship Type="http://schemas.openxmlformats.org/officeDocument/2006/relationships/slide" Target="/ppt/slides/slide10.xml" Id="R4bc66e67b33944bb" /><Relationship Type="http://schemas.openxmlformats.org/officeDocument/2006/relationships/slide" Target="/ppt/slides/slide11.xml" Id="Re7508c8b19b84225" /><Relationship Type="http://schemas.openxmlformats.org/officeDocument/2006/relationships/slide" Target="/ppt/slides/slide12.xml" Id="Re73f3a4c46f54b98" /><Relationship Type="http://schemas.openxmlformats.org/officeDocument/2006/relationships/slide" Target="/ppt/slides/slide13.xml" Id="R4378092375754e34" /><Relationship Type="http://schemas.openxmlformats.org/officeDocument/2006/relationships/slide" Target="/ppt/slides/slide14.xml" Id="Rc922b8853c4d4fe8" /><Relationship Type="http://schemas.openxmlformats.org/officeDocument/2006/relationships/slide" Target="/ppt/slides/slide15.xml" Id="R1fbc7119e32b424c" /><Relationship Type="http://schemas.openxmlformats.org/officeDocument/2006/relationships/slide" Target="/ppt/slides/slide16.xml" Id="Rfa7970d604264df8" /><Relationship Type="http://schemas.openxmlformats.org/officeDocument/2006/relationships/slide" Target="/ppt/slides/slide17.xml" Id="R27db03d1e71a4ef3" /><Relationship Type="http://schemas.openxmlformats.org/officeDocument/2006/relationships/slide" Target="/ppt/slides/slide18.xml" Id="Re2fdc1b80bd04161" /><Relationship Type="http://schemas.openxmlformats.org/officeDocument/2006/relationships/slide" Target="/ppt/slides/slide19.xml" Id="Rdf5a29a5f8ac467b" /><Relationship Type="http://schemas.openxmlformats.org/officeDocument/2006/relationships/slide" Target="/ppt/slides/slide20.xml" Id="R57d6029075da4182" /><Relationship Type="http://schemas.openxmlformats.org/officeDocument/2006/relationships/slide" Target="/ppt/slides/slide21.xml" Id="R84e436895a474de9" /><Relationship Type="http://schemas.openxmlformats.org/officeDocument/2006/relationships/slide" Target="/ppt/slides/slide22.xml" Id="R8671471fe8c646a8" /><Relationship Type="http://schemas.openxmlformats.org/officeDocument/2006/relationships/slide" Target="/ppt/slides/slide23.xml" Id="R7fab1eeeeb8f4306" /><Relationship Type="http://schemas.openxmlformats.org/officeDocument/2006/relationships/slide" Target="/ppt/slides/slide24.xml" Id="R129c3649056745d0" /><Relationship Type="http://schemas.openxmlformats.org/officeDocument/2006/relationships/slide" Target="/ppt/slides/slide25.xml" Id="R288a791367304501" /><Relationship Type="http://schemas.openxmlformats.org/officeDocument/2006/relationships/slide" Target="/ppt/slides/slide26.xml" Id="R56ab5c932c9c4e73" /><Relationship Type="http://schemas.openxmlformats.org/officeDocument/2006/relationships/slide" Target="/ppt/slides/slide27.xml" Id="Rff7d03a1ee99417a" /><Relationship Type="http://schemas.openxmlformats.org/officeDocument/2006/relationships/slide" Target="/ppt/slides/slide28.xml" Id="Ra39040ec0ceb472f" /><Relationship Type="http://schemas.openxmlformats.org/officeDocument/2006/relationships/slide" Target="/ppt/slides/slide29.xml" Id="R5722a584490b4135" /><Relationship Type="http://schemas.openxmlformats.org/officeDocument/2006/relationships/slide" Target="/ppt/slides/slide30.xml" Id="R014b2d5d613342ec" /><Relationship Type="http://schemas.openxmlformats.org/officeDocument/2006/relationships/slide" Target="/ppt/slides/slide31.xml" Id="R23855bc126944fa6" /><Relationship Type="http://schemas.openxmlformats.org/officeDocument/2006/relationships/slide" Target="/ppt/slides/slide32.xml" Id="Reae7915844524ef6" /><Relationship Type="http://schemas.openxmlformats.org/officeDocument/2006/relationships/slide" Target="/ppt/slides/slide33.xml" Id="Rb1bdc60f23764d69" /><Relationship Type="http://schemas.openxmlformats.org/officeDocument/2006/relationships/slide" Target="/ppt/slides/slide34.xml" Id="Rfa1389cbd3ef4f64" /><Relationship Type="http://schemas.openxmlformats.org/officeDocument/2006/relationships/slide" Target="/ppt/slides/slide35.xml" Id="R7f0a56b9456e4d09" /><Relationship Type="http://schemas.openxmlformats.org/officeDocument/2006/relationships/slide" Target="/ppt/slides/slide36.xml" Id="R1d8d28ada8ca4797" /><Relationship Type="http://schemas.openxmlformats.org/officeDocument/2006/relationships/slide" Target="/ppt/slides/slide37.xml" Id="R75daddbda82f43ab" /><Relationship Type="http://schemas.openxmlformats.org/officeDocument/2006/relationships/slide" Target="/ppt/slides/slide38.xml" Id="Rb4e9f86dcfe64270" /><Relationship Type="http://schemas.openxmlformats.org/officeDocument/2006/relationships/slide" Target="/ppt/slides/slide39.xml" Id="R5deefe44a38f408e" /><Relationship Type="http://schemas.openxmlformats.org/officeDocument/2006/relationships/slide" Target="/ppt/slides/slide40.xml" Id="Rb330949c2c5a41e2" /><Relationship Type="http://schemas.openxmlformats.org/officeDocument/2006/relationships/slide" Target="/ppt/slides/slide41.xml" Id="R9761d76b23ce4e29" /><Relationship Type="http://schemas.openxmlformats.org/officeDocument/2006/relationships/slide" Target="/ppt/slides/slide42.xml" Id="Ra6261270da184a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6e57c7a47b49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19e7a523dd4b1e" /><Relationship Type="http://schemas.openxmlformats.org/officeDocument/2006/relationships/notesMaster" Target="/ppt/notesMasters/notesMaster1.xml" Id="R0d097b82806c44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9989cc39e541e0" /><Relationship Type="http://schemas.openxmlformats.org/officeDocument/2006/relationships/notesMaster" Target="/ppt/notesMasters/notesMaster1.xml" Id="R3cd2de40186544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20920826e2491a" /><Relationship Type="http://schemas.openxmlformats.org/officeDocument/2006/relationships/notesMaster" Target="/ppt/notesMasters/notesMaster1.xml" Id="Re0c70d31aedf4f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a5d44234c84461" /><Relationship Type="http://schemas.openxmlformats.org/officeDocument/2006/relationships/notesMaster" Target="/ppt/notesMasters/notesMaster1.xml" Id="Rd38d2db229ff40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9ec466f75f4864" /><Relationship Type="http://schemas.openxmlformats.org/officeDocument/2006/relationships/notesMaster" Target="/ppt/notesMasters/notesMaster1.xml" Id="Rd3fd911f28ce4a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429125ef9b47e2" /><Relationship Type="http://schemas.openxmlformats.org/officeDocument/2006/relationships/notesMaster" Target="/ppt/notesMasters/notesMaster1.xml" Id="Rf210ab6c85f648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afb656a46d4cd0" /><Relationship Type="http://schemas.openxmlformats.org/officeDocument/2006/relationships/notesMaster" Target="/ppt/notesMasters/notesMaster1.xml" Id="Rdc4f854a1b3940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5e25b2175e44ea" /><Relationship Type="http://schemas.openxmlformats.org/officeDocument/2006/relationships/notesMaster" Target="/ppt/notesMasters/notesMaster1.xml" Id="R293644cae0074a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c84d7cfc0a4734" /><Relationship Type="http://schemas.openxmlformats.org/officeDocument/2006/relationships/notesMaster" Target="/ppt/notesMasters/notesMaster1.xml" Id="R100b86dda7ae4c8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b14f496dd54b10" /><Relationship Type="http://schemas.openxmlformats.org/officeDocument/2006/relationships/notesMaster" Target="/ppt/notesMasters/notesMaster1.xml" Id="R4403674f93a244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2609f64244f43bb" /><Relationship Type="http://schemas.openxmlformats.org/officeDocument/2006/relationships/notesMaster" Target="/ppt/notesMasters/notesMaster1.xml" Id="R24a329d099ae458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c69dee5835845be" /><Relationship Type="http://schemas.openxmlformats.org/officeDocument/2006/relationships/notesMaster" Target="/ppt/notesMasters/notesMaster1.xml" Id="R834212210b964a7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31cdbc3ffc640c8" /><Relationship Type="http://schemas.openxmlformats.org/officeDocument/2006/relationships/notesMaster" Target="/ppt/notesMasters/notesMaster1.xml" Id="R2720c40fc3fe44c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d50d40cdcca4b58" /><Relationship Type="http://schemas.openxmlformats.org/officeDocument/2006/relationships/notesMaster" Target="/ppt/notesMasters/notesMaster1.xml" Id="R8291fc0468a2479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692e9cdd0d24de9" /><Relationship Type="http://schemas.openxmlformats.org/officeDocument/2006/relationships/notesMaster" Target="/ppt/notesMasters/notesMaster1.xml" Id="Racbdd974613f499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b13af6edd5a42eb" /><Relationship Type="http://schemas.openxmlformats.org/officeDocument/2006/relationships/notesMaster" Target="/ppt/notesMasters/notesMaster1.xml" Id="R779c8e43c143469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295178ef8894279" /><Relationship Type="http://schemas.openxmlformats.org/officeDocument/2006/relationships/notesMaster" Target="/ppt/notesMasters/notesMaster1.xml" Id="R88c99bbbd9ed42e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fa10340e249440a" /><Relationship Type="http://schemas.openxmlformats.org/officeDocument/2006/relationships/notesMaster" Target="/ppt/notesMasters/notesMaster1.xml" Id="Rd0e556638c48454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ca19365373e46e3" /><Relationship Type="http://schemas.openxmlformats.org/officeDocument/2006/relationships/notesMaster" Target="/ppt/notesMasters/notesMaster1.xml" Id="Rc79d8cdab020411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357802eb8d04c2b" /><Relationship Type="http://schemas.openxmlformats.org/officeDocument/2006/relationships/notesMaster" Target="/ppt/notesMasters/notesMaster1.xml" Id="R15ec9220245548b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20b95553d1840d8" /><Relationship Type="http://schemas.openxmlformats.org/officeDocument/2006/relationships/notesMaster" Target="/ppt/notesMasters/notesMaster1.xml" Id="R76ed2b6f6e5b447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dcdc5f5cc4144cc" /><Relationship Type="http://schemas.openxmlformats.org/officeDocument/2006/relationships/notesMaster" Target="/ppt/notesMasters/notesMaster1.xml" Id="Rc337e6da7d82487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77bb1f1d03b4f7a" /><Relationship Type="http://schemas.openxmlformats.org/officeDocument/2006/relationships/notesMaster" Target="/ppt/notesMasters/notesMaster1.xml" Id="R7892f40e76da489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5c1418a552e404c" /><Relationship Type="http://schemas.openxmlformats.org/officeDocument/2006/relationships/notesMaster" Target="/ppt/notesMasters/notesMaster1.xml" Id="R44ff6f3a3ae4466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73bc9cd019944cf" /><Relationship Type="http://schemas.openxmlformats.org/officeDocument/2006/relationships/notesMaster" Target="/ppt/notesMasters/notesMaster1.xml" Id="R1806597e124241a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de28d1ebce6455e" /><Relationship Type="http://schemas.openxmlformats.org/officeDocument/2006/relationships/notesMaster" Target="/ppt/notesMasters/notesMaster1.xml" Id="R85db8c06c022432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d8b39327c2743ca" /><Relationship Type="http://schemas.openxmlformats.org/officeDocument/2006/relationships/notesMaster" Target="/ppt/notesMasters/notesMaster1.xml" Id="R98a87b86af2b496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ac3ce2f97d74aeb" /><Relationship Type="http://schemas.openxmlformats.org/officeDocument/2006/relationships/notesMaster" Target="/ppt/notesMasters/notesMaster1.xml" Id="Ra6da3c0cb64245c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11c10942a17485d" /><Relationship Type="http://schemas.openxmlformats.org/officeDocument/2006/relationships/notesMaster" Target="/ppt/notesMasters/notesMaster1.xml" Id="Raf1a64b7ee094d8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bd3e8115c3b44e9" /><Relationship Type="http://schemas.openxmlformats.org/officeDocument/2006/relationships/notesMaster" Target="/ppt/notesMasters/notesMaster1.xml" Id="Rab499b50f0064a5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d7b7402c8b144ff" /><Relationship Type="http://schemas.openxmlformats.org/officeDocument/2006/relationships/notesMaster" Target="/ppt/notesMasters/notesMaster1.xml" Id="Rf1e84447f455415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b4a1698899f42ce" /><Relationship Type="http://schemas.openxmlformats.org/officeDocument/2006/relationships/notesMaster" Target="/ppt/notesMasters/notesMaster1.xml" Id="Rbae043d8045a4fe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1caf874f1534d14" /><Relationship Type="http://schemas.openxmlformats.org/officeDocument/2006/relationships/notesMaster" Target="/ppt/notesMasters/notesMaster1.xml" Id="Rdd858f40dde54a6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13e3b1df09443f1" /><Relationship Type="http://schemas.openxmlformats.org/officeDocument/2006/relationships/notesMaster" Target="/ppt/notesMasters/notesMaster1.xml" Id="Rb0d0adc6d8164ae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3b6560b436b4db1" /><Relationship Type="http://schemas.openxmlformats.org/officeDocument/2006/relationships/notesMaster" Target="/ppt/notesMasters/notesMaster1.xml" Id="R09aaed0fe76541d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5579a14a8354a7a" /><Relationship Type="http://schemas.openxmlformats.org/officeDocument/2006/relationships/notesMaster" Target="/ppt/notesMasters/notesMaster1.xml" Id="R29264337df6b4cc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b483a058aa649ce" /><Relationship Type="http://schemas.openxmlformats.org/officeDocument/2006/relationships/notesMaster" Target="/ppt/notesMasters/notesMaster1.xml" Id="R764c956e7416428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73dc397f3dc487c" /><Relationship Type="http://schemas.openxmlformats.org/officeDocument/2006/relationships/notesMaster" Target="/ppt/notesMasters/notesMaster1.xml" Id="Rfcc771cb8d0a401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96ef5541eb143f8" /><Relationship Type="http://schemas.openxmlformats.org/officeDocument/2006/relationships/notesMaster" Target="/ppt/notesMasters/notesMaster1.xml" Id="R72620801cb884a4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b40a27ce3a14c9a" /><Relationship Type="http://schemas.openxmlformats.org/officeDocument/2006/relationships/notesMaster" Target="/ppt/notesMasters/notesMaster1.xml" Id="R02f2816a7441482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fe1f7a09005429b" /><Relationship Type="http://schemas.openxmlformats.org/officeDocument/2006/relationships/notesMaster" Target="/ppt/notesMasters/notesMaster1.xml" Id="Rb2a2e45dd090435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391a84bf86346b5" /><Relationship Type="http://schemas.openxmlformats.org/officeDocument/2006/relationships/notesMaster" Target="/ppt/notesMasters/notesMaster1.xml" Id="Rebd5167e03e24b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751f38695e42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d92430c6414b50" /><Relationship Type="http://schemas.openxmlformats.org/officeDocument/2006/relationships/slideLayout" Target="/ppt/slideLayouts/slideLayout1.xml" Id="Rff5a0c7a662044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5a0c7a662044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ff89ac03d4808" /><Relationship Type="http://schemas.openxmlformats.org/officeDocument/2006/relationships/notesSlide" Target="/ppt/notesSlides/notesSlide1.xml" Id="R1d152f9b2f8e4f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0c7744c824109" /><Relationship Type="http://schemas.openxmlformats.org/officeDocument/2006/relationships/notesSlide" Target="/ppt/notesSlides/notesSlide2.xml" Id="Reb6bdf1f8b3e40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ff46e4daa48c1" /><Relationship Type="http://schemas.openxmlformats.org/officeDocument/2006/relationships/notesSlide" Target="/ppt/notesSlides/notesSlide3.xml" Id="Rd60a52c90dee46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e7679b10645d3" /><Relationship Type="http://schemas.openxmlformats.org/officeDocument/2006/relationships/notesSlide" Target="/ppt/notesSlides/notesSlide4.xml" Id="R1cece287829446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ac019c7f849ce" /><Relationship Type="http://schemas.openxmlformats.org/officeDocument/2006/relationships/notesSlide" Target="/ppt/notesSlides/notesSlide5.xml" Id="Rcde829651c8d43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ea7349be8499e" /><Relationship Type="http://schemas.openxmlformats.org/officeDocument/2006/relationships/notesSlide" Target="/ppt/notesSlides/notesSlide6.xml" Id="Rb39c34ca0b6847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d0340037647aa" /><Relationship Type="http://schemas.openxmlformats.org/officeDocument/2006/relationships/notesSlide" Target="/ppt/notesSlides/notesSlide7.xml" Id="R9cc3f19e7d1c41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5df75f5e44e20" /><Relationship Type="http://schemas.openxmlformats.org/officeDocument/2006/relationships/notesSlide" Target="/ppt/notesSlides/notesSlide8.xml" Id="R507b90ded04547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50ba7d9d24009" /><Relationship Type="http://schemas.openxmlformats.org/officeDocument/2006/relationships/image" Target="/ppt/media/image.png" Id="R52f7ad522d464b95" /><Relationship Type="http://schemas.openxmlformats.org/officeDocument/2006/relationships/notesSlide" Target="/ppt/notesSlides/notesSlide9.xml" Id="R9baf5945fc454c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62f7bd8264131" /><Relationship Type="http://schemas.openxmlformats.org/officeDocument/2006/relationships/image" Target="/ppt/media/image2.png" Id="R9c2175c783c54b9b" /><Relationship Type="http://schemas.openxmlformats.org/officeDocument/2006/relationships/notesSlide" Target="/ppt/notesSlides/notesSlide10.xml" Id="R6215003bdea94ca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92075901a41a1" /><Relationship Type="http://schemas.openxmlformats.org/officeDocument/2006/relationships/image" Target="/ppt/media/image3.png" Id="R65003d595cdb4075" /><Relationship Type="http://schemas.openxmlformats.org/officeDocument/2006/relationships/notesSlide" Target="/ppt/notesSlides/notesSlide11.xml" Id="Re6b8baafb5e64d8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872276f0b459b" /><Relationship Type="http://schemas.openxmlformats.org/officeDocument/2006/relationships/image" Target="/ppt/media/image4.png" Id="R0973114158a6433f" /><Relationship Type="http://schemas.openxmlformats.org/officeDocument/2006/relationships/notesSlide" Target="/ppt/notesSlides/notesSlide12.xml" Id="Rd63331142069450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02f79d82c4eab" /><Relationship Type="http://schemas.openxmlformats.org/officeDocument/2006/relationships/image" Target="/ppt/media/image5.png" Id="R3e1ceb7f0bdc4062" /><Relationship Type="http://schemas.openxmlformats.org/officeDocument/2006/relationships/notesSlide" Target="/ppt/notesSlides/notesSlide13.xml" Id="Rbb68fb3aea294f6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05e6822694153" /><Relationship Type="http://schemas.openxmlformats.org/officeDocument/2006/relationships/image" Target="/ppt/media/image6.png" Id="R9814046146ca4abc" /><Relationship Type="http://schemas.openxmlformats.org/officeDocument/2006/relationships/notesSlide" Target="/ppt/notesSlides/notesSlide14.xml" Id="Rb3b99ca25ad64b9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d0370ad5e45a6" /><Relationship Type="http://schemas.openxmlformats.org/officeDocument/2006/relationships/image" Target="/ppt/media/image7.png" Id="R0a7a8aa326d24393" /><Relationship Type="http://schemas.openxmlformats.org/officeDocument/2006/relationships/notesSlide" Target="/ppt/notesSlides/notesSlide15.xml" Id="Rbeb8cb08b8c8495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57e24ffe84309" /><Relationship Type="http://schemas.openxmlformats.org/officeDocument/2006/relationships/image" Target="/ppt/media/image8.png" Id="R52d5bf168d9d47f6" /><Relationship Type="http://schemas.openxmlformats.org/officeDocument/2006/relationships/notesSlide" Target="/ppt/notesSlides/notesSlide16.xml" Id="R5fbe7494fb764fd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13b795d794801" /><Relationship Type="http://schemas.openxmlformats.org/officeDocument/2006/relationships/image" Target="/ppt/media/image9.png" Id="R155a1d648111491f" /><Relationship Type="http://schemas.openxmlformats.org/officeDocument/2006/relationships/notesSlide" Target="/ppt/notesSlides/notesSlide17.xml" Id="Rd2bbec2073d94cc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a204474ef4ebe" /><Relationship Type="http://schemas.openxmlformats.org/officeDocument/2006/relationships/image" Target="/ppt/media/image.jpeg" Id="R362d206274654d43" /><Relationship Type="http://schemas.openxmlformats.org/officeDocument/2006/relationships/image" Target="/ppt/media/image2.jpeg" Id="Rd31dbde3c27f4392" /><Relationship Type="http://schemas.openxmlformats.org/officeDocument/2006/relationships/notesSlide" Target="/ppt/notesSlides/notesSlide18.xml" Id="R750485fee8994ad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05b638fb24420" /><Relationship Type="http://schemas.openxmlformats.org/officeDocument/2006/relationships/image" Target="/ppt/media/image3.jpeg" Id="R5dfd59fa8a5b411c" /><Relationship Type="http://schemas.openxmlformats.org/officeDocument/2006/relationships/image" Target="/ppt/media/image4.jpeg" Id="Rf2a6431136e04830" /><Relationship Type="http://schemas.openxmlformats.org/officeDocument/2006/relationships/notesSlide" Target="/ppt/notesSlides/notesSlide19.xml" Id="R3fbdfbb5a58f412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df24f2f7b4d56" /><Relationship Type="http://schemas.openxmlformats.org/officeDocument/2006/relationships/image" Target="/ppt/media/image5.jpeg" Id="R0fa945c5ba694e06" /><Relationship Type="http://schemas.openxmlformats.org/officeDocument/2006/relationships/notesSlide" Target="/ppt/notesSlides/notesSlide20.xml" Id="Rf58f785694704a9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7622e203b4df5" /><Relationship Type="http://schemas.openxmlformats.org/officeDocument/2006/relationships/image" Target="/ppt/media/image6.jpeg" Id="R2ee190cf5ae24437" /><Relationship Type="http://schemas.openxmlformats.org/officeDocument/2006/relationships/notesSlide" Target="/ppt/notesSlides/notesSlide21.xml" Id="R9efbf19c69eb476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4008cdd414c4a" /><Relationship Type="http://schemas.openxmlformats.org/officeDocument/2006/relationships/image" Target="/ppt/media/image7.jpeg" Id="R8b1976a1f7d34d6f" /><Relationship Type="http://schemas.openxmlformats.org/officeDocument/2006/relationships/notesSlide" Target="/ppt/notesSlides/notesSlide22.xml" Id="Rb8c6f342ad60432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06f6d16f24afb" /><Relationship Type="http://schemas.openxmlformats.org/officeDocument/2006/relationships/image" Target="/ppt/media/image8.jpeg" Id="R815ce5dcadae4ffd" /><Relationship Type="http://schemas.openxmlformats.org/officeDocument/2006/relationships/notesSlide" Target="/ppt/notesSlides/notesSlide23.xml" Id="R975231253696499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4118e5b234e8c" /><Relationship Type="http://schemas.openxmlformats.org/officeDocument/2006/relationships/image" Target="/ppt/media/image10.png" Id="R35f2d068980a4535" /><Relationship Type="http://schemas.openxmlformats.org/officeDocument/2006/relationships/notesSlide" Target="/ppt/notesSlides/notesSlide24.xml" Id="Rb6046d9478dd4fe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f006ae0c8491b" /><Relationship Type="http://schemas.openxmlformats.org/officeDocument/2006/relationships/image" Target="/ppt/media/image11.png" Id="R651935aa9c5f46c7" /><Relationship Type="http://schemas.openxmlformats.org/officeDocument/2006/relationships/notesSlide" Target="/ppt/notesSlides/notesSlide25.xml" Id="Rfc90a1093d9e4ab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6fa72603946a9" /><Relationship Type="http://schemas.openxmlformats.org/officeDocument/2006/relationships/notesSlide" Target="/ppt/notesSlides/notesSlide26.xml" Id="Recf94b7edab8426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845bc513e49a0" /><Relationship Type="http://schemas.openxmlformats.org/officeDocument/2006/relationships/image" Target="/ppt/media/image12.png" Id="R5c27af1a7c144786" /><Relationship Type="http://schemas.openxmlformats.org/officeDocument/2006/relationships/notesSlide" Target="/ppt/notesSlides/notesSlide27.xml" Id="R1bc6c623627d484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f3e4ca33334ef6" /><Relationship Type="http://schemas.openxmlformats.org/officeDocument/2006/relationships/image" Target="/ppt/media/image13.png" Id="Rf01b5262a6d44899" /><Relationship Type="http://schemas.openxmlformats.org/officeDocument/2006/relationships/notesSlide" Target="/ppt/notesSlides/notesSlide28.xml" Id="R96c86c49eb6749f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de485da9d4f43" /><Relationship Type="http://schemas.openxmlformats.org/officeDocument/2006/relationships/image" Target="/ppt/media/image14.png" Id="R4d3dc315efbf4110" /><Relationship Type="http://schemas.openxmlformats.org/officeDocument/2006/relationships/notesSlide" Target="/ppt/notesSlides/notesSlide29.xml" Id="Rea17b8b299154f7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03b6d24d34ded" /><Relationship Type="http://schemas.openxmlformats.org/officeDocument/2006/relationships/image" Target="/ppt/media/image15.png" Id="R91d0163b4a174176" /><Relationship Type="http://schemas.openxmlformats.org/officeDocument/2006/relationships/notesSlide" Target="/ppt/notesSlides/notesSlide30.xml" Id="Re4c894639b4e474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a3374b7bd4e98" /><Relationship Type="http://schemas.openxmlformats.org/officeDocument/2006/relationships/notesSlide" Target="/ppt/notesSlides/notesSlide31.xml" Id="Rf9274ecc02b24bf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76da673b54f95" /><Relationship Type="http://schemas.openxmlformats.org/officeDocument/2006/relationships/image" Target="/ppt/media/image16.png" Id="Rbfa89a73b74a4d0e" /><Relationship Type="http://schemas.openxmlformats.org/officeDocument/2006/relationships/notesSlide" Target="/ppt/notesSlides/notesSlide32.xml" Id="R30d544d9fe2a458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b4e652dfc47f5" /><Relationship Type="http://schemas.openxmlformats.org/officeDocument/2006/relationships/notesSlide" Target="/ppt/notesSlides/notesSlide33.xml" Id="Rcc1cca640f5a471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6bf952a844dba" /><Relationship Type="http://schemas.openxmlformats.org/officeDocument/2006/relationships/image" Target="/ppt/media/image17.png" Id="Ra26f0b5be556424d" /><Relationship Type="http://schemas.openxmlformats.org/officeDocument/2006/relationships/notesSlide" Target="/ppt/notesSlides/notesSlide34.xml" Id="Re84b23f5504c4bf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c7ea851034931" /><Relationship Type="http://schemas.openxmlformats.org/officeDocument/2006/relationships/notesSlide" Target="/ppt/notesSlides/notesSlide35.xml" Id="R5bd3ca26c0974a3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5fba4c87740a0" /><Relationship Type="http://schemas.openxmlformats.org/officeDocument/2006/relationships/notesSlide" Target="/ppt/notesSlides/notesSlide36.xml" Id="R20261dd2c5d14cf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e2531046e403b" /><Relationship Type="http://schemas.openxmlformats.org/officeDocument/2006/relationships/notesSlide" Target="/ppt/notesSlides/notesSlide37.xml" Id="R2f5535cea42b475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91e19cff5c4959" /><Relationship Type="http://schemas.openxmlformats.org/officeDocument/2006/relationships/image" Target="/ppt/media/image9.jpeg" Id="Rc631f10ce1c148d2" /><Relationship Type="http://schemas.openxmlformats.org/officeDocument/2006/relationships/image" Target="/ppt/media/image10.jpeg" Id="R202c707c444b4826" /><Relationship Type="http://schemas.openxmlformats.org/officeDocument/2006/relationships/image" Target="/ppt/media/image11.jpeg" Id="Rd5dee5c3916e46d2" /><Relationship Type="http://schemas.openxmlformats.org/officeDocument/2006/relationships/image" Target="/ppt/media/image12.jpeg" Id="R6a82b106d0a04e13" /><Relationship Type="http://schemas.openxmlformats.org/officeDocument/2006/relationships/notesSlide" Target="/ppt/notesSlides/notesSlide38.xml" Id="R42529a2bd40a40f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1a8dd8d0f340c4" /><Relationship Type="http://schemas.openxmlformats.org/officeDocument/2006/relationships/notesSlide" Target="/ppt/notesSlides/notesSlide39.xml" Id="R50213fbfcaf542d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d3d19a84944eb" /><Relationship Type="http://schemas.openxmlformats.org/officeDocument/2006/relationships/notesSlide" Target="/ppt/notesSlides/notesSlide40.xml" Id="R7adeb1ddf558429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cbbdf39b84990" /><Relationship Type="http://schemas.openxmlformats.org/officeDocument/2006/relationships/notesSlide" Target="/ppt/notesSlides/notesSlide41.xml" Id="Re5183fc888e0439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d114e50004868" /><Relationship Type="http://schemas.openxmlformats.org/officeDocument/2006/relationships/notesSlide" Target="/ppt/notesSlides/notesSlide42.xml" Id="R545b173a856640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4EC314-D455-470F-B106-EFC7D4F4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942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83B7E-0BC7-4BE8-851A-6577B37E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5B664-FB73-4491-BBE1-910A2119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43000"/>
            <a:ext cx="95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5C3D5-B088-4319-B3D0-56ED24CA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143000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rPr>
              <a:t>SW개발/HW제작 설계서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BF9B6-3710-464D-88E8-41B51F58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1019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독거노인의 식생활 관리를 위한 AI 기반 스마트 냉장고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8C7C31-87DD-4415-B688-9532C673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1066800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EA1EF2-F2B0-4591-B959-99F8319C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프로젝트 핵심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47C64B-A8BF-4ECA-A814-AF6E7A01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9625"/>
            <a:ext cx="9429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리드스위치로 냉장고 문 이벤트를 감지하고 필요한 시점에만 촬영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Raspberry Pi 5에서 YOLO·윤곽선 후보·식재료 분류를 수행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자동 재고 등록·소비 반영과 사용자 검수를 함께 제공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보유 재료 기반으로 부족 재료가 적은 레시피를 우선 추천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B84E5E-5D85-4BFE-8E99-573D9AE5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0675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2026. 07. 11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3407E3-4037-4023-919F-353CDD59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0675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개인정보 미기재 편집 가능본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DD6ADF-2CE3-442D-88E4-D723C63D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762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645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</p:spTree>
    <p:extLst>
      <p:ext uri="{BB962C8B-B14F-4D97-AF65-F5344CB8AC3E}">
        <p14:creationId xmlns:p14="http://schemas.microsoft.com/office/powerpoint/2010/main" val="18814634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3E0A54-B0E4-4F50-903A-D6726E87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85CBDB-DDA2-477C-8263-42329014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F5E9CB-9215-407F-9783-FE69AED1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8036B-6610-4A51-B763-CF65370B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6D99F-1E26-4A32-9929-5F0D38A1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D8DAEB-C080-4FF3-B619-2CDD2C39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97A52-1BB4-445E-999A-07FB24C4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수행 단계별 주요 산출물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D4D5E-E043-4154-8EB4-3DFB0556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5170DE-9CBA-4937-9A23-C2788E4D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742950" y="1866900"/>
          <a:ext xmlns:a="http://schemas.openxmlformats.org/drawingml/2006/main" cx="11868150" cy="670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4010025"/>
                <a:gridCol w="2000250"/>
                <a:gridCol w="2047875"/>
                <a:gridCol w="2047875"/>
              </a:tblGrid>
              <a:tr h="291548">
                <a:tc rowSpan="2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0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 rowSpan="2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0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산출물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0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0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응용 소프트웨어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0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응용 하드웨어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</a:tr>
              <a:tr h="291548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0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모바일 APP·Web 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0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빅데이터·인공지능·블록체인 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0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IoT·로봇·드론 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</a:tr>
              <a:tr h="291548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환경 분석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시장/기술 환경 분석서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548">
                <a:tc rowSpan="2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 분석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 정의서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548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유즈케이스 정의서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548">
                <a:tc rowSpan="4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아키텍처 설계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 구성도(시스템 구성도)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548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 흐름도(데이터 흐름도)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548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UI/UX 정의서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548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하드웨어/센서 구성도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548">
                <a:tc rowSpan="7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 설계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메뉴 구성도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548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설계서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548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엔티티 관계도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548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 처리도(기능 흐름도)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548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연계도/순차 다이어그램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548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알고리즘 명세서/설명서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548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하드웨어 설계도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548">
                <a:tc rowSpan="3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/ 구현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 목록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548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테이블 정의서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548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소스코드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548">
                <a:tc rowSpan="4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참조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환경 및 설명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548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 기능 실사 사진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548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H/W 기능 실사 사진·동영상 콘티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1548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프로젝트·형상·이슈 관리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82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F7C244-9BF4-4AB3-AF1A-5578647A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6487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설문조사와 인터뷰 결과서는 실제 조사를 수행하지 않았으므로 제외한다.</a:t>
            </a:r>
          </a:p>
        </p:txBody>
      </p:sp>
    </p:spTree>
    <p:extLst>
      <p:ext uri="{BB962C8B-B14F-4D97-AF65-F5344CB8AC3E}">
        <p14:creationId xmlns:p14="http://schemas.microsoft.com/office/powerpoint/2010/main" val="1169446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646768-1547-499C-A1D1-D0CE8F39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16BFA-0132-4585-BEF1-14B2E702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6FEB8-6993-40CC-870C-79B6FFCB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14607-5063-4738-B86B-60C6D4E1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E4A4A-176C-4EA4-9ADF-98B8EF87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1ED09-B8F4-470D-B68A-2FBEA3A6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C9C98-1CB3-4B4B-870A-88487C93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시장/기술 동향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5067D-23CF-4FE4-BF51-059580F7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사회·시장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4B56D-4171-48A1-B159-57CDBADC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0FF9E-96F1-4380-85C2-495690DB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7F4313-5104-4FD5-A660-7BE561BE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00" cy="942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F54AD-09E2-48F1-91C7-BA82FF61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1186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solidFill>
              <a:srgbClr val="27679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초고령사회와 노년 1인가구 증가는 “자동 기록 + 쉬운 확인”을 요구한다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13497C-B616-42F6-BE2C-DD0EDF6B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56197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4288">
            <a:solidFill>
              <a:srgbClr val="2F70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6DF74-13DF-4984-9261-D4117333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527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65세 이상 인구 비중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C42BDA-C2A1-4990-B996-0A2F3877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147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20.3%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15E83F-713E-464A-8B14-0A79F389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71950"/>
            <a:ext cx="504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2025년 기준 · 2036년 30% 전망 · 2050년 40% 초과 전망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96DB56-4CCA-461F-A6C1-F3A78B13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579120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4288">
            <a:solidFill>
              <a:srgbClr val="C85B2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87FFE9-4C36-4CFA-9086-0FF6D0BC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95600"/>
            <a:ext cx="544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노년 1인가구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85BA61-FE4F-4813-8EB3-000D25A5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1470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228.9만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C22541-54DC-419D-BE41-DBD4B403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71950"/>
            <a:ext cx="521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2024년 · 노년 가구 중 38.2% · 식재료 구매·보관·소비를 혼자 관리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A24809-5A1B-4CE8-9070-F8326DE2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7147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14288">
            <a:solidFill>
              <a:srgbClr val="27679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12229D-DBB9-4E07-A5B1-D110ABF1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0225"/>
            <a:ext cx="3371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입력 부담을 줄여야 한다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E60D0E-3AE3-48C1-942E-AD156FAC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67425"/>
            <a:ext cx="33718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매번 수기 입력하는 대신 문 이벤트가 있을 때 자동 촬영·인식한다.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E01F19-6DFF-4C58-865B-68DA7788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476875"/>
            <a:ext cx="37147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4288">
            <a:solidFill>
              <a:srgbClr val="2F704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90C9D7-840D-483D-BFDE-FEEB5A02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610225"/>
            <a:ext cx="3371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확인 필요한 것만 보여준다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61ECB4-3965-45C9-BAEC-603363C9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067425"/>
            <a:ext cx="33718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낮은 신뢰도 항목만 “확인 필요”로 분리해 고령 사용자의 작업량을 줄인다.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73AFFB-4787-4ECF-8672-FC8E79AB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476875"/>
            <a:ext cx="39433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4288">
            <a:solidFill>
              <a:srgbClr val="C85B2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E9CA1D-C569-42B8-B057-77684702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610225"/>
            <a:ext cx="3600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식생활 결정까지 연결한다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ABB42E-0BFA-46C6-84D9-A37411BE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067425"/>
            <a:ext cx="36004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보유 재료를 레시피 필요 재료와 비교해 부족 재료가 적은 순으로 제시한다.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8013E2-FFF9-4219-A8A3-9A11D093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0"/>
            <a:ext cx="1152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출처: 통계청 「2025 고령자 통계」, 「2024년 생애단계별 행정통계」</a:t>
            </a:r>
          </a:p>
        </p:txBody>
      </p:sp>
    </p:spTree>
    <p:extLst>
      <p:ext uri="{BB962C8B-B14F-4D97-AF65-F5344CB8AC3E}">
        <p14:creationId xmlns:p14="http://schemas.microsoft.com/office/powerpoint/2010/main" val="14408201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646768-1547-499C-A1D1-D0CE8F39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16BFA-0132-4585-BEF1-14B2E702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6FEB8-6993-40CC-870C-79B6FFCB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14607-5063-4738-B86B-60C6D4E1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E4A4A-176C-4EA4-9ADF-98B8EF87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1ED09-B8F4-470D-B68A-2FBEA3A6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C9C98-1CB3-4B4B-870A-88487C93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시장/기술 동향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5067D-23CF-4FE4-BF51-059580F7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제품 비교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4B56D-4171-48A1-B159-57CDBADC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0FF9E-96F1-4380-85C2-495690DB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E585A4-B1FA-4212-BF7C-A7089DD7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00" cy="942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27B0E-DF98-4F1C-97A4-519F49B2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1186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solidFill>
              <a:srgbClr val="27679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상용 제품은 카메라·앱·클라우드를 결합하고, 본 프로젝트는 저비용 엣지 자동화를 검증한다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FFF782-4DCC-49BB-B3CE-54E83BA1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2838450" cy="5191125"/>
          </a:xfrm>
          <a:prstGeom xmlns:a="http://schemas.openxmlformats.org/drawingml/2006/main" prst="roundRect">
            <a:avLst>
              <a:gd name="adj" fmla="val 5369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14288">
            <a:solidFill>
              <a:srgbClr val="27679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C5D420-67A5-470F-B856-B1372F5F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2533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Samsung Bespoke AI Family Hub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B7592-02D3-43F1-B65F-A4E4E302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25336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AI Vision Inside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3F368C-BC7A-462D-8DC1-07DA8B9F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25336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2025년 37종 신선식품 인식</a:t>
            </a:r>
          </a:p>
          <a:p xmlns:a="http://schemas.openxmlformats.org/drawingml/2006/main">
            <a:pPr algn="l">
              <a:def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반복 등록 가공식품 최대 50개</a:t>
            </a:r>
          </a:p>
          <a:p xmlns:a="http://schemas.openxmlformats.org/drawingml/2006/main">
            <a:pPr algn="l">
              <a:def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SmartThings Food 레시피 연계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2D70FB-D6BA-4F7A-9C5D-F79CCBA5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66750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확인할 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2F5C39-6855-4D27-AB81-42BCD69B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48500"/>
            <a:ext cx="2533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대형 화면·클라우드 생태계 중심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ABAD9A-55A9-4D23-9F3F-219D28B6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81300"/>
            <a:ext cx="2838450" cy="5191125"/>
          </a:xfrm>
          <a:prstGeom xmlns:a="http://schemas.openxmlformats.org/drawingml/2006/main" prst="roundRect">
            <a:avLst>
              <a:gd name="adj" fmla="val 5369"/>
            </a:avLst>
          </a:prstGeom>
          <a:solidFill xmlns:a="http://schemas.openxmlformats.org/drawingml/2006/main">
            <a:srgbClr val="F3EEFB"/>
          </a:solidFill>
          <a:ln xmlns:a="http://schemas.openxmlformats.org/drawingml/2006/main" w="14288">
            <a:solidFill>
              <a:srgbClr val="6D5AA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278438-9113-4863-B8AC-82B1B06B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52750"/>
            <a:ext cx="2533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5A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D5AA8"/>
                </a:solidFill>
                <a:latin typeface="Malgun Gothic"/>
                <a:ea typeface="Malgun Gothic"/>
                <a:cs typeface="Malgun Gothic"/>
              </a:rPr>
              <a:t>LG SIGNATURE 2세대 냉장고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6575B7-A816-467F-8E93-A9193A40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14750"/>
            <a:ext cx="25336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D5AA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D5AA8"/>
                </a:solidFill>
                <a:latin typeface="Malgun Gothic"/>
                <a:ea typeface="Malgun Gothic"/>
                <a:cs typeface="Malgun Gothic"/>
              </a:rPr>
              <a:t>ThinQ Food + 내장 AI 카메라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C01EAF-636F-4675-A4F7-E97FC279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67200"/>
            <a:ext cx="25336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CES 2025 공개</a:t>
            </a:r>
          </a:p>
          <a:p xmlns:a="http://schemas.openxmlformats.org/drawingml/2006/main">
            <a:pPr algn="l">
              <a:def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식품 관리와 스마트홈 화면 연계</a:t>
            </a:r>
          </a:p>
          <a:p xmlns:a="http://schemas.openxmlformats.org/drawingml/2006/main">
            <a:pPr algn="l">
              <a:def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AI 카메라 기반 냉장고 경험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86F157-5B4A-495C-AC73-F9F979FA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66750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5AA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D5AA8"/>
                </a:solidFill>
                <a:latin typeface="Malgun Gothic"/>
                <a:ea typeface="Malgun Gothic"/>
                <a:cs typeface="Malgun Gothic"/>
              </a:rPr>
              <a:t>확인할 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6A247A-0F96-4BB3-A006-97B88EA7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7048500"/>
            <a:ext cx="2533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프리미엄 제품·모델별 기능 차이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3FC749-7529-478F-95A6-45D62562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81300"/>
            <a:ext cx="2838450" cy="5191125"/>
          </a:xfrm>
          <a:prstGeom xmlns:a="http://schemas.openxmlformats.org/drawingml/2006/main" prst="roundRect">
            <a:avLst>
              <a:gd name="adj" fmla="val 536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4288">
            <a:solidFill>
              <a:srgbClr val="2F704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D5442D-D3B0-4787-ABE4-38C2B624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52750"/>
            <a:ext cx="2533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Bosch Series 6 KGN56HIF0N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9E673E-E5AA-4A81-A554-1657E17D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14750"/>
            <a:ext cx="25336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Home Connect 내부 카메라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31497F-BFA8-4BA8-BB94-A97B9898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67200"/>
            <a:ext cx="25336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문 닫힘 시 내부 사진 촬영</a:t>
            </a:r>
          </a:p>
          <a:p xmlns:a="http://schemas.openxmlformats.org/drawingml/2006/main">
            <a:pPr algn="l">
              <a:def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앱에서 원격 내부 확인</a:t>
            </a:r>
          </a:p>
          <a:p xmlns:a="http://schemas.openxmlformats.org/drawingml/2006/main">
            <a:pPr algn="l">
              <a:def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문 열림 알림·원격 제어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41F06E-1EA3-435F-92D6-B0D4C342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666750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확인할 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C6C1EC-1E8D-4423-9BB8-2D7794DA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7048500"/>
            <a:ext cx="2533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사진 확인 중심, 자동 재고는 제한적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085A8F-5B88-4EBC-97E3-C3B9324C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781300"/>
            <a:ext cx="2838450" cy="5191125"/>
          </a:xfrm>
          <a:prstGeom xmlns:a="http://schemas.openxmlformats.org/drawingml/2006/main" prst="roundRect">
            <a:avLst>
              <a:gd name="adj" fmla="val 5369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4288">
            <a:solidFill>
              <a:srgbClr val="C85B2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56CB08-A3F4-41C5-A55F-1AC00E78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52750"/>
            <a:ext cx="2533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본 프로젝트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B2A9FC-2450-4991-9A8F-BDC22DB8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714750"/>
            <a:ext cx="25336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Pi 5 + Reed + Edge AI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EF78FE-85F6-49CD-BBB0-3E772D5E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267200"/>
            <a:ext cx="25336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문 이벤트 시점만 촬영</a:t>
            </a:r>
          </a:p>
          <a:p xmlns:a="http://schemas.openxmlformats.org/drawingml/2006/main">
            <a:pPr algn="l">
              <a:def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YOLO·contour·분류를 엣지 수행</a:t>
            </a:r>
          </a:p>
          <a:p xmlns:a="http://schemas.openxmlformats.org/drawingml/2006/main">
            <a:pPr algn="l">
              <a:def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자동 등록·검수·레시피 연결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6D0517-B071-474A-8495-1B68DC35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66750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확인할 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EB7325-B29F-4C97-9740-0C570F5B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7048500"/>
            <a:ext cx="2533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제한된 학습 클래스·프로토타입 범위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F21E95-A406-4D8A-919E-E8063AF1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0"/>
            <a:ext cx="1152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공식 자료: Samsung Newsroom(2025·2026), LG CES 2025 공식 발표, Bosch KGN56HIF0N/Home Connect 제품 자료</a:t>
            </a:r>
          </a:p>
        </p:txBody>
      </p:sp>
    </p:spTree>
    <p:extLst>
      <p:ext uri="{BB962C8B-B14F-4D97-AF65-F5344CB8AC3E}">
        <p14:creationId xmlns:p14="http://schemas.microsoft.com/office/powerpoint/2010/main" val="14408201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646768-1547-499C-A1D1-D0CE8F39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16BFA-0132-4585-BEF1-14B2E702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6FEB8-6993-40CC-870C-79B6FFCB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14607-5063-4738-B86B-60C6D4E1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E4A4A-176C-4EA4-9ADF-98B8EF87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1ED09-B8F4-470D-B68A-2FBEA3A6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C9C98-1CB3-4B4B-870A-88487C93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시장/기술 동향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5067D-23CF-4FE4-BF51-059580F7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설계 방향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4B56D-4171-48A1-B159-57CDBADC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0FF9E-96F1-4380-85C2-495690DB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24660A-6E00-4FCB-8762-222AEC1A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00" cy="942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2FE57D-82D1-44C2-9F99-1CD2BD24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1186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solidFill>
              <a:srgbClr val="27679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인식 범위 확대보다 “이벤트 기반 처리·사용자 검수·서비스 연결”이 구현의 핵심이다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1F4B1F-EA56-41F8-AB2C-F3DD15FE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31432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3EEFB"/>
          </a:solidFill>
          <a:ln xmlns:a="http://schemas.openxmlformats.org/drawingml/2006/main" w="14288">
            <a:solidFill>
              <a:srgbClr val="6D5A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6CE801-DAA2-41DB-ACE7-183A0FF3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38475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5AA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6D5AA8"/>
                </a:solidFill>
                <a:latin typeface="Malgun Gothic"/>
                <a:ea typeface="Malgun Gothic"/>
                <a:cs typeface="Malgun Gothic"/>
              </a:rPr>
              <a:t>멀티모달·OCR 확장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2A966A-BA6E-4D57-A8C8-849DDB7A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95675"/>
            <a:ext cx="28003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클라우드 AI는 신선식품뿐 아니라 포장 식품과 브랜드까지 인식 범위를 넓히고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6FF3C9-EB89-4480-BEF3-F71B7F5C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3143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9525">
            <a:solidFill>
              <a:srgbClr val="27679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본 프로젝트: 학습 클래스 범위 안에서 정확도를 검증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8814D4-D088-4825-8902-352CB608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05125"/>
            <a:ext cx="31432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4288">
            <a:solidFill>
              <a:srgbClr val="2F70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73B9B4-3E31-4AE9-A4E1-3036FB5B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38475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문 이벤트 기반 촬영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A56C21-C023-4C9F-802E-9A61DB3E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95675"/>
            <a:ext cx="28003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Bosch처럼 문 닫힘/열림을 촬영 시점으로 사용하면 상시 녹화보다 데이터와 연산을 줄일 수 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3DB0C5-9EBE-4D13-91F2-478FB370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76875"/>
            <a:ext cx="3143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9525">
            <a:solidFill>
              <a:srgbClr val="27679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본 프로젝트: GPIO17 이벤트에서만 프레임 수집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1922FB-90E7-44FA-9D66-60C3B9CE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05125"/>
            <a:ext cx="31432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4288">
            <a:solidFill>
              <a:srgbClr val="C85B2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EC35E0-E800-41C0-8065-C2CEB757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38475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Human-in-the-loop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EE1B94-ADDD-4C28-A72A-EBF149C0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95675"/>
            <a:ext cx="28003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상용 제품도 알 수 없는 항목은 사용자가 수정한다. 자동 확정과 사용자 수정의 경계를 명확히 해야 한다.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B9171B-82C3-4123-B4A2-77B3947F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76875"/>
            <a:ext cx="3143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9525">
            <a:solidFill>
              <a:srgbClr val="27679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본 프로젝트: UNRECOGNIZED만 검수</a:t>
            </a:r>
          </a:p>
        </p:txBody>
      </p:sp>
      <p:cxnSp>
        <p:nvCxnSpPr>
          <p:cNvPr id="56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000500" y="40957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F5FA9"/>
            </a:solidFill>
            <a:prstDash val="solid"/>
            <a:head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620000" y="40957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F5FA9"/>
            </a:solidFill>
            <a:prstDash val="solid"/>
            <a:head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AA3E98-0E7C-4AB7-A82C-00307F4A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715125"/>
            <a:ext cx="1038225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14288">
            <a:solidFill>
              <a:srgbClr val="27679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5EE7A7-63B9-4E66-A65E-69D96F0B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48475"/>
            <a:ext cx="1003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최종 설계 원칙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812334-15D3-4780-A71B-0DEDFD75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305675"/>
            <a:ext cx="100393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리드스위치가 촬영 시점을 제한하고 → Raspberry Pi가 인식·안정화를 수행하며 → Flask/MySQL이 재고를 반영하고 → Flutter가 검수와 레시피 선택을 제공한다.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90FD85-DAB6-4405-AE08-F40FD324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7124700"/>
            <a:ext cx="11430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F1E8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저비용 프로토타입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A83AEE-DC1C-45F6-89B4-AE7AE584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0"/>
            <a:ext cx="1152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근거: Samsung AI Food Manager/AI Vision, Bosch Home Connect Camera, 상용 제품의 사용자 수정 기능</a:t>
            </a:r>
          </a:p>
        </p:txBody>
      </p:sp>
    </p:spTree>
    <p:extLst>
      <p:ext uri="{BB962C8B-B14F-4D97-AF65-F5344CB8AC3E}">
        <p14:creationId xmlns:p14="http://schemas.microsoft.com/office/powerpoint/2010/main" val="14408201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EAB536-DD88-4680-9758-1670DF96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3D2398-E8EF-4955-B12B-F9DD275F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261C2D-A0FB-4D25-972A-B9C1D344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BF5C5-FACA-4144-ADF6-2D5D6431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A0468E-E119-4F50-BFE5-9A0DAFB7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55081-CE4A-4D99-BC31-F6FC243A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49107-C3BB-44B5-B598-F8879918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요구사항 정의서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91DEBA-B9DB-46FD-881D-3F7EEF81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기능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3AB8DE-AA55-48DF-8C81-8A9C8523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E34257-C672-47EA-B1C7-CE63CDD0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742950" y="2171700"/>
          <a:ext xmlns:a="http://schemas.openxmlformats.org/drawingml/2006/main" cx="11868150" cy="595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2000250"/>
                <a:gridCol w="1428750"/>
                <a:gridCol w="1714500"/>
                <a:gridCol w="3867150"/>
                <a:gridCol w="1524000"/>
              </a:tblGrid>
              <a:tr h="595313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10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요구사항ID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10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10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기능ID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10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10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세부사항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10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예외사항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</a:tr>
              <a:tr h="595313">
                <a:tc rowSpan="3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A01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계정·냉장고 관리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A01_B01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회원가입·로그인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계정을 생성하고 로그인하여 현재 냉장고를 확인한다.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실패 시 오류 안내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A01_B02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 등록·선택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여러 냉장고를 등록·선택·삭제하고 현재 냉장고를 지정한다.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 냉장고가 없으면 선택 화면 이동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A01_B03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조회·수정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냉장고별 재고를 조회하고 수량·단위·상태·메모를 수정한다.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 실패 시 재시도 안내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 rowSpan="4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A02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 인식·재고 반영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A02_B01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열림 감지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GPIO17 입력으로 냉장고 문 열림·닫힘 이벤트를 감지한다.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debounce 0.1초 적용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A02_B02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 촬영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이벤트 후 냉장고 내부의 640×480 프레임을 수집한다.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프레임 읽기 실패 시 재시도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A02_B03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식재료 인식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YOLO·contour·fallback 후보에서 식재료명과 confidence를 산출한다.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낮은 신뢰도는 확인 필요 처리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A02_B04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자동 등록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동일 결과가 3회 안정되면 /upload로 등록하고 목록을 갱신한다.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중복은 cooldown으로 차단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 rowSpan="2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A03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추천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A03_B01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목록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보유 재료와 필요 재료를 비교해 부족 재료가 적은 순으로 제공한다.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재료 매칭 실패는 부족 처리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A03_B02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상세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 재료·보유 재료·부족 재료와 조리 방법을 표시한다.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데이터 없음 상태 표시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CEEB44-8911-4650-90B3-2721D2CD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49630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검증 기준: 실제 앱/API/H/W 실행 결과와 데이터베이스 저장 결과로 확인한다.</a:t>
            </a:r>
          </a:p>
        </p:txBody>
      </p:sp>
    </p:spTree>
    <p:extLst>
      <p:ext uri="{BB962C8B-B14F-4D97-AF65-F5344CB8AC3E}">
        <p14:creationId xmlns:p14="http://schemas.microsoft.com/office/powerpoint/2010/main" val="9138928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676CF6-D6F7-4838-8244-A7C787F5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4AE32-E258-4B48-A2A8-DF41386D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CDAAE-21C7-443B-AEC2-DA8CBE21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7D072-C214-4BD1-8684-41C31C43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BCAF4A-A766-498A-A741-BB261F44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AFACF-2A8E-4558-A547-D37C67EC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11B3B2-F954-43A0-9236-B59DE1FD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요구사항 정의서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8E689C-EC0F-4ACD-A549-24378454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세부 처리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9B4278-932C-49EC-BD9C-C49DCCC9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0134B3-EB15-40C8-8872-7A4474F3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609600" y="2152650"/>
          <a:ext xmlns:a="http://schemas.openxmlformats.org/drawingml/2006/main" cx="6000750" cy="590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6750"/>
                <a:gridCol w="1952625"/>
                <a:gridCol w="3381375"/>
              </a:tblGrid>
              <a:tr h="984250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75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75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75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</a:tr>
              <a:tr h="984250">
                <a:tc rowSpan="5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회원가입·로그인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 생성과 인증 후 현재 냉장고 상태를 저장한다.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4250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냉장고·재고 관리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 선택과 재고 추가·수정·삭제·검색을 제공한다.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4250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인식 결과 검수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UNRECOGNIZED 항목의 재료명·상태·메모를 사용자가 보완한다.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4250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추천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missing_count가 낮고 matched가 많은 순으로 정렬한다.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4250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이미지·메타데이터 저장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원본/crop 경로, label, confidence를 DB와 폴더에 저장한다.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"/>
          <p:cNvGraphicFramePr/>
          <p:nvPr/>
        </p:nvGraphicFramePr>
        <p:xfrm>
          <a:off xmlns:a="http://schemas.openxmlformats.org/drawingml/2006/main" x="6819900" y="2152650"/>
          <a:ext xmlns:a="http://schemas.openxmlformats.org/drawingml/2006/main" cx="5791200" cy="590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2950"/>
                <a:gridCol w="1905000"/>
                <a:gridCol w="3143250"/>
              </a:tblGrid>
              <a:tr h="984250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75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75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75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</a:tr>
              <a:tr h="984250">
                <a:tc rowSpan="5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H/W·AI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 이벤트 감지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리드스위치 HIGH/LOW를 GPIO17에서 감지한다.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4250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 프레임 수집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Picamera2/OpenCV로 640×480, 30FPS 프레임을 수집한다.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4250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 영역 추출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YOLO box → contour 보완 → center fallback 순으로 후보를 만든다.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4250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식재료 분류·안정화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confidence를 산출하고 동일 signature 3회에서 확정한다.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4250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 연동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/upload·/consume·inventory API로 등록·차감·조회한다.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FB6978-F36A-42DD-A793-58CC1BE1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477250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비기능 요구: 개인정보·서버 IP·DB 계정은 문서와 캡처에서 제거하고, 미확정 H/W 사양은 “실물 제작 후 확정”으로 표시한다.</a:t>
            </a:r>
          </a:p>
        </p:txBody>
      </p:sp>
    </p:spTree>
    <p:extLst>
      <p:ext uri="{BB962C8B-B14F-4D97-AF65-F5344CB8AC3E}">
        <p14:creationId xmlns:p14="http://schemas.microsoft.com/office/powerpoint/2010/main" val="14566031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646768-1547-499C-A1D1-D0CE8F39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16BFA-0132-4585-BEF1-14B2E702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6FEB8-6993-40CC-870C-79B6FFCB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14607-5063-4738-B86B-60C6D4E1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E4A4A-176C-4EA4-9ADF-98B8EF87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1ED09-B8F4-470D-B68A-2FBEA3A6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C9C98-1CB3-4B4B-870A-88487C93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유스케이스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5067D-23CF-4FE4-BF51-059580F7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액터·기능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4B56D-4171-48A1-B159-57CDBADC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0FF9E-96F1-4380-85C2-495690DB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16BFD9-2B5D-478D-89CA-A0FC0F41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00" cy="942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C3EAFB-7230-42C2-9ED9-278D4D8C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9334500" cy="6191250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7679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3697A9-E90E-4AAD-8DBC-AA67F022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AI 스마트 냉장고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534C66-4415-45E0-AB89-8291DCEB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48000"/>
            <a:ext cx="31432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14288">
            <a:solidFill>
              <a:srgbClr val="3F5FA9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회원가입·로그인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77ACC9-73B4-40B2-9607-F35B0794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048000"/>
            <a:ext cx="31432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14288">
            <a:solidFill>
              <a:srgbClr val="3F5FA9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냉장고 등록·선택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B00F18-4A3C-4AB5-B1AC-69251EEA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86250"/>
            <a:ext cx="31432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14288">
            <a:solidFill>
              <a:srgbClr val="3F5FA9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식재료 자동 등록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3AE1A4-E532-4FD3-A929-72E603A5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286250"/>
            <a:ext cx="31432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14288">
            <a:solidFill>
              <a:srgbClr val="3F5FA9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재고 목록 조회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BD50CD-81A6-458A-A5CC-211E7EC2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524500"/>
            <a:ext cx="31432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14288">
            <a:solidFill>
              <a:srgbClr val="3F5FA9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재고 상세 검수·수정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E8ED9D-5DAF-4D3F-85FF-31910384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524500"/>
            <a:ext cx="31432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14288">
            <a:solidFill>
              <a:srgbClr val="3F5FA9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레시피 추천 조회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B2C164-0657-4723-BF18-FCB0A217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858000"/>
            <a:ext cx="31432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14288">
            <a:solidFill>
              <a:srgbClr val="3F5FA9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레시피 상세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E24C2E-2EB5-4980-8E39-E3FC44A2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143250"/>
            <a:ext cx="11430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9283FA-4B26-46C4-A227-BFA98B29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3143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96E9DB-DB7F-43F0-B0CA-3047F8A0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3476625"/>
            <a:ext cx="1905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24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D23889-E93E-4DF1-AB14-AB55354D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3676650"/>
            <a:ext cx="47625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24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934341-450B-4307-8B17-A970BD6C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880000">
            <a:off x="11496675" y="3924300"/>
            <a:ext cx="40005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24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E86BA6-1FFA-407E-9440-6F82E1A8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880000">
            <a:off x="11496675" y="3924300"/>
            <a:ext cx="40005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24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5E019D-C4E2-45A6-A2BB-7D9071FB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19100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사용자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06C5C5-5B51-4A3F-8B80-9B96C3A4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191250"/>
            <a:ext cx="11430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813D77-5A6E-4891-BF50-D584D50A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6191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7DFB11-463A-452C-B3CB-181F6C07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524625"/>
            <a:ext cx="1905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24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740A18-A4F6-426A-9569-82AA4D27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724650"/>
            <a:ext cx="47625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24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6A2017-0908-4B59-8A6A-826367BC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880000">
            <a:off x="11496675" y="6972300"/>
            <a:ext cx="40005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24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D9411D-5AAC-4CDA-9DF2-3AD0791E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880000">
            <a:off x="11496675" y="6972300"/>
            <a:ext cx="40005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24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6A4828-F869-401C-8E75-93174373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723900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Raspberry Pi 5</a:t>
            </a:r>
          </a:p>
        </p:txBody>
      </p:sp>
      <p:cxnSp>
        <p:nvCxnSpPr>
          <p:cNvPr id="80" name=""/>
          <p:cNvCxnSpPr>
            <a:stCxn xmlns:a="http://schemas.openxmlformats.org/drawingml/2006/main" id="14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4524375" y="3419475"/>
            <a:ext cx="6572250" cy="4619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F5FA9"/>
            </a:solidFill>
            <a:prstDash val="solid"/>
            <a:head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15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429625" y="3419475"/>
            <a:ext cx="2667000" cy="4619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F5FA9"/>
            </a:solidFill>
            <a:prstDash val="solid"/>
            <a:headEnd type="triangle" w="sm" len="sm"/>
          </a:ln>
        </p:spPr>
      </p:cxnSp>
      <p:cxnSp>
        <p:nvCxnSpPr>
          <p:cNvPr id="82" name=""/>
          <p:cNvCxnSpPr>
            <a:stCxn xmlns:a="http://schemas.openxmlformats.org/drawingml/2006/main" id="16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4524375" y="3881438"/>
            <a:ext cx="6572250" cy="7762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F5FA9"/>
            </a:solidFill>
            <a:prstDash val="solid"/>
            <a:headEnd type="triangle" w="sm" len="sm"/>
          </a:ln>
        </p:spPr>
      </p:cxnSp>
      <p:cxnSp>
        <p:nvCxnSpPr>
          <p:cNvPr id="83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8429625" y="3881438"/>
            <a:ext cx="2667000" cy="7762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F5FA9"/>
            </a:solidFill>
            <a:prstDash val="solid"/>
            <a:headEnd type="triangle" w="sm" len="sm"/>
          </a:ln>
        </p:spPr>
      </p:cxnSp>
      <p:cxnSp>
        <p:nvCxnSpPr>
          <p:cNvPr id="84" name=""/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4524375" y="3881438"/>
            <a:ext cx="6572250" cy="20145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F5FA9"/>
            </a:solidFill>
            <a:prstDash val="solid"/>
            <a:headEnd type="triangle" w="sm" len="sm"/>
          </a:ln>
        </p:spPr>
      </p:cxnSp>
      <p:cxnSp>
        <p:nvCxnSpPr>
          <p:cNvPr id="85" name=""/>
          <p:cNvCxnSpPr>
            <a:stCxn xmlns:a="http://schemas.openxmlformats.org/drawingml/2006/main" id="19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8429625" y="3881438"/>
            <a:ext cx="2667000" cy="20145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F5FA9"/>
            </a:solidFill>
            <a:prstDash val="solid"/>
            <a:headEnd type="triangle" w="sm" len="sm"/>
          </a:ln>
        </p:spPr>
      </p:cxnSp>
      <p:cxnSp>
        <p:nvCxnSpPr>
          <p:cNvPr id="86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6477000" y="3881438"/>
            <a:ext cx="4619625" cy="33480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F5FA9"/>
            </a:solidFill>
            <a:prstDash val="solid"/>
            <a:headEnd type="triangle" w="sm" len="sm"/>
          </a:ln>
        </p:spPr>
      </p:cxnSp>
      <p:cxnSp>
        <p:nvCxnSpPr>
          <p:cNvPr id="87" name=""/>
          <p:cNvCxnSpPr>
            <a:stCxn xmlns:a="http://schemas.openxmlformats.org/drawingml/2006/main" id="16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4524375" y="4657725"/>
            <a:ext cx="6572250" cy="22717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F5FA9"/>
            </a:solidFill>
            <a:prstDash val="solid"/>
            <a:headEnd type="triangle" w="sm" len="sm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E347FF7-8C0C-4C6D-ABD5-4F862951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810500"/>
            <a:ext cx="31432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9525">
            <a:solidFill>
              <a:srgbClr val="2F704F"/>
            </a:solidFill>
            <a:prstDash val="dash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&lt;&lt;include&gt;&gt;</a:t>
            </a:r>
          </a:p>
          <a:p xmlns:a="http://schemas.openxmlformats.org/drawingml/2006/main">
            <a:pPr algn="ctr">
              <a:defRPr sz="9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문 이벤트 감지·촬영</a:t>
            </a:r>
          </a:p>
          <a:p xmlns:a="http://schemas.openxmlformats.org/drawingml/2006/main">
            <a:pPr algn="ctr">
              <a:defRPr sz="9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식재료 인식·안정화</a:t>
            </a:r>
          </a:p>
        </p:txBody>
      </p:sp>
      <p:cxnSp>
        <p:nvCxnSpPr>
          <p:cNvPr id="89" name=""/>
          <p:cNvCxnSpPr>
            <a:stCxn xmlns:a="http://schemas.openxmlformats.org/drawingml/2006/main" id="16" idx="2"/>
            <a:endCxn xmlns:a="http://schemas.openxmlformats.org/drawingml/2006/main" id="43" idx="0"/>
          </p:cNvCxnSpPr>
          <p:nvPr/>
        </p:nvCxnSpPr>
        <p:spPr>
          <a:xfrm xmlns:a="http://schemas.openxmlformats.org/drawingml/2006/main">
            <a:off x="2952750" y="5029200"/>
            <a:ext cx="0" cy="27813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F704F"/>
            </a:solidFill>
            <a:prstDash val="dash"/>
            <a:headEnd type="triangle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B7A1E16-D693-4939-A1DE-6D3C22EA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0"/>
            <a:ext cx="1152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액터는 시스템 경계 오른쪽에 배치하고, 사용자가 실제로 호출하는 기능과 Pi가 자동 수행하는 기능을 분리함</a:t>
            </a:r>
          </a:p>
        </p:txBody>
      </p:sp>
    </p:spTree>
    <p:extLst>
      <p:ext uri="{BB962C8B-B14F-4D97-AF65-F5344CB8AC3E}">
        <p14:creationId xmlns:p14="http://schemas.microsoft.com/office/powerpoint/2010/main" val="14408201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646768-1547-499C-A1D1-D0CE8F39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16BFA-0132-4585-BEF1-14B2E702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6FEB8-6993-40CC-870C-79B6FFCB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14607-5063-4738-B86B-60C6D4E1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E4A4A-176C-4EA4-9ADF-98B8EF87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1ED09-B8F4-470D-B68A-2FBEA3A6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C9C98-1CB3-4B4B-870A-88487C93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서비스 구성도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5067D-23CF-4FE4-BF51-059580F7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자동 등록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4B56D-4171-48A1-B159-57CDBADC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0FF9E-96F1-4380-85C2-495690DB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59B13F-ABF5-4E38-ADEE-8671395F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00" cy="942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FDBE4A-9F9B-46B8-A111-2B76BB72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1186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solidFill>
              <a:srgbClr val="27679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 열림·식재료 자동 등록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932D29-0ABA-4D63-8639-8E766D08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8524875" cy="5619750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76792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f7ad522d464b95"/>
          <a:stretch xmlns:a="http://schemas.openxmlformats.org/drawingml/2006/main"/>
        </p:blipFill>
        <p:spPr>
          <a:xfrm xmlns:a="http://schemas.openxmlformats.org/drawingml/2006/main">
            <a:off x="1820058" y="2952750"/>
            <a:ext cx="6361134" cy="5191125"/>
          </a:xfrm>
          <a:prstGeom xmlns:a="http://schemas.openxmlformats.org/drawingml/2006/main" prst="roundRect">
            <a:avLst>
              <a:gd name="adj" fmla="val 1468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C02C78-CF58-43F2-BC26-73F1721A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743200"/>
            <a:ext cx="3114675" cy="5619750"/>
          </a:xfrm>
          <a:prstGeom xmlns:a="http://schemas.openxmlformats.org/drawingml/2006/main" prst="roundRect">
            <a:avLst>
              <a:gd name="adj" fmla="val 4893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4288">
            <a:solidFill>
              <a:srgbClr val="2F70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B99E88-1088-4643-A102-4C532142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5275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실제 사용 흐름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C8D760-B392-4658-BD90-D59ACA86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433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7BF2A5-3464-4C34-9CE6-6B3E884A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6715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사용자가 냉장고 문을 열면 리드스위치 HIGH 이벤트가 발생한다.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DFFC37-7528-4185-9248-40DEB350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6482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자동 처리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FB7F44-AC94-4C98-99FF-13177848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97205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Pi가 촬영·인식·3회 안정화를 수행하고 /upload로 저장한다.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AF5044-0F08-43A1-91A6-30BB1312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531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F48423-79EA-4845-BA22-9A91FD60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07695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Flutter가 최신 재고와 확인 필요 상태를 표시한다.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76E299-437E-4828-9B46-C7050F42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8580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예외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DA55E3-B3DB-42B7-9B1F-45486ED0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18185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네트워크 실패는 기록 후 다음 이벤트에서 재시도한다.</a:t>
            </a:r>
          </a:p>
        </p:txBody>
      </p:sp>
    </p:spTree>
    <p:extLst>
      <p:ext uri="{BB962C8B-B14F-4D97-AF65-F5344CB8AC3E}">
        <p14:creationId xmlns:p14="http://schemas.microsoft.com/office/powerpoint/2010/main" val="14408201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646768-1547-499C-A1D1-D0CE8F39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16BFA-0132-4585-BEF1-14B2E702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6FEB8-6993-40CC-870C-79B6FFCB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14607-5063-4738-B86B-60C6D4E1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E4A4A-176C-4EA4-9ADF-98B8EF87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1ED09-B8F4-470D-B68A-2FBEA3A6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C9C98-1CB3-4B4B-870A-88487C93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서비스 구성도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5067D-23CF-4FE4-BF51-059580F7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재고 조회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4B56D-4171-48A1-B159-57CDBADC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0FF9E-96F1-4380-85C2-495690DB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A7F34-F97E-4740-B74F-6442E190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00" cy="942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F4E5F9-4742-4692-958E-EB3C32F0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1186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solidFill>
              <a:srgbClr val="27679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재고 목록 열기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1CD4D0-6963-417F-9B81-F98709E7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8524875" cy="5619750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76792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175c783c54b9b"/>
          <a:stretch xmlns:a="http://schemas.openxmlformats.org/drawingml/2006/main"/>
        </p:blipFill>
        <p:spPr>
          <a:xfrm xmlns:a="http://schemas.openxmlformats.org/drawingml/2006/main">
            <a:off x="1926618" y="2952750"/>
            <a:ext cx="6148014" cy="5191125"/>
          </a:xfrm>
          <a:prstGeom xmlns:a="http://schemas.openxmlformats.org/drawingml/2006/main" prst="roundRect">
            <a:avLst>
              <a:gd name="adj" fmla="val 1468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9ABD2D-D63D-47C3-AEA7-950DEFF7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743200"/>
            <a:ext cx="3114675" cy="5619750"/>
          </a:xfrm>
          <a:prstGeom xmlns:a="http://schemas.openxmlformats.org/drawingml/2006/main" prst="roundRect">
            <a:avLst>
              <a:gd name="adj" fmla="val 4893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4288">
            <a:solidFill>
              <a:srgbClr val="2F70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09D158-F1CD-4BE5-AB05-781BCB7D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5275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실제 사용 흐름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291FA3-BF90-4144-BBF9-CE5C35D6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433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진입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8DC9EE-FA5A-4D0A-9BCA-9B4D23A8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6715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홈의 “재고 확인” 카드를 선택한다.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7E9C43-6054-45BC-BD7F-0A2B493B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6482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조회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DDFCA0-64AF-4CBE-A3C3-81465490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97205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앱이 현재 fridge_id로 /inventory를 요청한다.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E3F8C6-80F9-485E-AA5B-3178B47E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531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표시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D908F8-F375-4595-B4CC-31D8068E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07695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전체·정상·확인 필요 수와 재료 카드를 함께 보여준다.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2293F5-D000-4E65-A21C-3DF18BAB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8580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검수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79DE44-DED5-4E28-82A4-E588FC7B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18185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확인 필요 카드를 누르면 상세 수정 화면으로 이동한다.</a:t>
            </a:r>
          </a:p>
        </p:txBody>
      </p:sp>
    </p:spTree>
    <p:extLst>
      <p:ext uri="{BB962C8B-B14F-4D97-AF65-F5344CB8AC3E}">
        <p14:creationId xmlns:p14="http://schemas.microsoft.com/office/powerpoint/2010/main" val="14408201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646768-1547-499C-A1D1-D0CE8F39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16BFA-0132-4585-BEF1-14B2E702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6FEB8-6993-40CC-870C-79B6FFCB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14607-5063-4738-B86B-60C6D4E1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E4A4A-176C-4EA4-9ADF-98B8EF87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1ED09-B8F4-470D-B68A-2FBEA3A6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C9C98-1CB3-4B4B-870A-88487C93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서비스 구성도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5067D-23CF-4FE4-BF51-059580F7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레시피 조회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4B56D-4171-48A1-B159-57CDBADC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0FF9E-96F1-4380-85C2-495690DB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387AB7-F84E-46CE-AB24-AC19E038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00" cy="942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D9E83A-49BC-4444-BEE3-252D3561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1186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solidFill>
              <a:srgbClr val="27679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레시피 추천 열기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F6AE38-7F55-4772-ACEA-DCFE9A37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8524875" cy="5619750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76792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003d595cdb4075"/>
          <a:stretch xmlns:a="http://schemas.openxmlformats.org/drawingml/2006/main"/>
        </p:blipFill>
        <p:spPr>
          <a:xfrm xmlns:a="http://schemas.openxmlformats.org/drawingml/2006/main">
            <a:off x="2788431" y="2952750"/>
            <a:ext cx="4424388" cy="5191125"/>
          </a:xfrm>
          <a:prstGeom xmlns:a="http://schemas.openxmlformats.org/drawingml/2006/main" prst="roundRect">
            <a:avLst>
              <a:gd name="adj" fmla="val 1468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435F58-2B6C-4759-9300-45E2D27B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743200"/>
            <a:ext cx="3114675" cy="5619750"/>
          </a:xfrm>
          <a:prstGeom xmlns:a="http://schemas.openxmlformats.org/drawingml/2006/main" prst="roundRect">
            <a:avLst>
              <a:gd name="adj" fmla="val 4893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4288">
            <a:solidFill>
              <a:srgbClr val="2F70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5B11CF-B23D-4570-B30F-8BDE4C78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5275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실제 사용 흐름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3ABB9E-7293-41BB-9ED1-116D1C5E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433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진입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DEB3BA-1C7A-42D0-A67F-4E8AA951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6715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홈의 “레시피 확인” 카드를 선택한다.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FB5701-27B8-467B-8675-27882E96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6482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비교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0E76EB-D145-4432-945C-01D01F8E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97205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보유 ingredient_id와 recipe_ingredients를 비교한다.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C2EB20-2E4F-40F8-85AA-8CAA2CE5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531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정렬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BE51A1-0C09-4EA1-B50C-48906F21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07695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missing이 적고 matched가 많은 순으로 반환한다.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1A9A44-922A-4982-A271-BD803EBF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8580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상세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5B90DD-412E-4143-82D9-0A36A1DB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18185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선택한 레시피의 보유·부족 재료와 조리법을 표시한다.</a:t>
            </a:r>
          </a:p>
        </p:txBody>
      </p:sp>
    </p:spTree>
    <p:extLst>
      <p:ext uri="{BB962C8B-B14F-4D97-AF65-F5344CB8AC3E}">
        <p14:creationId xmlns:p14="http://schemas.microsoft.com/office/powerpoint/2010/main" val="14408201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646768-1547-499C-A1D1-D0CE8F39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16BFA-0132-4585-BEF1-14B2E702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6FEB8-6993-40CC-870C-79B6FFCB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14607-5063-4738-B86B-60C6D4E1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E4A4A-176C-4EA4-9ADF-98B8EF87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1ED09-B8F4-470D-B68A-2FBEA3A6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C9C98-1CB3-4B4B-870A-88487C93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서비스 구성도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5067D-23CF-4FE4-BF51-059580F7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아키텍처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4B56D-4171-48A1-B159-57CDBADC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0FF9E-96F1-4380-85C2-495690DB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849B3F-BD88-44F7-9798-ADCCA6AC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00" cy="942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B7BE13-A88E-4823-858B-9043B441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1186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solidFill>
              <a:srgbClr val="27679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시스템 아키텍처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CF8437-CE10-4BBD-B831-768CF030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8858250" cy="5619750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76792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73114158a6433f"/>
          <a:stretch xmlns:a="http://schemas.openxmlformats.org/drawingml/2006/main"/>
        </p:blipFill>
        <p:spPr>
          <a:xfrm xmlns:a="http://schemas.openxmlformats.org/drawingml/2006/main">
            <a:off x="917575" y="2905125"/>
            <a:ext cx="8509000" cy="5286375"/>
          </a:xfrm>
          <a:prstGeom xmlns:a="http://schemas.openxmlformats.org/drawingml/2006/main" prst="roundRect">
            <a:avLst>
              <a:gd name="adj" fmla="val 1441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E20E9F-8398-4727-88E9-8E08C085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43200"/>
            <a:ext cx="2781300" cy="56197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14288">
            <a:solidFill>
              <a:srgbClr val="27679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F5AE9F-6090-472D-B5FC-37A0B91C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952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설계 문장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9248C0-34E3-4687-9E05-BF14A7C4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476625"/>
            <a:ext cx="24574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카메라는 식재료 입·출고 순간의 냉장고 내부를 촬영한다.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Raspberry Pi의 AI 식재료 인식 모듈이 label과 confidence를 산출한다.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인식 결과 로그 DB가 내부 식재료 상태의 근거 데이터가 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재료 관리 모듈은 재고 목록을 제공하고, 추천 모듈은 레시피 DB와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사용자는 재료 목록과 보유 재료에 맞는 추천 레시피를 확인한다.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4E29C6-A25B-466B-B3B0-E6C8C10F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0"/>
            <a:ext cx="1152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사용자 제공 그림을 시스템 아키텍처 기준으로 사용하고 설명 문장을 데이터 흐름에 맞게 수정</a:t>
            </a:r>
          </a:p>
        </p:txBody>
      </p:sp>
    </p:spTree>
    <p:extLst>
      <p:ext uri="{BB962C8B-B14F-4D97-AF65-F5344CB8AC3E}">
        <p14:creationId xmlns:p14="http://schemas.microsoft.com/office/powerpoint/2010/main" val="14408201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646768-1547-499C-A1D1-D0CE8F39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16BFA-0132-4585-BEF1-14B2E702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6FEB8-6993-40CC-870C-79B6FFCB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14607-5063-4738-B86B-60C6D4E1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E4A4A-176C-4EA4-9ADF-98B8EF87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1ED09-B8F4-470D-B68A-2FBEA3A6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C9C98-1CB3-4B4B-870A-88487C93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서비스 흐름도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5067D-23CF-4FE4-BF51-059580F7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데이터 흐름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4B56D-4171-48A1-B159-57CDBADC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0FF9E-96F1-4380-85C2-495690DB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F8A0E7-5908-4AA6-A269-C9FDB380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00" cy="942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0186F4-76FD-41E1-9D8A-8CD959B1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1186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solidFill>
              <a:srgbClr val="27679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인식·재고·추천 데이터 흐름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FBE4DF-D1A3-4CEE-86AB-E0A42F7A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8858250" cy="5619750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76792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1ceb7f0bdc4062"/>
          <a:stretch xmlns:a="http://schemas.openxmlformats.org/drawingml/2006/main"/>
        </p:blipFill>
        <p:spPr>
          <a:xfrm xmlns:a="http://schemas.openxmlformats.org/drawingml/2006/main">
            <a:off x="876300" y="3117202"/>
            <a:ext cx="8591550" cy="4862221"/>
          </a:xfrm>
          <a:prstGeom xmlns:a="http://schemas.openxmlformats.org/drawingml/2006/main" prst="roundRect">
            <a:avLst>
              <a:gd name="adj" fmla="val 1441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F064FE-BFB7-429E-B41F-C860D31F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43200"/>
            <a:ext cx="2781300" cy="56197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14288">
            <a:solidFill>
              <a:srgbClr val="27679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8C92AE-3B4D-4C06-843D-A8D6D739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952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설계 문장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DA720-49F9-4A86-986F-E1B1D3C6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476625"/>
            <a:ext cx="24574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카메라 촬영 → YOLO 객체인식 → 냉장고 내부 식재료 DB 저장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재고 화면은 DB의 현재 식재료를 목록으로 변환해 제공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추천 알고리즘은 보유 재료와 레시피 필요 재료를 비교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부족 재료 수가 가장 적은 레시피를 우선 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낮은 신뢰도 항목은 사용자 검수 대상으로 분리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E87F9F-B6AB-49C7-A247-B412ADB8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0"/>
            <a:ext cx="1152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사용자 제공 상세 그림을 서비스 흐름 기준으로 사용</a:t>
            </a:r>
          </a:p>
        </p:txBody>
      </p:sp>
    </p:spTree>
    <p:extLst>
      <p:ext uri="{BB962C8B-B14F-4D97-AF65-F5344CB8AC3E}">
        <p14:creationId xmlns:p14="http://schemas.microsoft.com/office/powerpoint/2010/main" val="14408201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3ABFF4-9A8E-4DF9-9CE1-962F38DA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E9781-78D7-4EF3-AD1B-B1401057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F8C6DE-17BA-4CE9-91B9-99EF8373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15E9A-3ADF-425B-A982-653E5787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DCBA4D-3A78-4153-A910-A1A4D4A2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339A08-7DEC-4B34-B7EC-DBECB464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033AB-47A5-481F-AF41-7766D851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UI/UX 정의서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42CBCF-49C5-4CC0-9E9C-13CDED38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화면 설계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FFC8D2-C7A6-413B-9832-A8C44BA4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7EC999-8BBC-4E20-9DD0-D0E2DFAC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91F894-18E7-4143-863E-B2B80B0F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F433B5-B89D-42D1-B72D-3FD07578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C5557B-C9EA-4679-8B09-C07C5099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주요 화면 와이어프레임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14046146ca4abc"/>
          <a:stretch xmlns:a="http://schemas.openxmlformats.org/drawingml/2006/main"/>
        </p:blipFill>
        <p:spPr>
          <a:xfrm xmlns:a="http://schemas.openxmlformats.org/drawingml/2006/main">
            <a:off x="895350" y="4820256"/>
            <a:ext cx="6896100" cy="1818063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0D6F0A-27B7-4CC8-A049-3AAFFFD0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144E78-30D3-4E90-8FC8-7A874434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37F6ED-9D5E-4F76-9151-73FD925B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리스트 참고</a:t>
            </a:r>
          </a:p>
        </p:txBody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8305800" y="3009900"/>
          <a:ext xmlns:a="http://schemas.openxmlformats.org/drawingml/2006/main" cx="415290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"/>
                <a:gridCol w="3695700"/>
              </a:tblGrid>
              <a:tr h="778329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90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고령층 접근성·UI 적용 기준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</a:tr>
              <a:tr h="778329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기능 우선</a:t>
                      </a:r>
                    </a:p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홈에 재고·레시피의 큰 진입 카드를 배치한다.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 가시성</a:t>
                      </a:r>
                    </a:p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정상/확인 필요를 색과 텍스트로 함께 표시한다.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최소화</a:t>
                      </a:r>
                    </a:p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 등록 후 필요한 항목만 사용자가 검수한다.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오류 회복</a:t>
                      </a:r>
                    </a:p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빈 상태·네트워크 오류에 안내와 재시도를 제공한다.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일관된 용어</a:t>
                      </a:r>
                    </a:p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재고·재료·확인 필요·부족 재료 표현을 통일한다.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8329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개인정보 보호</a:t>
                      </a:r>
                    </a:p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이메일·서버 주소를 캡처와 문서에서 제거한다.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B713D4-95D5-43EA-ACB6-CA3B9AFE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UI/UX 원칙을 기준으로 실제 실행 화면 설계를 다음 슬라이드에 제시</a:t>
            </a:r>
          </a:p>
        </p:txBody>
      </p:sp>
    </p:spTree>
    <p:extLst>
      <p:ext uri="{BB962C8B-B14F-4D97-AF65-F5344CB8AC3E}">
        <p14:creationId xmlns:p14="http://schemas.microsoft.com/office/powerpoint/2010/main" val="117814847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646768-1547-499C-A1D1-D0CE8F39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16BFA-0132-4585-BEF1-14B2E702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6FEB8-6993-40CC-870C-79B6FFCB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14607-5063-4738-B86B-60C6D4E1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E4A4A-176C-4EA4-9ADF-98B8EF87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1ED09-B8F4-470D-B68A-2FBEA3A6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C9C98-1CB3-4B4B-870A-88487C93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H/W·센서 구성도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5067D-23CF-4FE4-BF51-059580F7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회로 연결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4B56D-4171-48A1-B159-57CDBADC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0FF9E-96F1-4380-85C2-495690DB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80B3B6-0036-43A3-BFA0-A4E43C44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00" cy="942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AA77B-EEFE-411E-8005-CC28BFFF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1186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solidFill>
              <a:srgbClr val="27679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Raspberry Pi 5의 내부 풀업을 사용해 두 가닥 배선으로 문 열림·닫힘을 감지한다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2EC6C1-41DF-493B-9A39-2DBF1951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8477250" cy="51435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76792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7a8aa326d24393"/>
          <a:stretch xmlns:a="http://schemas.openxmlformats.org/drawingml/2006/main"/>
        </p:blipFill>
        <p:spPr>
          <a:xfrm xmlns:a="http://schemas.openxmlformats.org/drawingml/2006/main">
            <a:off x="876300" y="2975930"/>
            <a:ext cx="8210550" cy="4620890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3E5A33-40F9-4A7F-BF52-BA8ADF56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95625"/>
            <a:ext cx="2000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9525">
            <a:solidFill>
              <a:srgbClr val="EEF3FB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GPIO17 · 물리 11번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A54417-DFFE-48E3-BACF-67B88363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810375"/>
            <a:ext cx="1809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9525">
            <a:solidFill>
              <a:srgbClr val="ECF7F0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GND · 물리 6번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CC323A-9156-4C70-AC04-6823A64C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952750"/>
            <a:ext cx="2000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FFF8E8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98A2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C98A2E"/>
                </a:solidFill>
                <a:latin typeface="Malgun Gothic"/>
                <a:ea typeface="Malgun Gothic"/>
                <a:cs typeface="Malgun Gothic"/>
              </a:rPr>
              <a:t>내부 Pull-up · 3.3V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114F23-17D8-4D69-ADEE-C65730DF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43200"/>
            <a:ext cx="3162300" cy="51435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2941A2-0F7F-4443-BDCE-39EBC7E8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95275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배선 상태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544BC9-212A-4C16-BD55-A3649F53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524250"/>
            <a:ext cx="27241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4288">
            <a:solidFill>
              <a:srgbClr val="2F704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6624A8-CE7E-4BD5-8B18-16690559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6576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문 닫힘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F8F6C3-AD45-44C4-8472-E6AEB5A8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11480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자석이 리드스위치에 가까움</a:t>
            </a:r>
          </a:p>
          <a:p xmlns:a="http://schemas.openxmlformats.org/drawingml/2006/main">
            <a:pPr algn="l">
              <a:defRPr sz="12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접점 CLOSE</a:t>
            </a:r>
          </a:p>
          <a:p xmlns:a="http://schemas.openxmlformats.org/drawingml/2006/main">
            <a:pPr algn="l">
              <a:defRPr sz="12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GPIO17 = 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34239C-3584-4495-91B2-D19A44E6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143500"/>
            <a:ext cx="27241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4288">
            <a:solidFill>
              <a:srgbClr val="C85B2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BBC318-1616-4A0C-8E61-1708121C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2768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문 열림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B35822-56B6-47C2-929F-738DD64F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73405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자석이 멀어짐</a:t>
            </a:r>
          </a:p>
          <a:p xmlns:a="http://schemas.openxmlformats.org/drawingml/2006/main">
            <a:pPr algn="l">
              <a:defRPr sz="12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접점 OPEN</a:t>
            </a:r>
          </a:p>
          <a:p xmlns:a="http://schemas.openxmlformats.org/drawingml/2006/main">
            <a:pPr algn="l">
              <a:defRPr sz="12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GPIO17 = HIGH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11966F-A6B9-4F37-B667-AD0CD2BC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6810375"/>
            <a:ext cx="27241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소프트웨어 설정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GPIO.setup(17, IN, pull_up_down=PUD_UP)</a:t>
            </a:r>
          </a:p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debounce 0.1초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B0FD8A-1601-4269-BF15-B83E62FA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0"/>
            <a:ext cx="1152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카메라는 CSI 또는 USB로 별도 연결하며, Pi는 결로를 피해 냉장고 외부 제어부에 배치</a:t>
            </a:r>
          </a:p>
        </p:txBody>
      </p:sp>
    </p:spTree>
    <p:extLst>
      <p:ext uri="{BB962C8B-B14F-4D97-AF65-F5344CB8AC3E}">
        <p14:creationId xmlns:p14="http://schemas.microsoft.com/office/powerpoint/2010/main" val="144082016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BB4283-B69A-4C42-9EB3-5449E213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A0E00C-8AE8-48FD-86E0-BF3886C5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57F8E1-A8DD-4253-B590-5EBEF898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A62AC-D223-4D39-90EE-14AE925A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D563D-AF16-4592-8691-1C65A86A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FC3A84-2591-4D34-A5CA-4EB0CE03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53C83-0C73-44A6-BAC8-B110DA2B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메뉴 구성도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33645E-6318-41E2-8595-9CA826AC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화면 트리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841B8C-F383-4625-A569-75C0AAD6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EC24AC-A5B3-45F2-98AA-7D2B792A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A84CDB-7812-4D01-9513-62ACD574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6364D1-EE82-4610-A1CE-6476DCD6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74AE6C-4B6C-4426-A24D-D8136348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화면 이동 중심 메뉴 트리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5bf168d9d47f6"/>
          <a:stretch xmlns:a="http://schemas.openxmlformats.org/drawingml/2006/main"/>
        </p:blipFill>
        <p:spPr>
          <a:xfrm xmlns:a="http://schemas.openxmlformats.org/drawingml/2006/main">
            <a:off x="896675" y="2990850"/>
            <a:ext cx="6893450" cy="547687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789D8D-9404-4855-AB46-237BBA86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F43FFD-3DC8-4D69-B6AB-23A13925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C0C8EB-2C45-486B-86C4-06F7BA7E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화면별 진입·복귀 규칙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B43F12-C027-4C10-9E83-F5730003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86100"/>
            <a:ext cx="4038600" cy="529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인증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로그인·회원가입 · 성공 후 현재 냉장고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냉장고 관리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등록 냉장고 없음 또는 홈의 변경 · 선택 후 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재고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홈 → 재고 목록 · 상세 저장·삭제 후 목록 갱신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레시피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홈 → 레시피 목록 · 상세에서 목록으로 복귀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로그아웃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홈 상단 메뉴 · 인증 상태 초기화 후 로그인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향후 확장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보호자 화면·알림 · 현재 미구현, 점선 표시</a:t>
            </a:r>
          </a:p>
        </p:txBody>
      </p:sp>
    </p:spTree>
    <p:extLst>
      <p:ext uri="{BB962C8B-B14F-4D97-AF65-F5344CB8AC3E}">
        <p14:creationId xmlns:p14="http://schemas.microsoft.com/office/powerpoint/2010/main" val="36935159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C179FB-6391-4027-AF5A-1C34D87C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8A8B6-BADC-4F53-B7E1-BB45F040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482711-C2BD-4B86-BF26-D9C2438F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131860-3773-4B6C-A920-423FCCB8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C2C261-B3CE-433E-A795-3B745A3E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EFCC53-6E53-41A1-98E4-EE521E9E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4714FF-9C25-44E8-990D-6688E857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메뉴 구성도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31B42A-3E9E-426E-A01A-D1F5EF23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기능 트리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3EDC6-3A33-4702-BC4D-0273214C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CB8085-1EEB-467F-A090-1B90017C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C57241-8BCB-49E2-A7D5-329CBA68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00" cy="942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1D3517-E896-4A30-8345-905C9C50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58050" cy="6572250"/>
          </a:xfrm>
          <a:prstGeom xmlns:a="http://schemas.openxmlformats.org/drawingml/2006/main" prst="roundRect">
            <a:avLst>
              <a:gd name="adj" fmla="val 2029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14288">
            <a:solidFill>
              <a:srgbClr val="276792"/>
            </a:solidFill>
            <a:prstDash val="dash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1003F4-F90E-411E-8155-856C956C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580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solidFill>
              <a:srgbClr val="27679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기능군 중심 메뉴 트리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5a1d648111491f"/>
          <a:stretch xmlns:a="http://schemas.openxmlformats.org/drawingml/2006/main"/>
        </p:blipFill>
        <p:spPr>
          <a:xfrm xmlns:a="http://schemas.openxmlformats.org/drawingml/2006/main">
            <a:off x="914400" y="4370633"/>
            <a:ext cx="6877050" cy="192673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E2E06B-9AFD-42D3-A635-2C23EAFD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2991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4288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CFD867-7160-4B09-8B75-681B55C3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solidFill>
              <a:srgbClr val="2F704F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기능군 설명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03413E-BF74-46B2-B39B-EC8B9333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4000500" cy="504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계정/냉장고</a:t>
            </a:r>
          </a:p>
          <a:p xmlns:a="http://schemas.openxmlformats.org/drawingml/2006/main">
            <a:pPr algn="l"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인증, 냉장고 CRUD·선택 · Flutter·Flask·MySQL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센서/카메라</a:t>
            </a:r>
          </a:p>
          <a:p xmlns:a="http://schemas.openxmlformats.org/drawingml/2006/main">
            <a:pPr algn="l"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문 이벤트, 촬영, 미리보기 · Raspberry 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AI 인식</a:t>
            </a:r>
          </a:p>
          <a:p xmlns:a="http://schemas.openxmlformats.org/drawingml/2006/main">
            <a:pPr algn="l"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후보 추출, 분류, 안정화 · YOLO/OpenCV/best.pt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재고 관리</a:t>
            </a:r>
          </a:p>
          <a:p xmlns:a="http://schemas.openxmlformats.org/drawingml/2006/main">
            <a:pPr algn="l"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등록·저장·CRUD·검수 · /upload·/consume·/inventory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레시피</a:t>
            </a:r>
          </a:p>
          <a:p xmlns:a="http://schemas.openxmlformats.org/drawingml/2006/main">
            <a:pPr algn="l"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검색·matched/missing·상세 · /recipes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데이터 연동</a:t>
            </a:r>
          </a:p>
          <a:p xmlns:a="http://schemas.openxmlformats.org/drawingml/2006/main">
            <a:pPr algn="l"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REST·SQL·이미지 저장 · Flask·MySQL·uploads</a:t>
            </a:r>
          </a:p>
        </p:txBody>
      </p:sp>
    </p:spTree>
    <p:extLst>
      <p:ext uri="{BB962C8B-B14F-4D97-AF65-F5344CB8AC3E}">
        <p14:creationId xmlns:p14="http://schemas.microsoft.com/office/powerpoint/2010/main" val="135732365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11A067-9ADD-47E8-96D3-E04F3784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38D53B-5154-4AE1-93C2-F7100914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BD50B-D1EE-40D0-86E4-003E33FE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7D177-FC0B-4A4F-B2CB-44F99F23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B68C9-BDB4-459C-8861-F4EE0ACD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B7102-F32E-4728-8CB4-ED258475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F8849-D5E4-41DF-8DDA-BA7FB0D4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화면 설계서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E0D91-7BCB-4C75-B01F-97A36769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인증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19A1D-F2DE-4753-A44E-EEF52533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A3CC4-C145-4DDE-BA34-AA44AEEA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B29775-76FC-4279-93D1-E4D48BEE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00" cy="942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53711F-8C37-4640-AAA4-B404F543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2524125" cy="5476875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6B638A-EF9D-4732-A137-8103334E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로그인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2d206274654d43"/>
          <a:stretch xmlns:a="http://schemas.openxmlformats.org/drawingml/2006/main"/>
        </p:blipFill>
        <p:spPr>
          <a:xfrm xmlns:a="http://schemas.openxmlformats.org/drawingml/2006/main">
            <a:off x="866775" y="2769235"/>
            <a:ext cx="2352675" cy="5091430"/>
          </a:xfrm>
          <a:prstGeom xmlns:a="http://schemas.openxmlformats.org/drawingml/2006/main" prst="roundRect">
            <a:avLst>
              <a:gd name="adj" fmla="val 4858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5D7A58-F002-4D67-B451-1E7FCA0B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71750"/>
            <a:ext cx="2524125" cy="5476875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F7C1E5-6277-4171-87C6-3DD955F7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09800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회원가입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1dbde3c27f4392"/>
          <a:stretch xmlns:a="http://schemas.openxmlformats.org/drawingml/2006/main"/>
        </p:blipFill>
        <p:spPr>
          <a:xfrm xmlns:a="http://schemas.openxmlformats.org/drawingml/2006/main">
            <a:off x="3724275" y="2769235"/>
            <a:ext cx="2352675" cy="5091430"/>
          </a:xfrm>
          <a:prstGeom xmlns:a="http://schemas.openxmlformats.org/drawingml/2006/main" prst="roundRect">
            <a:avLst>
              <a:gd name="adj" fmla="val 4858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4DF3D9-B8D5-432F-8FBC-80DBA26C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누르면 이렇게 동작한다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BE41CB-55ED-43A3-A206-65D652BE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5886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B2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214347-5EF8-4988-89E8-2672E779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95625"/>
            <a:ext cx="5238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14288">
            <a:solidFill>
              <a:srgbClr val="27679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이메일·비밀번호 입력 후 로그인 → 현재 냉장고가 있으면 홈으로 이동</a:t>
            </a:r>
          </a:p>
        </p:txBody>
      </p:sp>
      <p:cxnSp>
        <p:nvCxnSpPr>
          <p:cNvPr id="49" name=""/>
          <p:cNvCxnSpPr>
            <a:stCxn xmlns:a="http://schemas.openxmlformats.org/drawingml/2006/main" id="20" idx="1"/>
            <a:endCxn xmlns:a="http://schemas.openxmlformats.org/drawingml/2006/main" id="19" idx="6"/>
          </p:cNvCxnSpPr>
          <p:nvPr/>
        </p:nvCxnSpPr>
        <p:spPr>
          <a:xfrm xmlns:a="http://schemas.openxmlformats.org/drawingml/2006/main" flipH="1">
            <a:off x="2066925" y="3390900"/>
            <a:ext cx="4933950" cy="25622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76792"/>
            </a:solidFill>
            <a:prstDash val="solid"/>
            <a:head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8A8238-B71F-4972-A547-3F6E0426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6505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B2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32C156-2A34-4ADF-A31F-FFAEE25B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91000"/>
            <a:ext cx="5238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4288">
            <a:solidFill>
              <a:srgbClr val="C85B28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회원가입 선택 → 이름·이메일·비밀번호 입력 화면으로 전환</a:t>
            </a:r>
          </a:p>
        </p:txBody>
      </p:sp>
      <p:cxnSp>
        <p:nvCxnSpPr>
          <p:cNvPr id="52" name=""/>
          <p:cNvCxnSpPr>
            <a:stCxn xmlns:a="http://schemas.openxmlformats.org/drawingml/2006/main" id="23" idx="1"/>
            <a:endCxn xmlns:a="http://schemas.openxmlformats.org/drawingml/2006/main" id="22" idx="6"/>
          </p:cNvCxnSpPr>
          <p:nvPr/>
        </p:nvCxnSpPr>
        <p:spPr>
          <a:xfrm xmlns:a="http://schemas.openxmlformats.org/drawingml/2006/main" flipH="1">
            <a:off x="2066925" y="4486275"/>
            <a:ext cx="4933950" cy="2085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85B28"/>
            </a:solidFill>
            <a:prstDash val="solid"/>
            <a:head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C0231F-8B97-4FEA-8E9F-8FBDC524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124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B2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5B7EBF-BA6A-4B0A-A09E-9726DEA9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86375"/>
            <a:ext cx="5238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4288">
            <a:solidFill>
              <a:srgbClr val="2F704F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가입 성공 → 기본 냉장고 생성 후 로그인/홈 흐름으로 연결</a:t>
            </a:r>
          </a:p>
        </p:txBody>
      </p:sp>
      <p:cxnSp>
        <p:nvCxnSpPr>
          <p:cNvPr id="55" name=""/>
          <p:cNvCxnSpPr>
            <a:stCxn xmlns:a="http://schemas.openxmlformats.org/drawingml/2006/main" id="26" idx="1"/>
            <a:endCxn xmlns:a="http://schemas.openxmlformats.org/drawingml/2006/main" id="25" idx="6"/>
          </p:cNvCxnSpPr>
          <p:nvPr/>
        </p:nvCxnSpPr>
        <p:spPr>
          <a:xfrm xmlns:a="http://schemas.openxmlformats.org/drawingml/2006/main" flipH="1">
            <a:off x="4972050" y="5581650"/>
            <a:ext cx="2028825" cy="609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F704F"/>
            </a:solidFill>
            <a:prstDash val="solid"/>
            <a:head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83A6EF-A7A3-40C4-838A-76C697B7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0"/>
            <a:ext cx="1152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실행 환경: Flutter Web → Flask API → MySQL, 로컬 데모 데이터 사용</a:t>
            </a:r>
          </a:p>
        </p:txBody>
      </p:sp>
    </p:spTree>
    <p:extLst>
      <p:ext uri="{BB962C8B-B14F-4D97-AF65-F5344CB8AC3E}">
        <p14:creationId xmlns:p14="http://schemas.microsoft.com/office/powerpoint/2010/main" val="9049210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11A067-9ADD-47E8-96D3-E04F3784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38D53B-5154-4AE1-93C2-F7100914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BD50B-D1EE-40D0-86E4-003E33FE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7D177-FC0B-4A4F-B2CB-44F99F23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B68C9-BDB4-459C-8861-F4EE0ACD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B7102-F32E-4728-8CB4-ED258475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F8849-D5E4-41DF-8DDA-BA7FB0D4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화면 설계서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E0D91-7BCB-4C75-B01F-97A36769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홈·냉장고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19A1D-F2DE-4753-A44E-EEF52533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A3CC4-C145-4DDE-BA34-AA44AEEA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0F58EA-8A5A-415D-A227-30F88894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00" cy="942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F6E09A-3DF6-4C5D-9A94-95B61667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2524125" cy="5476875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1E832B-73F0-402F-B95A-CC31C7B8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홈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fd59fa8a5b411c"/>
          <a:stretch xmlns:a="http://schemas.openxmlformats.org/drawingml/2006/main"/>
        </p:blipFill>
        <p:spPr>
          <a:xfrm xmlns:a="http://schemas.openxmlformats.org/drawingml/2006/main">
            <a:off x="866775" y="2769235"/>
            <a:ext cx="2352675" cy="5091430"/>
          </a:xfrm>
          <a:prstGeom xmlns:a="http://schemas.openxmlformats.org/drawingml/2006/main" prst="roundRect">
            <a:avLst>
              <a:gd name="adj" fmla="val 4858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24778E-E624-4459-B5B7-A870822F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71750"/>
            <a:ext cx="2524125" cy="5476875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AB7C0B-E595-4149-987A-D366B227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09800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냉장고 변경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a6431136e04830"/>
          <a:stretch xmlns:a="http://schemas.openxmlformats.org/drawingml/2006/main"/>
        </p:blipFill>
        <p:spPr>
          <a:xfrm xmlns:a="http://schemas.openxmlformats.org/drawingml/2006/main">
            <a:off x="3724275" y="2769235"/>
            <a:ext cx="2352675" cy="5091430"/>
          </a:xfrm>
          <a:prstGeom xmlns:a="http://schemas.openxmlformats.org/drawingml/2006/main" prst="roundRect">
            <a:avLst>
              <a:gd name="adj" fmla="val 4858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ACFA7E-1CD0-4B5C-A19E-E70FF32B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누르면 이렇게 동작한다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B356C4-8306-4B09-A5FE-06135C55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029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B2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76A5B5-3AAC-470D-A47E-3C0121B0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95625"/>
            <a:ext cx="5238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14288">
            <a:solidFill>
              <a:srgbClr val="27679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재고 확인 카드 → 현재 냉장고의 재고 목록을 조회</a:t>
            </a:r>
          </a:p>
        </p:txBody>
      </p:sp>
      <p:cxnSp>
        <p:nvCxnSpPr>
          <p:cNvPr id="49" name=""/>
          <p:cNvCxnSpPr>
            <a:stCxn xmlns:a="http://schemas.openxmlformats.org/drawingml/2006/main" id="20" idx="1"/>
            <a:endCxn xmlns:a="http://schemas.openxmlformats.org/drawingml/2006/main" id="19" idx="6"/>
          </p:cNvCxnSpPr>
          <p:nvPr/>
        </p:nvCxnSpPr>
        <p:spPr>
          <a:xfrm xmlns:a="http://schemas.openxmlformats.org/drawingml/2006/main" flipH="1">
            <a:off x="2066925" y="3390900"/>
            <a:ext cx="4933950" cy="704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76792"/>
            </a:solidFill>
            <a:prstDash val="solid"/>
            <a:head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5881EF-D2DD-4823-A559-5C1B546E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5791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B2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670C15-9B34-473C-86DE-CB7D0B59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91000"/>
            <a:ext cx="5238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4288">
            <a:solidFill>
              <a:srgbClr val="C85B28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레시피 확인 카드 → 보유 재료 기반 추천 목록을 조회</a:t>
            </a:r>
          </a:p>
        </p:txBody>
      </p:sp>
      <p:cxnSp>
        <p:nvCxnSpPr>
          <p:cNvPr id="52" name=""/>
          <p:cNvCxnSpPr>
            <a:stCxn xmlns:a="http://schemas.openxmlformats.org/drawingml/2006/main" id="23" idx="1"/>
            <a:endCxn xmlns:a="http://schemas.openxmlformats.org/drawingml/2006/main" id="22" idx="6"/>
          </p:cNvCxnSpPr>
          <p:nvPr/>
        </p:nvCxnSpPr>
        <p:spPr>
          <a:xfrm xmlns:a="http://schemas.openxmlformats.org/drawingml/2006/main" flipH="1">
            <a:off x="2066925" y="4486275"/>
            <a:ext cx="4933950" cy="1371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85B28"/>
            </a:solidFill>
            <a:prstDash val="solid"/>
            <a:head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947413-639C-494D-926A-E9338799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29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B2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4B880B-BB0C-4930-9E85-41C85592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86375"/>
            <a:ext cx="5238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4288">
            <a:solidFill>
              <a:srgbClr val="2F704F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냉장고 변경 → 선택·추가·삭제 후 현재 fridge_id를 갱신</a:t>
            </a:r>
          </a:p>
        </p:txBody>
      </p:sp>
      <p:cxnSp>
        <p:nvCxnSpPr>
          <p:cNvPr id="55" name=""/>
          <p:cNvCxnSpPr>
            <a:stCxn xmlns:a="http://schemas.openxmlformats.org/drawingml/2006/main" id="26" idx="1"/>
            <a:endCxn xmlns:a="http://schemas.openxmlformats.org/drawingml/2006/main" id="25" idx="6"/>
          </p:cNvCxnSpPr>
          <p:nvPr/>
        </p:nvCxnSpPr>
        <p:spPr>
          <a:xfrm xmlns:a="http://schemas.openxmlformats.org/drawingml/2006/main" flipH="1" flipV="1">
            <a:off x="4972050" y="4095750"/>
            <a:ext cx="2028825" cy="1485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F704F"/>
            </a:solidFill>
            <a:prstDash val="solid"/>
            <a:head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C69980-B5BE-42A1-9CB0-5E04199C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0"/>
            <a:ext cx="1152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실행 환경: Flutter Web → Flask API → MySQL, 로컬 데모 데이터 사용</a:t>
            </a:r>
          </a:p>
        </p:txBody>
      </p:sp>
    </p:spTree>
    <p:extLst>
      <p:ext uri="{BB962C8B-B14F-4D97-AF65-F5344CB8AC3E}">
        <p14:creationId xmlns:p14="http://schemas.microsoft.com/office/powerpoint/2010/main" val="90492106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11A067-9ADD-47E8-96D3-E04F3784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38D53B-5154-4AE1-93C2-F7100914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BD50B-D1EE-40D0-86E4-003E33FE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7D177-FC0B-4A4F-B2CB-44F99F23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B68C9-BDB4-459C-8861-F4EE0ACD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B7102-F32E-4728-8CB4-ED258475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F8849-D5E4-41DF-8DDA-BA7FB0D4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화면 설계서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E0D91-7BCB-4C75-B01F-97A36769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재고 목록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19A1D-F2DE-4753-A44E-EEF52533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A3CC4-C145-4DDE-BA34-AA44AEEA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2C0DA7-F161-4B14-98DB-D2B62C7F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00" cy="942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BFBC4D-EEA0-4C6E-8F8E-A20340A2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28875"/>
            <a:ext cx="3028950" cy="6096000"/>
          </a:xfrm>
          <a:prstGeom xmlns:a="http://schemas.openxmlformats.org/drawingml/2006/main" prst="roundRect">
            <a:avLst>
              <a:gd name="adj" fmla="val 62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08DFA1-C0D7-4B90-BF6E-17110674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재고 목록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a945c5ba694e06"/>
          <a:stretch xmlns:a="http://schemas.openxmlformats.org/drawingml/2006/main"/>
        </p:blipFill>
        <p:spPr>
          <a:xfrm xmlns:a="http://schemas.openxmlformats.org/drawingml/2006/main">
            <a:off x="1082058" y="2571750"/>
            <a:ext cx="2693634" cy="5829300"/>
          </a:xfrm>
          <a:prstGeom xmlns:a="http://schemas.openxmlformats.org/drawingml/2006/main" prst="roundRect">
            <a:avLst>
              <a:gd name="adj" fmla="val 473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008B22-A97A-4335-B5B6-670DB039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8125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주요 기능별 처리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B3A24B-1CFE-483F-8D2F-466B1EBF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790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B2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ABB99E-464D-4E34-9AEC-E9424C75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95625"/>
            <a:ext cx="7143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4288">
            <a:solidFill>
              <a:srgbClr val="2F704F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상단 요약에서 전체·정상·확인 필요 수를 즉시 확인</a:t>
            </a:r>
          </a:p>
        </p:txBody>
      </p:sp>
      <p:cxnSp>
        <p:nvCxnSpPr>
          <p:cNvPr id="46" name=""/>
          <p:cNvCxnSpPr>
            <a:stCxn xmlns:a="http://schemas.openxmlformats.org/drawingml/2006/main" id="17" idx="1"/>
            <a:endCxn xmlns:a="http://schemas.openxmlformats.org/drawingml/2006/main" id="16" idx="6"/>
          </p:cNvCxnSpPr>
          <p:nvPr/>
        </p:nvCxnSpPr>
        <p:spPr>
          <a:xfrm xmlns:a="http://schemas.openxmlformats.org/drawingml/2006/main" flipH="1">
            <a:off x="2495550" y="3390900"/>
            <a:ext cx="2457450" cy="466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F704F"/>
            </a:solidFill>
            <a:prstDash val="solid"/>
            <a:head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3A673B-E23E-43C1-B0EF-2BF2551F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886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B2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FDA9D5-570F-4E9C-825B-7F035B62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86250"/>
            <a:ext cx="7143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14288">
            <a:solidFill>
              <a:srgbClr val="27679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필터·검색으로 확인이 필요한 재료만 좁혀서 조회</a:t>
            </a:r>
          </a:p>
        </p:txBody>
      </p:sp>
      <p:cxnSp>
        <p:nvCxnSpPr>
          <p:cNvPr id="49" name=""/>
          <p:cNvCxnSpPr>
            <a:stCxn xmlns:a="http://schemas.openxmlformats.org/drawingml/2006/main" id="20" idx="1"/>
            <a:endCxn xmlns:a="http://schemas.openxmlformats.org/drawingml/2006/main" id="19" idx="6"/>
          </p:cNvCxnSpPr>
          <p:nvPr/>
        </p:nvCxnSpPr>
        <p:spPr>
          <a:xfrm xmlns:a="http://schemas.openxmlformats.org/drawingml/2006/main" flipH="1">
            <a:off x="2495550" y="4581525"/>
            <a:ext cx="2457450" cy="371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76792"/>
            </a:solidFill>
            <a:prstDash val="solid"/>
            <a:head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912F44-B79B-41C2-B673-EED44BCD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6505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B2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619BCE-9AEB-4357-AD31-7756C89E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76875"/>
            <a:ext cx="7143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4288">
            <a:solidFill>
              <a:srgbClr val="C85B28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재료 카드 선택 → crop·수량·상태·메모 상세 화면으로 이동</a:t>
            </a:r>
          </a:p>
        </p:txBody>
      </p:sp>
      <p:cxnSp>
        <p:nvCxnSpPr>
          <p:cNvPr id="52" name=""/>
          <p:cNvCxnSpPr>
            <a:stCxn xmlns:a="http://schemas.openxmlformats.org/drawingml/2006/main" id="23" idx="1"/>
            <a:endCxn xmlns:a="http://schemas.openxmlformats.org/drawingml/2006/main" id="22" idx="6"/>
          </p:cNvCxnSpPr>
          <p:nvPr/>
        </p:nvCxnSpPr>
        <p:spPr>
          <a:xfrm xmlns:a="http://schemas.openxmlformats.org/drawingml/2006/main" flipH="1">
            <a:off x="2495550" y="5772150"/>
            <a:ext cx="2457450" cy="800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85B28"/>
            </a:solidFill>
            <a:prstDash val="solid"/>
            <a:head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A3B967-60C1-4655-9FB9-13964675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7743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B2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318F2C-2EBF-4FA6-92E4-ED8A439D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667500"/>
            <a:ext cx="7143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4288">
            <a:solidFill>
              <a:srgbClr val="2F704F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재료 추가 → 사용자가 직접 재고 항목을 보완</a:t>
            </a:r>
          </a:p>
        </p:txBody>
      </p:sp>
      <p:cxnSp>
        <p:nvCxnSpPr>
          <p:cNvPr id="55" name=""/>
          <p:cNvCxnSpPr>
            <a:stCxn xmlns:a="http://schemas.openxmlformats.org/drawingml/2006/main" id="26" idx="1"/>
            <a:endCxn xmlns:a="http://schemas.openxmlformats.org/drawingml/2006/main" id="25" idx="6"/>
          </p:cNvCxnSpPr>
          <p:nvPr/>
        </p:nvCxnSpPr>
        <p:spPr>
          <a:xfrm xmlns:a="http://schemas.openxmlformats.org/drawingml/2006/main" flipH="1">
            <a:off x="3400425" y="6962775"/>
            <a:ext cx="1552575" cy="847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F704F"/>
            </a:solidFill>
            <a:prstDash val="solid"/>
            <a:head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FC8A4F-1739-46DE-A7BB-35310EF8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0"/>
            <a:ext cx="1152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화살표는 실제 클릭 위치와 다음 처리 결과를 연결함</a:t>
            </a:r>
          </a:p>
        </p:txBody>
      </p:sp>
    </p:spTree>
    <p:extLst>
      <p:ext uri="{BB962C8B-B14F-4D97-AF65-F5344CB8AC3E}">
        <p14:creationId xmlns:p14="http://schemas.microsoft.com/office/powerpoint/2010/main" val="90492106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11A067-9ADD-47E8-96D3-E04F3784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38D53B-5154-4AE1-93C2-F7100914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BD50B-D1EE-40D0-86E4-003E33FE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7D177-FC0B-4A4F-B2CB-44F99F23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B68C9-BDB4-459C-8861-F4EE0ACD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B7102-F32E-4728-8CB4-ED258475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F8849-D5E4-41DF-8DDA-BA7FB0D4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화면 설계서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E0D91-7BCB-4C75-B01F-97A36769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재고 검수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19A1D-F2DE-4753-A44E-EEF52533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A3CC4-C145-4DDE-BA34-AA44AEEA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AB00AF-2925-4076-BDD7-3BEDB4DF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00" cy="942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84332F-038A-4DB2-816E-E16AAEAB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28875"/>
            <a:ext cx="3028950" cy="6096000"/>
          </a:xfrm>
          <a:prstGeom xmlns:a="http://schemas.openxmlformats.org/drawingml/2006/main" prst="roundRect">
            <a:avLst>
              <a:gd name="adj" fmla="val 62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D06232-791B-479F-B87D-F7FB00FF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재고 상세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e190cf5ae24437"/>
          <a:stretch xmlns:a="http://schemas.openxmlformats.org/drawingml/2006/main"/>
        </p:blipFill>
        <p:spPr>
          <a:xfrm xmlns:a="http://schemas.openxmlformats.org/drawingml/2006/main">
            <a:off x="1082058" y="2571750"/>
            <a:ext cx="2693634" cy="5829300"/>
          </a:xfrm>
          <a:prstGeom xmlns:a="http://schemas.openxmlformats.org/drawingml/2006/main" prst="roundRect">
            <a:avLst>
              <a:gd name="adj" fmla="val 473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39F667-7A88-4E8C-B939-9C403A6E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8125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주요 기능별 처리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C0568F-65CB-4A0C-8DB2-408E3DBC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314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B2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4CE3C7-9A2C-4FAA-835C-E1921FEF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95625"/>
            <a:ext cx="7143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4288">
            <a:solidFill>
              <a:srgbClr val="2F704F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확인 필요 배너로 AI가 확정하지 못한 항목임을 명확히 표시</a:t>
            </a:r>
          </a:p>
        </p:txBody>
      </p:sp>
      <p:cxnSp>
        <p:nvCxnSpPr>
          <p:cNvPr id="43" name=""/>
          <p:cNvCxnSpPr>
            <a:stCxn xmlns:a="http://schemas.openxmlformats.org/drawingml/2006/main" id="17" idx="1"/>
            <a:endCxn xmlns:a="http://schemas.openxmlformats.org/drawingml/2006/main" id="16" idx="6"/>
          </p:cNvCxnSpPr>
          <p:nvPr/>
        </p:nvCxnSpPr>
        <p:spPr>
          <a:xfrm xmlns:a="http://schemas.openxmlformats.org/drawingml/2006/main" flipH="1" flipV="1">
            <a:off x="2495550" y="3381375"/>
            <a:ext cx="2457450" cy="9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F704F"/>
            </a:solidFill>
            <a:prstDash val="solid"/>
            <a:head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9E43B0-FD2C-4B14-BDB5-537099DF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648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B2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8E588A-A0BF-49B0-96C9-8C520761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86250"/>
            <a:ext cx="7143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14288">
            <a:solidFill>
              <a:srgbClr val="27679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재료명·수량·단위·상태·메모를 수정한 뒤 저장</a:t>
            </a:r>
          </a:p>
        </p:txBody>
      </p:sp>
      <p:cxnSp>
        <p:nvCxnSpPr>
          <p:cNvPr id="46" name=""/>
          <p:cNvCxnSpPr>
            <a:stCxn xmlns:a="http://schemas.openxmlformats.org/drawingml/2006/main" id="20" idx="1"/>
            <a:endCxn xmlns:a="http://schemas.openxmlformats.org/drawingml/2006/main" id="19" idx="6"/>
          </p:cNvCxnSpPr>
          <p:nvPr/>
        </p:nvCxnSpPr>
        <p:spPr>
          <a:xfrm xmlns:a="http://schemas.openxmlformats.org/drawingml/2006/main" flipH="1">
            <a:off x="2495550" y="4581525"/>
            <a:ext cx="2457450" cy="1133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76792"/>
            </a:solidFill>
            <a:prstDash val="solid"/>
            <a:head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32D952-BEE4-492F-A2C0-BCC83195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7410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B2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AFC975-1B4A-438B-BE29-FD7BF16E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76875"/>
            <a:ext cx="7143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4288">
            <a:solidFill>
              <a:srgbClr val="C85B28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저장 성공 → 목록 재조회, 삭제 → 해당 재고 행 제거</a:t>
            </a:r>
          </a:p>
        </p:txBody>
      </p:sp>
      <p:cxnSp>
        <p:nvCxnSpPr>
          <p:cNvPr id="49" name=""/>
          <p:cNvCxnSpPr>
            <a:stCxn xmlns:a="http://schemas.openxmlformats.org/drawingml/2006/main" id="23" idx="1"/>
            <a:endCxn xmlns:a="http://schemas.openxmlformats.org/drawingml/2006/main" id="22" idx="6"/>
          </p:cNvCxnSpPr>
          <p:nvPr/>
        </p:nvCxnSpPr>
        <p:spPr>
          <a:xfrm xmlns:a="http://schemas.openxmlformats.org/drawingml/2006/main" flipH="1">
            <a:off x="2495550" y="5772150"/>
            <a:ext cx="2457450" cy="1704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85B28"/>
            </a:solidFill>
            <a:prstDash val="solid"/>
            <a:head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D1A540-5C11-41FE-94AA-B7C15C9C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0"/>
            <a:ext cx="1152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화살표는 실제 클릭 위치와 다음 처리 결과를 연결함</a:t>
            </a:r>
          </a:p>
        </p:txBody>
      </p:sp>
    </p:spTree>
    <p:extLst>
      <p:ext uri="{BB962C8B-B14F-4D97-AF65-F5344CB8AC3E}">
        <p14:creationId xmlns:p14="http://schemas.microsoft.com/office/powerpoint/2010/main" val="90492106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11A067-9ADD-47E8-96D3-E04F3784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38D53B-5154-4AE1-93C2-F7100914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BD50B-D1EE-40D0-86E4-003E33FE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7D177-FC0B-4A4F-B2CB-44F99F23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B68C9-BDB4-459C-8861-F4EE0ACD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B7102-F32E-4728-8CB4-ED258475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F8849-D5E4-41DF-8DDA-BA7FB0D4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화면 설계서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E0D91-7BCB-4C75-B01F-97A36769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레시피 목록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19A1D-F2DE-4753-A44E-EEF52533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A3CC4-C145-4DDE-BA34-AA44AEEA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4B5C6C-AE91-43AA-8631-60165EAC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00" cy="942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B8D72D-A8AE-4E1B-918F-594DDEBE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28875"/>
            <a:ext cx="3028950" cy="6096000"/>
          </a:xfrm>
          <a:prstGeom xmlns:a="http://schemas.openxmlformats.org/drawingml/2006/main" prst="roundRect">
            <a:avLst>
              <a:gd name="adj" fmla="val 62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7D1C69-8249-4F8B-9414-B5E660CF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레시피 목록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1976a1f7d34d6f"/>
          <a:stretch xmlns:a="http://schemas.openxmlformats.org/drawingml/2006/main"/>
        </p:blipFill>
        <p:spPr>
          <a:xfrm xmlns:a="http://schemas.openxmlformats.org/drawingml/2006/main">
            <a:off x="1082058" y="2571750"/>
            <a:ext cx="2693634" cy="5829300"/>
          </a:xfrm>
          <a:prstGeom xmlns:a="http://schemas.openxmlformats.org/drawingml/2006/main" prst="roundRect">
            <a:avLst>
              <a:gd name="adj" fmla="val 473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DFF632-9268-4AF6-9B7F-31070C76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8125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주요 기능별 처리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096D54-1A1F-410A-AFDE-86E3E708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314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B2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0B1BE3-C0F2-41E0-B83B-F213AC26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95625"/>
            <a:ext cx="7143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4288">
            <a:solidFill>
              <a:srgbClr val="2F704F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검색어 입력 → q 파라미터로 레시피 이름을 필터링</a:t>
            </a:r>
          </a:p>
        </p:txBody>
      </p:sp>
      <p:cxnSp>
        <p:nvCxnSpPr>
          <p:cNvPr id="46" name=""/>
          <p:cNvCxnSpPr>
            <a:stCxn xmlns:a="http://schemas.openxmlformats.org/drawingml/2006/main" id="17" idx="1"/>
            <a:endCxn xmlns:a="http://schemas.openxmlformats.org/drawingml/2006/main" id="16" idx="6"/>
          </p:cNvCxnSpPr>
          <p:nvPr/>
        </p:nvCxnSpPr>
        <p:spPr>
          <a:xfrm xmlns:a="http://schemas.openxmlformats.org/drawingml/2006/main" flipH="1" flipV="1">
            <a:off x="2495550" y="3381375"/>
            <a:ext cx="2457450" cy="9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F704F"/>
            </a:solidFill>
            <a:prstDash val="solid"/>
            <a:head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7E0B9B-8D33-4569-A014-1E084C85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838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B2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F61A9E-90D4-4346-8ABD-90261067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86250"/>
            <a:ext cx="7143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4288">
            <a:solidFill>
              <a:srgbClr val="2F704F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부족 재료 수가 적은 순으로 추천 결과를 정렬</a:t>
            </a:r>
          </a:p>
        </p:txBody>
      </p:sp>
      <p:cxnSp>
        <p:nvCxnSpPr>
          <p:cNvPr id="49" name=""/>
          <p:cNvCxnSpPr>
            <a:stCxn xmlns:a="http://schemas.openxmlformats.org/drawingml/2006/main" id="20" idx="1"/>
            <a:endCxn xmlns:a="http://schemas.openxmlformats.org/drawingml/2006/main" id="19" idx="6"/>
          </p:cNvCxnSpPr>
          <p:nvPr/>
        </p:nvCxnSpPr>
        <p:spPr>
          <a:xfrm xmlns:a="http://schemas.openxmlformats.org/drawingml/2006/main" flipH="1">
            <a:off x="2495550" y="4581525"/>
            <a:ext cx="2457450" cy="323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F704F"/>
            </a:solidFill>
            <a:prstDash val="solid"/>
            <a:head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97925E-0168-4ECB-BC40-317EA532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6600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B2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DCEA19-AA71-4F79-85CB-89C83ACB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76875"/>
            <a:ext cx="7143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4288">
            <a:solidFill>
              <a:srgbClr val="C85B28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레시피 카드에서 조리 시간·난이도·부족 재료를 함께 확인</a:t>
            </a:r>
          </a:p>
        </p:txBody>
      </p:sp>
      <p:cxnSp>
        <p:nvCxnSpPr>
          <p:cNvPr id="52" name=""/>
          <p:cNvCxnSpPr>
            <a:stCxn xmlns:a="http://schemas.openxmlformats.org/drawingml/2006/main" id="23" idx="1"/>
            <a:endCxn xmlns:a="http://schemas.openxmlformats.org/drawingml/2006/main" id="22" idx="6"/>
          </p:cNvCxnSpPr>
          <p:nvPr/>
        </p:nvCxnSpPr>
        <p:spPr>
          <a:xfrm xmlns:a="http://schemas.openxmlformats.org/drawingml/2006/main" flipH="1">
            <a:off x="2495550" y="5772150"/>
            <a:ext cx="2457450" cy="895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85B28"/>
            </a:solidFill>
            <a:prstDash val="solid"/>
            <a:head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2B4287-CD52-48C4-9E54-5D68A0C2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7743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B2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238DE3-8263-44D2-9C53-D70D6557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667500"/>
            <a:ext cx="7143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14288">
            <a:solidFill>
              <a:srgbClr val="27679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카드 선택 → 보유·부족 재료와 조리 방법 상세로 이동</a:t>
            </a:r>
          </a:p>
        </p:txBody>
      </p:sp>
      <p:cxnSp>
        <p:nvCxnSpPr>
          <p:cNvPr id="55" name=""/>
          <p:cNvCxnSpPr>
            <a:stCxn xmlns:a="http://schemas.openxmlformats.org/drawingml/2006/main" id="26" idx="1"/>
            <a:endCxn xmlns:a="http://schemas.openxmlformats.org/drawingml/2006/main" id="25" idx="6"/>
          </p:cNvCxnSpPr>
          <p:nvPr/>
        </p:nvCxnSpPr>
        <p:spPr>
          <a:xfrm xmlns:a="http://schemas.openxmlformats.org/drawingml/2006/main" flipH="1">
            <a:off x="2495550" y="6962775"/>
            <a:ext cx="2457450" cy="847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76792"/>
            </a:solidFill>
            <a:prstDash val="solid"/>
            <a:head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E59A79-9B70-4576-905E-9DA2D28D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0"/>
            <a:ext cx="1152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화살표는 실제 클릭 위치와 다음 처리 결과를 연결함</a:t>
            </a:r>
          </a:p>
        </p:txBody>
      </p:sp>
    </p:spTree>
    <p:extLst>
      <p:ext uri="{BB962C8B-B14F-4D97-AF65-F5344CB8AC3E}">
        <p14:creationId xmlns:p14="http://schemas.microsoft.com/office/powerpoint/2010/main" val="90492106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11A067-9ADD-47E8-96D3-E04F3784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38D53B-5154-4AE1-93C2-F7100914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BD50B-D1EE-40D0-86E4-003E33FE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7D177-FC0B-4A4F-B2CB-44F99F23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B68C9-BDB4-459C-8861-F4EE0ACD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B7102-F32E-4728-8CB4-ED258475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F8849-D5E4-41DF-8DDA-BA7FB0D4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화면 설계서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E0D91-7BCB-4C75-B01F-97A36769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레시피 상세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19A1D-F2DE-4753-A44E-EEF52533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A3CC4-C145-4DDE-BA34-AA44AEEA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8E329E-C472-44C0-A725-20A696ED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00" cy="942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5E270B-86C6-4AA8-8B15-28A95B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28875"/>
            <a:ext cx="3028950" cy="6096000"/>
          </a:xfrm>
          <a:prstGeom xmlns:a="http://schemas.openxmlformats.org/drawingml/2006/main" prst="roundRect">
            <a:avLst>
              <a:gd name="adj" fmla="val 62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EAD3EF-0499-4729-9F3B-D4FB2DF8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레시피 상세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5ce5dcadae4ffd"/>
          <a:stretch xmlns:a="http://schemas.openxmlformats.org/drawingml/2006/main"/>
        </p:blipFill>
        <p:spPr>
          <a:xfrm xmlns:a="http://schemas.openxmlformats.org/drawingml/2006/main">
            <a:off x="1082058" y="2571750"/>
            <a:ext cx="2693634" cy="5829300"/>
          </a:xfrm>
          <a:prstGeom xmlns:a="http://schemas.openxmlformats.org/drawingml/2006/main" prst="roundRect">
            <a:avLst>
              <a:gd name="adj" fmla="val 473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0375F4-87D6-4868-9525-57650CE9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8125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주요 기능별 처리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3685DF-67C1-40D8-9FC7-80B0DC14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38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B2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E487D5-B43B-4F9A-AE8B-60752812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95625"/>
            <a:ext cx="7143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4288">
            <a:solidFill>
              <a:srgbClr val="2F704F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상단에서 조리 시간·난이도·부족 재료 수를 확인</a:t>
            </a:r>
          </a:p>
        </p:txBody>
      </p:sp>
      <p:cxnSp>
        <p:nvCxnSpPr>
          <p:cNvPr id="43" name=""/>
          <p:cNvCxnSpPr>
            <a:stCxn xmlns:a="http://schemas.openxmlformats.org/drawingml/2006/main" id="17" idx="1"/>
            <a:endCxn xmlns:a="http://schemas.openxmlformats.org/drawingml/2006/main" id="16" idx="6"/>
          </p:cNvCxnSpPr>
          <p:nvPr/>
        </p:nvCxnSpPr>
        <p:spPr>
          <a:xfrm xmlns:a="http://schemas.openxmlformats.org/drawingml/2006/main" flipH="1">
            <a:off x="2495550" y="3390900"/>
            <a:ext cx="2457450" cy="514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F704F"/>
            </a:solidFill>
            <a:prstDash val="solid"/>
            <a:head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EFA900-E241-4ADE-A783-2CB05FC9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648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B2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212292-E464-4D28-94F5-BD856AF7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86250"/>
            <a:ext cx="7143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4288">
            <a:solidFill>
              <a:srgbClr val="2F704F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초록 체크는 보유 재료, 주황 아이콘은 부족 재료를 의미</a:t>
            </a:r>
          </a:p>
        </p:txBody>
      </p:sp>
      <p:cxnSp>
        <p:nvCxnSpPr>
          <p:cNvPr id="46" name=""/>
          <p:cNvCxnSpPr>
            <a:stCxn xmlns:a="http://schemas.openxmlformats.org/drawingml/2006/main" id="20" idx="1"/>
            <a:endCxn xmlns:a="http://schemas.openxmlformats.org/drawingml/2006/main" id="19" idx="6"/>
          </p:cNvCxnSpPr>
          <p:nvPr/>
        </p:nvCxnSpPr>
        <p:spPr>
          <a:xfrm xmlns:a="http://schemas.openxmlformats.org/drawingml/2006/main" flipH="1">
            <a:off x="2495550" y="4581525"/>
            <a:ext cx="2457450" cy="1133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F704F"/>
            </a:solidFill>
            <a:prstDash val="solid"/>
            <a:head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A2751A-6568-43D9-9A1E-F844B308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7458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B2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6B6314-7D3A-442C-BA8D-EA737081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76875"/>
            <a:ext cx="7143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4288">
            <a:solidFill>
              <a:srgbClr val="C85B28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하단 조리 방법을 순서대로 읽고 실제 조리에 활용</a:t>
            </a:r>
          </a:p>
        </p:txBody>
      </p:sp>
      <p:cxnSp>
        <p:nvCxnSpPr>
          <p:cNvPr id="49" name=""/>
          <p:cNvCxnSpPr>
            <a:stCxn xmlns:a="http://schemas.openxmlformats.org/drawingml/2006/main" id="23" idx="1"/>
            <a:endCxn xmlns:a="http://schemas.openxmlformats.org/drawingml/2006/main" id="22" idx="6"/>
          </p:cNvCxnSpPr>
          <p:nvPr/>
        </p:nvCxnSpPr>
        <p:spPr>
          <a:xfrm xmlns:a="http://schemas.openxmlformats.org/drawingml/2006/main" flipH="1">
            <a:off x="2495550" y="5772150"/>
            <a:ext cx="2457450" cy="1752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85B28"/>
            </a:solidFill>
            <a:prstDash val="solid"/>
            <a:head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F707BC-E72B-4D49-A1C9-B4065FF9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0"/>
            <a:ext cx="1152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화살표는 실제 클릭 위치와 다음 처리 결과를 연결함</a:t>
            </a:r>
          </a:p>
        </p:txBody>
      </p:sp>
    </p:spTree>
    <p:extLst>
      <p:ext uri="{BB962C8B-B14F-4D97-AF65-F5344CB8AC3E}">
        <p14:creationId xmlns:p14="http://schemas.microsoft.com/office/powerpoint/2010/main" val="90492106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9D6641-70AD-439C-AA93-BE86C142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2C62C7-6985-473C-B74C-6E595C17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AAF41-2446-4B52-869F-0FE02532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53A9E-9F27-46FF-80CA-06269273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6E7A10-2119-4EAB-BF09-7A191D00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96FAF3-89B8-4CBE-96F8-576CD9EB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03765B-A09B-4EEA-9CD4-7A900BCC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UI 흐름도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3CFC94-D062-49AA-A421-0BD53724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0B67D-D3A3-4035-A787-438340C7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348ADD-147F-4A3D-8D25-E68807BB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7DEF72-75DD-4ED7-BCCC-30AFD6A8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5B23BA-21A3-48C5-9F11-D8BCBE08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사용자 화면 이동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f2d068980a4535"/>
          <a:stretch xmlns:a="http://schemas.openxmlformats.org/drawingml/2006/main"/>
        </p:blipFill>
        <p:spPr>
          <a:xfrm xmlns:a="http://schemas.openxmlformats.org/drawingml/2006/main">
            <a:off x="3244187" y="2990850"/>
            <a:ext cx="2198425" cy="5476874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9D19D2-94A1-416D-95E7-F37B5B3A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448148-E283-40E7-AD3F-8D917A0A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4F6E12-814B-4448-8191-39ACC6A9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네비게이션 규칙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2AF041-230B-4BFF-92FB-8D1FB28B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86100"/>
            <a:ext cx="4038600" cy="529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로그인 성공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냉장고 있음 → 홈, 없음 → 냉장고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회원가입 성공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기본 냉장고 생성 후 로그인/홈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재고 카드 선택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재고 상세로 이동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저장·삭제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재고 목록으로 복귀하고 재조회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레시피 선택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레시피 상세로 이동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냉장고 변경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선택·관리 화면에서 현재 냉장고 갱신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로그아웃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세션 상태 초기화 후 로그인</a:t>
            </a:r>
          </a:p>
        </p:txBody>
      </p:sp>
    </p:spTree>
    <p:extLst>
      <p:ext uri="{BB962C8B-B14F-4D97-AF65-F5344CB8AC3E}">
        <p14:creationId xmlns:p14="http://schemas.microsoft.com/office/powerpoint/2010/main" val="80420087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7F2394-076D-4378-81A3-AA78164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94A1A-C258-434D-863D-55CBCB58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BD0BBC-1C5E-4A79-8605-F1C00C0B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22A909-ECB8-4BCE-B85B-633E3C80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2D493B-D859-42D1-AB85-4B646811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1BCE7-33B0-41B0-9DC0-238D2099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ECF256-BE34-4212-9688-4D62B54E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연계도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7599A-D648-484F-832E-40AD36BD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423B6C-7A7F-4C37-A89F-39A5396D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E97669-EE63-4EC6-826A-40D82729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80640-283B-4F13-A5F3-6C6F34D0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0C002-1981-4E89-8978-A9E9A9C8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H/W·앱·서버·DB 연계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1935aa9c5f46c7"/>
          <a:stretch xmlns:a="http://schemas.openxmlformats.org/drawingml/2006/main"/>
        </p:blipFill>
        <p:spPr>
          <a:xfrm xmlns:a="http://schemas.openxmlformats.org/drawingml/2006/main">
            <a:off x="895350" y="4751613"/>
            <a:ext cx="6896100" cy="19553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4B25D2-3F05-4F18-A335-D96075CD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36AC04-FD03-48FF-BE09-D1C7D99E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B43BAD-07E2-4975-8C94-6D1439E6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연계 인터페이스 정의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4AE2FD-6144-47CC-A900-1DFE1EB6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86100"/>
            <a:ext cx="4038600" cy="529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센서→Pi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GPIO17 HIGH/LOW · 문 상태 이벤트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카메라→Pi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RGB frame · 후보 추출·분류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Pi→Flask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HTTP multipart JPEG, label, confidence · 등록/소비 요청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Flutter↔Flask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HTTP JSON · 인증·재고·레시피 CRUD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Flask→MySQL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SQL transaction · 관계 데이터 저장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Flask→파일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JPEG · 원본·crop 증빙 보관</a:t>
            </a:r>
          </a:p>
        </p:txBody>
      </p:sp>
    </p:spTree>
    <p:extLst>
      <p:ext uri="{BB962C8B-B14F-4D97-AF65-F5344CB8AC3E}">
        <p14:creationId xmlns:p14="http://schemas.microsoft.com/office/powerpoint/2010/main" val="144992966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646768-1547-499C-A1D1-D0CE8F39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16BFA-0132-4585-BEF1-14B2E702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6FEB8-6993-40CC-870C-79B6FFCB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14607-5063-4738-B86B-60C6D4E1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E4A4A-176C-4EA4-9ADF-98B8EF87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1ED09-B8F4-470D-B68A-2FBEA3A6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C9C98-1CB3-4B4B-870A-88487C93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엔티티 관계도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5067D-23CF-4FE4-BF51-059580F7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ERwin 작성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4B56D-4171-48A1-B159-57CDBADC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0FF9E-96F1-4380-85C2-495690DB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154F2-F873-433F-89AB-57193158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00" cy="942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13505B-E7AD-4652-A6F2-78A3FE4A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118681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solidFill>
              <a:srgbClr val="27679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ERwin에서는 엔티티 배치 → PK/FK 정의 → 식별/비식별 관계 → 물리 모델 검증 순으로 작성한다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6F5A08-0A88-4EE4-86A3-EB8B69CD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7239000" cy="5381625"/>
          </a:xfrm>
          <a:prstGeom xmlns:a="http://schemas.openxmlformats.org/drawingml/2006/main" prst="roundRect">
            <a:avLst>
              <a:gd name="adj" fmla="val 28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7679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79793C-6F4B-40D2-B8A7-B884DD99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146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권장 배치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976AC3-766E-4202-80AC-240D74E1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619500"/>
            <a:ext cx="1809750" cy="100012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14288">
            <a:solidFill>
              <a:srgbClr val="27679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users</a:t>
            </a:r>
          </a:p>
          <a:p xmlns:a="http://schemas.openxmlformats.org/drawingml/2006/main">
            <a:pPr algn="ctr">
              <a:defRPr sz="10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PK user_id</a:t>
            </a:r>
          </a:p>
          <a:p xmlns:a="http://schemas.openxmlformats.org/drawingml/2006/main">
            <a:pPr algn="ctr">
              <a:defRPr sz="10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current_fridge_id (NULL)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2B9432-B188-47E1-B36D-10ECA0ED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19500"/>
            <a:ext cx="1809750" cy="100012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4288">
            <a:solidFill>
              <a:srgbClr val="2F704F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fridges</a:t>
            </a:r>
          </a:p>
          <a:p xmlns:a="http://schemas.openxmlformats.org/drawingml/2006/main">
            <a:pPr algn="ctr">
              <a:defRPr sz="10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PK fridge_id</a:t>
            </a:r>
          </a:p>
          <a:p xmlns:a="http://schemas.openxmlformats.org/drawingml/2006/main">
            <a:pPr algn="ctr">
              <a:defRPr sz="10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FK user_id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323877-2970-4FAE-B80E-CECA9593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715000"/>
            <a:ext cx="2095500" cy="10953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4288">
            <a:solidFill>
              <a:srgbClr val="C85B28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fridge_items</a:t>
            </a:r>
          </a:p>
          <a:p xmlns:a="http://schemas.openxmlformats.org/drawingml/2006/main">
            <a:pPr algn="ctr">
              <a:defRPr sz="10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PK fridge_item_id</a:t>
            </a:r>
          </a:p>
          <a:p xmlns:a="http://schemas.openxmlformats.org/drawingml/2006/main">
            <a:pPr algn="ctr">
              <a:defRPr sz="10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FK fridge_id·ingredient_id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B6B812-5018-4A6D-ACCD-90463189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19500"/>
            <a:ext cx="1809750" cy="1000125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3EEFB"/>
          </a:solidFill>
          <a:ln xmlns:a="http://schemas.openxmlformats.org/drawingml/2006/main" w="14288">
            <a:solidFill>
              <a:srgbClr val="6D5AA8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ingredients</a:t>
            </a:r>
          </a:p>
          <a:p xmlns:a="http://schemas.openxmlformats.org/drawingml/2006/main">
            <a:pPr algn="ctr">
              <a:defRPr sz="10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PK ingredient_id</a:t>
            </a:r>
          </a:p>
          <a:p xmlns:a="http://schemas.openxmlformats.org/drawingml/2006/main">
            <a:pPr algn="ctr">
              <a:defRPr sz="10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UQ name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C5488F-42DD-4905-B074-8900D2A9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43500"/>
            <a:ext cx="18097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14288">
            <a:solidFill>
              <a:srgbClr val="27679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recipes</a:t>
            </a:r>
          </a:p>
          <a:p xmlns:a="http://schemas.openxmlformats.org/drawingml/2006/main">
            <a:pPr algn="ctr">
              <a:defRPr sz="10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PK recipe_id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888DEA-1381-4DE0-A432-54992B84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77000"/>
            <a:ext cx="1809750" cy="10953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4288">
            <a:solidFill>
              <a:srgbClr val="2F704F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recipe_ingredients</a:t>
            </a:r>
          </a:p>
          <a:p xmlns:a="http://schemas.openxmlformats.org/drawingml/2006/main">
            <a:pPr algn="ctr">
              <a:defRPr sz="10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PK/FK recipe_id</a:t>
            </a:r>
          </a:p>
          <a:p xmlns:a="http://schemas.openxmlformats.org/drawingml/2006/main">
            <a:pPr algn="ctr">
              <a:defRPr sz="10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PK/FK ingredient_id</a:t>
            </a:r>
          </a:p>
        </p:txBody>
      </p:sp>
      <p:cxnSp>
        <p:nvCxnSpPr>
          <p:cNvPr id="59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905125" y="4119563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F5FA9"/>
            </a:solidFill>
            <a:prstDash val="solid"/>
            <a:head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4238625" y="4619625"/>
            <a:ext cx="142875" cy="1095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F5FA9"/>
            </a:solidFill>
            <a:prstDash val="solid"/>
            <a:head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18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5429250" y="4119563"/>
            <a:ext cx="381000" cy="2143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F5FA9"/>
            </a:solidFill>
            <a:prstDash val="solid"/>
            <a:headEnd type="triangle" w="sm" len="sm"/>
          </a:ln>
        </p:spPr>
      </p:cxnSp>
      <p:cxnSp>
        <p:nvCxnSpPr>
          <p:cNvPr id="62" name=""/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6715125" y="600075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F5FA9"/>
            </a:solidFill>
            <a:prstDash val="solid"/>
            <a:headEnd type="triangle" w="sm" len="sm"/>
          </a:ln>
        </p:spPr>
      </p:cxnSp>
      <p:cxnSp>
        <p:nvCxnSpPr>
          <p:cNvPr id="63" name=""/>
          <p:cNvCxnSpPr>
            <a:stCxn xmlns:a="http://schemas.openxmlformats.org/drawingml/2006/main" id="18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6715125" y="4619625"/>
            <a:ext cx="0" cy="1857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F5FA9"/>
            </a:solidFill>
            <a:prstDash val="solid"/>
            <a:head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B4FC44-7951-48DD-A77D-5EA7ECBE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81300"/>
            <a:ext cx="4400550" cy="5381625"/>
          </a:xfrm>
          <a:prstGeom xmlns:a="http://schemas.openxmlformats.org/drawingml/2006/main" prst="roundRect">
            <a:avLst>
              <a:gd name="adj" fmla="val 3463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404CD3-1D76-43CE-B3FD-792C05F7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5275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ERwin 설정 순서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984497-F0D9-476D-9C6F-E74FD1C1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24250"/>
            <a:ext cx="39433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14288">
            <a:solidFill>
              <a:srgbClr val="27679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9705B7-586C-410F-BA6E-D1CDF277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57600"/>
            <a:ext cx="3600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모델 생성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EEB8A4-4650-4E1C-8AB6-959D777B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3600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Logical/Physical Model 선택</a:t>
            </a:r>
          </a:p>
          <a:p xmlns:a="http://schemas.openxmlformats.org/drawingml/2006/main">
            <a:pPr algn="l">
              <a:defRPr sz="12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Target DBMS: MySQL 8.x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CF4405-86BD-48FA-8E7B-52AAAA5A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705350"/>
            <a:ext cx="39433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4288">
            <a:solidFill>
              <a:srgbClr val="2F704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2ACE3F-0888-456A-9089-5B04A58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838700"/>
            <a:ext cx="3600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관계 연결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51EEB9-087C-4C10-B5A1-A32A169D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295900"/>
            <a:ext cx="3600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users→fridges, fridges→fridge_items는 비식별 1:N</a:t>
            </a:r>
          </a:p>
          <a:p xmlns:a="http://schemas.openxmlformats.org/drawingml/2006/main">
            <a:pPr algn="l">
              <a:defRPr sz="12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recipe_ingredients는 두 부모의 식별 관계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B47F3E-5519-4155-94CD-5DF01062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076950"/>
            <a:ext cx="39433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4288">
            <a:solidFill>
              <a:srgbClr val="C85B2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A6BF3B-9B0D-4755-B6CA-E8CD2443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210300"/>
            <a:ext cx="3600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Null·삭제 규칙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CC9A9E-2B4E-4AE1-A129-EFE7CB2A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667500"/>
            <a:ext cx="3600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fridge_items.ingredient_id는 NULL 허용</a:t>
            </a:r>
          </a:p>
          <a:p xmlns:a="http://schemas.openxmlformats.org/drawingml/2006/main">
            <a:pPr algn="l">
              <a:defRPr sz="12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사용자/냉장고 삭제는 자식 cascade</a:t>
            </a:r>
          </a:p>
          <a:p xmlns:a="http://schemas.openxmlformats.org/drawingml/2006/main">
            <a:pPr algn="l">
              <a:defRPr sz="12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식재료 삭제는 SET NULL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1F24C6-EA3F-4252-A596-F2CD48B7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7448550"/>
            <a:ext cx="39433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7679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마무리: Model Validate → Index/Unique 확인 → Forward Engineer로 DDL 비교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7EBA3A-C273-4151-A84C-D6C87193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0"/>
            <a:ext cx="1152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app_state는 key-value 상태 테이블로 하단에 분리하고 active_fridge_id는 논리 참조로 설명</a:t>
            </a:r>
          </a:p>
        </p:txBody>
      </p:sp>
    </p:spTree>
    <p:extLst>
      <p:ext uri="{BB962C8B-B14F-4D97-AF65-F5344CB8AC3E}">
        <p14:creationId xmlns:p14="http://schemas.microsoft.com/office/powerpoint/2010/main" val="144082016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646768-1547-499C-A1D1-D0CE8F39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16BFA-0132-4585-BEF1-14B2E702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6FEB8-6993-40CC-870C-79B6FFCB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14607-5063-4738-B86B-60C6D4E1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E4A4A-176C-4EA4-9ADF-98B8EF87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1ED09-B8F4-470D-B68A-2FBEA3A6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C9C98-1CB3-4B4B-870A-88487C93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기능 처리도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5067D-23CF-4FE4-BF51-059580F7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자동 등록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4B56D-4171-48A1-B159-57CDBADC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0FF9E-96F1-4380-85C2-495690DB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A5E60D-5A1A-4790-AEE4-8F4164B2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00" cy="942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00F109-ADAA-416A-AE84-998F67BE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191250" cy="6048375"/>
          </a:xfrm>
          <a:prstGeom xmlns:a="http://schemas.openxmlformats.org/drawingml/2006/main" prst="roundRect">
            <a:avLst>
              <a:gd name="adj" fmla="val 25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76792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27af1a7c144786"/>
          <a:stretch xmlns:a="http://schemas.openxmlformats.org/drawingml/2006/main"/>
        </p:blipFill>
        <p:spPr>
          <a:xfrm xmlns:a="http://schemas.openxmlformats.org/drawingml/2006/main">
            <a:off x="2036355" y="2524125"/>
            <a:ext cx="3604440" cy="5667375"/>
          </a:xfrm>
          <a:prstGeom xmlns:a="http://schemas.openxmlformats.org/drawingml/2006/main" prst="roundRect">
            <a:avLst>
              <a:gd name="adj" fmla="val 1345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ED1C6F-6AB2-45AE-AAD7-A105C1C9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33625"/>
            <a:ext cx="5486400" cy="6048375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4288">
            <a:solidFill>
              <a:srgbClr val="2F70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7D1F04-80FE-4A46-B04D-6A2FB8F1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717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61210E-9A62-40A2-BFFE-EEF77269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43250"/>
            <a:ext cx="5143500" cy="485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시작/종료는 타원, 처리는 사각형, 조건은 마름모로 구분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문 열림이 아니면 다음 이벤트를 기다리고 종료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YOLO 후보가 없으면 contour, 그래도 없으면 center fallback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동일 결과 3회와 cooldown 조건을 모두 통과해야 업로드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전송 실패는 오류 기록 후 다음 이벤트에서 재시도</a:t>
            </a:r>
          </a:p>
        </p:txBody>
      </p:sp>
    </p:spTree>
    <p:extLst>
      <p:ext uri="{BB962C8B-B14F-4D97-AF65-F5344CB8AC3E}">
        <p14:creationId xmlns:p14="http://schemas.microsoft.com/office/powerpoint/2010/main" val="144082016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646768-1547-499C-A1D1-D0CE8F39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16BFA-0132-4585-BEF1-14B2E702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6FEB8-6993-40CC-870C-79B6FFCB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14607-5063-4738-B86B-60C6D4E1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E4A4A-176C-4EA4-9ADF-98B8EF87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1ED09-B8F4-470D-B68A-2FBEA3A6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C9C98-1CB3-4B4B-870A-88487C93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순차 다이어그램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5067D-23CF-4FE4-BF51-059580F7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자동 등록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4B56D-4171-48A1-B159-57CDBADC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0FF9E-96F1-4380-85C2-495690DB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AFEFF7-EE26-4682-9D85-AC9C5938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00" cy="942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B90B50-B9FA-49FA-8CD1-B1571473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9239250" cy="6048375"/>
          </a:xfrm>
          <a:prstGeom xmlns:a="http://schemas.openxmlformats.org/drawingml/2006/main" prst="roundRect">
            <a:avLst>
              <a:gd name="adj" fmla="val 25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76792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1b5262a6d44899"/>
          <a:stretch xmlns:a="http://schemas.openxmlformats.org/drawingml/2006/main"/>
        </p:blipFill>
        <p:spPr>
          <a:xfrm xmlns:a="http://schemas.openxmlformats.org/drawingml/2006/main">
            <a:off x="2118968" y="2524125"/>
            <a:ext cx="6487214" cy="5667375"/>
          </a:xfrm>
          <a:prstGeom xmlns:a="http://schemas.openxmlformats.org/drawingml/2006/main" prst="roundRect">
            <a:avLst>
              <a:gd name="adj" fmla="val 1345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49B321-B1A7-48CF-BD6B-625751C5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333625"/>
            <a:ext cx="2438400" cy="6048375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4288">
            <a:solidFill>
              <a:srgbClr val="2F70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246666-1ACA-4427-AB69-2D8CE919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571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F42CD2-1F2A-4779-867C-7F2C0BE7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143250"/>
            <a:ext cx="2095500" cy="485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센서 이벤트와 앱 조회를 하나의 실제 사용 흐름으로 연결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Pi는 카메라·AI 결과를 3회 안정화한 뒤 API 호출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Flask는 INSERT 후 201 응답을 반환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앱은 /inventory를 다시 호출해 최신 상태를 표시</a:t>
            </a:r>
          </a:p>
        </p:txBody>
      </p:sp>
    </p:spTree>
    <p:extLst>
      <p:ext uri="{BB962C8B-B14F-4D97-AF65-F5344CB8AC3E}">
        <p14:creationId xmlns:p14="http://schemas.microsoft.com/office/powerpoint/2010/main" val="144082016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646768-1547-499C-A1D1-D0CE8F39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16BFA-0132-4585-BEF1-14B2E702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6FEB8-6993-40CC-870C-79B6FFCB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14607-5063-4738-B86B-60C6D4E1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E4A4A-176C-4EA4-9ADF-98B8EF87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1ED09-B8F4-470D-B68A-2FBEA3A6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C9C98-1CB3-4B4B-870A-88487C93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순차 다이어그램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5067D-23CF-4FE4-BF51-059580F7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레시피 관리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4B56D-4171-48A1-B159-57CDBADC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0FF9E-96F1-4380-85C2-495690DB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E0D0D1-4155-4C9E-924E-CDC7731C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00" cy="942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5632A0-2E1C-426B-8BCF-1E4A80CD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9239250" cy="6048375"/>
          </a:xfrm>
          <a:prstGeom xmlns:a="http://schemas.openxmlformats.org/drawingml/2006/main" prst="roundRect">
            <a:avLst>
              <a:gd name="adj" fmla="val 25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76792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3dc315efbf4110"/>
          <a:stretch xmlns:a="http://schemas.openxmlformats.org/drawingml/2006/main"/>
        </p:blipFill>
        <p:spPr>
          <a:xfrm xmlns:a="http://schemas.openxmlformats.org/drawingml/2006/main">
            <a:off x="2415197" y="2524125"/>
            <a:ext cx="5894756" cy="5667375"/>
          </a:xfrm>
          <a:prstGeom xmlns:a="http://schemas.openxmlformats.org/drawingml/2006/main" prst="roundRect">
            <a:avLst>
              <a:gd name="adj" fmla="val 1345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CC78DB-E64F-4704-AB49-C5210C6B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333625"/>
            <a:ext cx="2438400" cy="6048375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4288">
            <a:solidFill>
              <a:srgbClr val="2F70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E6CF57-75A6-4CD0-9BCC-85777F6D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571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27D6A4-F883-47CD-A385-A74D92F5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143250"/>
            <a:ext cx="2095500" cy="485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사용자의 목록 진입과 상세 선택을 분리해 표현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API는 보유 재료와 레시피 필요 재료를 각각 조회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추천 로직이 matched·missing을 계산해 정렬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상세 응답에는 보유/부족 표시와 조리 방법을 포함</a:t>
            </a:r>
          </a:p>
        </p:txBody>
      </p:sp>
    </p:spTree>
    <p:extLst>
      <p:ext uri="{BB962C8B-B14F-4D97-AF65-F5344CB8AC3E}">
        <p14:creationId xmlns:p14="http://schemas.microsoft.com/office/powerpoint/2010/main" val="144082016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646768-1547-499C-A1D1-D0CE8F39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16BFA-0132-4585-BEF1-14B2E702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6FEB8-6993-40CC-870C-79B6FFCB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14607-5063-4738-B86B-60C6D4E1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E4A4A-176C-4EA4-9ADF-98B8EF87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1ED09-B8F4-470D-B68A-2FBEA3A6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C9C98-1CB3-4B4B-870A-88487C93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알고리즘 명세서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5067D-23CF-4FE4-BF51-059580F7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흐름도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4B56D-4171-48A1-B159-57CDBADC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0FF9E-96F1-4380-85C2-495690DB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CA3AD6-5367-4CA3-8545-B383EB68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00" cy="942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988FB9-70F8-495E-9850-F6C68D3A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191250" cy="6048375"/>
          </a:xfrm>
          <a:prstGeom xmlns:a="http://schemas.openxmlformats.org/drawingml/2006/main" prst="roundRect">
            <a:avLst>
              <a:gd name="adj" fmla="val 25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76792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d0163b4a174176"/>
          <a:stretch xmlns:a="http://schemas.openxmlformats.org/drawingml/2006/main"/>
        </p:blipFill>
        <p:spPr>
          <a:xfrm xmlns:a="http://schemas.openxmlformats.org/drawingml/2006/main">
            <a:off x="1779015" y="2524125"/>
            <a:ext cx="4119121" cy="5667375"/>
          </a:xfrm>
          <a:prstGeom xmlns:a="http://schemas.openxmlformats.org/drawingml/2006/main" prst="roundRect">
            <a:avLst>
              <a:gd name="adj" fmla="val 1345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62E3FB-60A3-482C-9264-6333006D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33625"/>
            <a:ext cx="5486400" cy="6048375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4288">
            <a:solidFill>
              <a:srgbClr val="2F70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E02CD4-2978-44C6-A0B4-37BEB607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717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D71449-EE5C-4F3F-B14F-6A7B7ABD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43250"/>
            <a:ext cx="5143500" cy="485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YOLO → contour → center fallback 순으로 후보를 보완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none/background와 confidence 미달 후보는 제외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signature가 바뀌면 stable_count를 1로 재설정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stable_count 3 이상 + cooldown 종료일 때만 API 호출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• 정석 흐름도 기호와 예/아니오 분기를 사용</a:t>
            </a:r>
          </a:p>
        </p:txBody>
      </p:sp>
    </p:spTree>
    <p:extLst>
      <p:ext uri="{BB962C8B-B14F-4D97-AF65-F5344CB8AC3E}">
        <p14:creationId xmlns:p14="http://schemas.microsoft.com/office/powerpoint/2010/main" val="144082016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2AEE8C-6E68-4393-AF63-18BD4FAB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9A453-9F75-4F4B-8B97-27D69D2C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749B7-41C4-4A24-885C-5DAD8AC4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BEEE92-D6C6-401F-9009-18D0AD69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93F221-7567-45F2-B5F9-CD60410F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DD572B-E5B0-44FF-9D78-4E200D3F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C52ED-2921-4F11-824B-2A08145F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알고리즘 상세 명세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9FC051-0B94-4A93-BA32-4A908033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4ABA1-8513-4D79-8377-3582C75A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4EC548-373E-4696-B1DF-833A0674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11868150" cy="2809875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288BF6-DBA8-4E78-9B2A-E7EE5167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118681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312F28-E9F3-4BD1-BC75-55F8BA40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1639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객체 탐지·분류·안정화 알고리즘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14F930-FA65-448C-B4B4-2E6C2FE7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71800"/>
            <a:ext cx="114109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냉장고 문 이벤트가 발생하면 640×480 RGB 프레임을 수집한다. YOLO detector box를 우선 후보로 사용하고, OpenCV contour 후보를 보완한 뒤 후보가 없으면 center crop을 적용한다. 각 crop은 best.pt로 분류하며 confidence 기준과 none/background 보정을 거쳐 유효 결과만 남긴다. 동일 label signature가 3회 연속 확인되면 최종 결과로 확정하고 /upload 또는 /consume API를 호출한다. interval 1초와 cooldown 20초를 적용해 중복·오탐·과도한 업로드를 방지한다.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6CBFE9-A091-49DF-8CAC-7E17670A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571500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2D9561-BF70-4542-BEA5-4D5D559B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5372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정상 인식 결과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EB9953-841A-4B55-A9F0-03C167E3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943600"/>
            <a:ext cx="5257800" cy="189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원본 프레임·검출 박스·crop·label·confidence가 함께 보이는 화면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설명 예: “동일 tomato signature 3회 후 /upload 성공”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1607B2-0F9C-4242-8F57-BC60D761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972425"/>
            <a:ext cx="537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교체 파일: 23_algorithm_success.png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DF9934-0300-4A91-97AF-6B5A533C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143500"/>
            <a:ext cx="579120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9050">
            <a:solidFill>
              <a:srgbClr val="C85B28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8EFD57-EE87-40B2-BBE6-7F3961CB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334000"/>
            <a:ext cx="544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낮은 신뢰도/오인식 결과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4254F7-69D2-44FC-A526-B7F05682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943600"/>
            <a:ext cx="5334000" cy="189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confidence 미달 또는 UNRECOGNIZED 사례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사용자가 재료명·상태를 보완하는 화면과 함께 제시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8CBF39-184C-4790-8914-90FA4891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7972425"/>
            <a:ext cx="544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교체 파일: 23_algorithm_review.png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4D5716-414F-46EF-A3A2-5700E189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00" cy="942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2383981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138288-F314-448F-9C10-EF1CE142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7CA77-7645-472A-8F32-6B72A006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A6F1C-89F8-4042-9DC8-116AAEC4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0BAC0-E5F4-4B0F-8D63-06973545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C2400-9A39-499A-A8B5-089AA9F5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9FCF8-1D89-41CF-9307-EC511D6E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F8A5E4-409B-4095-B216-14A9D583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하드웨어 설계도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AF33D-AA7C-4F53-BB5A-ECFE122F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C5B947-023D-441E-A7C1-0BC941A0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C54FE2-74D0-4590-976C-D1360FE1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6572250"/>
          </a:xfrm>
          <a:prstGeom xmlns:a="http://schemas.openxmlformats.org/drawingml/2006/main" prst="roundRect">
            <a:avLst>
              <a:gd name="adj" fmla="val 115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FA3831-66D8-4C90-8CA5-708EB9A5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7239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9F45B2-99CA-4BB7-B7B2-F948FA5D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H/W 모듈·장착 설계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a89a73b74a4d0e"/>
          <a:stretch xmlns:a="http://schemas.openxmlformats.org/drawingml/2006/main"/>
        </p:blipFill>
        <p:spPr>
          <a:xfrm xmlns:a="http://schemas.openxmlformats.org/drawingml/2006/main">
            <a:off x="895350" y="4103778"/>
            <a:ext cx="6896100" cy="3251019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17EF6A-A5F5-4EE9-9CCC-8D802760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657225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4E9257-2057-4E2F-B55F-8D153B9D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457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5942AD-5DBE-47C7-98E8-B003A662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422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장착·안전·미확정 항목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8010E0-3DA8-4B0A-9FAE-9A885669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86100"/>
            <a:ext cx="4038600" cy="529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카메라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식재료 동선이 보이는 위치, 모델·화각 실물 제작 후 확정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리드스위치/자석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문틀/문짝에 고정, 닫힘 시 근접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Raspberry Pi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결로를 피하도록 냉장고 외부 제어부에 배치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배선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CSI/USB, GPIO17/GND, USB-C 전원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네트워크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Wi-Fi/유선 LAN, Flask :5000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■ 보호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케이블 고정·냉각·결로 대책은 실물 시험 후 확정</a:t>
            </a:r>
          </a:p>
        </p:txBody>
      </p:sp>
    </p:spTree>
    <p:extLst>
      <p:ext uri="{BB962C8B-B14F-4D97-AF65-F5344CB8AC3E}">
        <p14:creationId xmlns:p14="http://schemas.microsoft.com/office/powerpoint/2010/main" val="80370375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F3AFA7-A7FE-4AF8-8910-D7DFF123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B166F-14F9-425A-B66B-26C262BB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D37300-9867-4020-A12F-D20E54F2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A1D0B2-49F0-4EEF-ADFA-257E156D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57C6C-CC8A-4449-9BA1-F9FFDE60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A2C2E0-30CF-46FF-9089-954B7342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1D2D9-E564-48E3-8FD8-F47CB2D3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프로그램·목록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8D4055-232C-47B1-A45E-2CA7AEB8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91B16-A4A3-4B39-B6C3-61CB2586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33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742950" y="2095500"/>
          <a:ext xmlns:a="http://schemas.openxmlformats.org/drawingml/2006/main" cx="11868150" cy="6334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238500"/>
                <a:gridCol w="6915150"/>
              </a:tblGrid>
              <a:tr h="527844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1125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 분류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1125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기능번호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1125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 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</a:tr>
              <a:tr h="527844">
                <a:tc rowSpan="2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AUTH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LOG-01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 - login_screen.dart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7844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REG-01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회원가입 - register_screen.dart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7844">
                <a:tc rowSpan="2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FRIDGE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FRG-01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 등록·선택·삭제 - fridge_selection_screen.dart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7844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HOME-01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홈 메뉴 - home_screen.dart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7844">
                <a:tc rowSpan="2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INVENTORY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INV-01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목록 조회 - inventory_screen.dart /inventory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7844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INV-02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 상세 수정·삭제 - inventory_detail_screen.dart /inventory/{id}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7844">
                <a:tc rowSpan="2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RECIPE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RCP-01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추천 목록 - recipe_list_screen.dart /recipes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7844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RCP-02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레시피 상세 - recipe_detail_screen.dart /recipes/{id}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7844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AI-01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촬영·후보 추출·분류·전송 - pi_fridge_camera.py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7844">
                <a:tc rowSpan="2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SERVER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API-01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인증·냉장고·재고·레시피 API - app.py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7844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DB-01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105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MySQL 테이블 생성·seed data - init_db()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945497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17B7C1-3BA3-4E98-93AC-0D0BD236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CD73E-C740-42BE-9908-EE2ACD27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B3F573-7AC0-401C-A750-CE5356CC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FC9DFA-53A9-486C-85F8-AE43E76A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D2C04C-9AC8-4DB5-BAD6-B663F773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86D950-EB78-4AA6-AC21-6C689747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96FD85-8235-4F35-9A3B-AC14E0D4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테이블 정의서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DFFDEF-F25C-46D7-8EF7-6C607751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210E68-D3CB-4C35-8827-71DACA8C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9212A5-1911-413E-B985-5F9EE392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4EBA72-8189-4505-8D29-98A40C51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5334000" cy="65722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4A3709-0E8E-4593-ABC8-B2B2E5C6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533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E8A297-B0FD-4495-A368-6AA5ED67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510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ERD 축약본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6f0b5be556424d"/>
          <a:stretch xmlns:a="http://schemas.openxmlformats.org/drawingml/2006/main"/>
        </p:blipFill>
        <p:spPr>
          <a:xfrm xmlns:a="http://schemas.openxmlformats.org/drawingml/2006/main">
            <a:off x="857250" y="3846246"/>
            <a:ext cx="5067300" cy="3823232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04452-24F7-4119-B2A0-4758666B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6362700" cy="6572250"/>
          </a:xfrm>
          <a:prstGeom xmlns:a="http://schemas.openxmlformats.org/drawingml/2006/main" prst="roundRect">
            <a:avLst>
              <a:gd name="adj" fmla="val 1198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618D3B-4206-4022-B474-A21F6316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6362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635784-06E9-4BFD-A262-18A35660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613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fridge_items 데이터사전</a:t>
            </a:r>
          </a:p>
        </p:txBody>
      </p:sp>
      <p:graphicFrame>
        <p:nvGraphicFramePr>
          <p:cNvPr id="37" name=""/>
          <p:cNvGraphicFramePr/>
          <p:nvPr/>
        </p:nvGraphicFramePr>
        <p:xfrm>
          <a:off xmlns:a="http://schemas.openxmlformats.org/drawingml/2006/main" x="6400800" y="2952750"/>
          <a:ext xmlns:a="http://schemas.openxmlformats.org/drawingml/2006/main" cx="6057900" cy="5581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23950"/>
                <a:gridCol w="952500"/>
                <a:gridCol w="685800"/>
                <a:gridCol w="1123950"/>
                <a:gridCol w="685800"/>
                <a:gridCol w="1485900"/>
              </a:tblGrid>
              <a:tr h="429358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7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항목명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7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Type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7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필수/선택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7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값 목록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7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활성여부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7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</a:tr>
              <a:tr h="429358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fridge_item_id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기본키·AUTO_INCREMENT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fridge_id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소속 냉장고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ingredient_id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FK/NULL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마스터 식재료 매칭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display_name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VARCHAR(100)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표시명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quantity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DOUBLE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 이상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기본값 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unit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VARCHAR(30)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개·g·ml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수량 단위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status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VARCHAR(30)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RECOGNIZED/UNRECOGNIZED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인식 상태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image_path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VARCHAR(255)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원본 이미지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crop_image_path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VARCHAR(255)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crop 이미지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confidence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DOUBLE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0~1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신뢰도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detected_name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VARCHAR(100)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추정 라벨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358"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TEXT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6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메모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880482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D57E53-F536-42C7-BED1-EA3D866A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DF491-3377-4F9F-8863-461127B1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90B347-F68C-437C-A2E7-E0B9CA6A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0532FB-B78B-42D0-B6D9-E7DE0D8B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C3E0B-4DA3-449B-8BBA-7C4822A9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E704F-31F2-406C-811A-BE2116E4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CE25D-1087-4AAC-BC81-D03386DE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핵심 소스코드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DF606A-579D-4C6F-B12C-BC2A3664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CD3B5-D398-4204-8104-6D03D822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0A72B6-4B9C-4C63-A001-157CB448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5810250" cy="6191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162131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AB5A7C-1E13-4B6A-B0A4-C2A5BADD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backend/app.py - upload_detection()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926742-2F0A-40E3-9476-56A2E717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53530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권장 캡처: 1144~1159, 1161~1199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이미지 검증·저장, RECOGNIZED/UNRECOGNIZED 결정, fridge_items INSERT가 보이게 캡처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파일명·줄번호 표시, 개인정보·서버 정보 가림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71B2D0-901E-453E-887C-57DC4A3C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20050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27_code_upload.png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D132FC-945A-4565-B6AE-55951481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86000"/>
            <a:ext cx="5810250" cy="6191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162131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9B87C1-705B-4084-9FD5-D44E946B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765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backend/app.py - list_recipes()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7B8902-EC60-4E7F-91FE-E78BD611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86100"/>
            <a:ext cx="53530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권장 캡처: 1018~1020, 1048~1082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1061~1066 missing 계산과 1081 정렬식을 포함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부족 재료가 적고 matched가 많은 순 추천 근거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D30355-B119-44FF-9EF1-58EB81C2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8020050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교체 파일: 27_code_recipes.png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5AF9A7-7086-444F-8099-CC79429B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00" cy="942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7336481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3ED1B8-70FD-4BCE-952E-0DA356F0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C2B128-0AB1-4F68-816F-C92CE2BC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C4600-CDC5-47ED-A99F-87B2814B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197F6-892F-4130-874B-B1EDB54B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333FA-4C8A-4587-8C80-EC871778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ACC6E-134E-4A53-90B1-A320BB66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65BCDF-2ED7-417B-84C5-93E779FB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핵심 소스코드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5E01B4-4990-4623-9DD4-95533251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AAFE2B-1EAC-41B0-AADF-128369F1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C65C49-9CCC-42C3-B446-73FC15AA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5810250" cy="6191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162131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7C3D93-ABB7-4ED0-85F9-BEACCB9F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backend/pi_fridge_camera.py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58ACCE-7FDF-46F2-AE84-E3BAAF75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53530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collect_crop_candidates(): 319~329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scan_until_action(): 912~947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YOLO·contour·center fallback과 signature 안정화 구간을 “...”로 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4FB839-4B96-4BEB-B65D-C62B592C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20050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28_code_pi.png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D64B84-E159-4C2D-AC90-342F7416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86000"/>
            <a:ext cx="5810250" cy="6191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162131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45D921-AB8E-4A64-8996-0E439B64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765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fridge_app/lib/services/api_service.dart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F44D7A-7A27-4FF8-9A73-50735782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86100"/>
            <a:ext cx="53530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fetchInventory(): 91~95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fetchRecipes(): 147~156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fetchRecipeDetail(): 158~166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REST URL과 응답 모델 변환이 보이게 캡처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6DC695-E1EE-481E-B6E9-DF324AF9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8020050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교체 파일: 28_code_flutter.png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76D2E0-1F07-4259-87AD-849BF02E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00" cy="942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3679406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2C92BC-2696-45D3-AEE7-AB6B5E54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96F09-6A8D-4268-A4C1-4E14A2B3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F0F1B-592B-4EAA-A437-4BCD6AC4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5B8CA-41A9-4F8A-8731-75075951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585A4-86AD-4878-B2F9-327147EF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C78613-878A-4EF0-BAC0-352A4A49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0F337A-6D9A-4306-8B87-3B77A36B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참조-개발 환경 및 설명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CD2FCA-AD4E-4284-BD3B-8D1C9C30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A9E01-A45C-414B-B9CB-14ABDE1E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37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742950" y="1962150"/>
          <a:ext xmlns:a="http://schemas.openxmlformats.org/drawingml/2006/main" cx="11868150" cy="628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1714500"/>
                <a:gridCol w="2190750"/>
                <a:gridCol w="6629400"/>
              </a:tblGrid>
              <a:tr h="449036">
                <a:tc gridSpan="2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10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 h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10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ctr">
                        <a:lnSpc>
                          <a:spcPct val="104000"/>
                        </a:lnSpc>
                        <a:buNone/>
                      </a:pPr>
                      <a:r>
                        <a:rPr sz="1050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적용내역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T w="9525">
                      <a:solidFill>
                        <a:srgbClr val="687686"/>
                      </a:solidFill>
                      <a:prstDash val="solid"/>
                    </a:lnT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B7CCE3"/>
                    </a:solidFill>
                  </a:tcPr>
                </a:tc>
              </a:tr>
              <a:tr h="449036">
                <a:tc rowSpan="7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S/W 개발환경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PC·앱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Windows 개발 PC, Android/Web 테스트 환경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9036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개발도구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Visual Studio Code, Flutter SDK, Git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9036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언어/프레임워크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Dart/Flutter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9036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서버·AI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Raspberry Pi OS 64-bit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9036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백엔드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Python venv, Flask, SQL/MySQL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9036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모델/라이브러리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Ultralytics YOLO, OpenCV, best.pt, yolov8n.pt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9036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문서/형상관리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HANDOFF.md, Git repository, 실행 안내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9036">
                <a:tc rowSpan="6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H/W 구성장비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디바이스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Raspberry Pi 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센서 감지·카메라·AI 추론·전송 제어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9036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CSI/Picamera2 또는 USB/OpenCV, 640×480 30FPS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9036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리드스위치·자석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GPIO17/GND 연결, 문 열림·닫힘 감지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9036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냉장고·전원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실물 냉장고, USB-C 상시 전원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9036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 REST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multipart upload, JSON API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9036"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687686"/>
                      </a:solidFill>
                      <a:prstDash val="solid"/>
                    </a:lnL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네트워크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47625" tIns="28575" rIns="47625" bIns="28575" anchor="ctr">
                      <a:normAutofit/>
                    </a:bodyPr>
                    <a:lstStyle/>
                    <a:p>
                      <a:pPr algn="l">
                        <a:lnSpc>
                          <a:spcPct val="104000"/>
                        </a:lnSpc>
                        <a:buNone/>
                      </a:pPr>
                      <a:r>
                        <a:rPr sz="900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Wi-Fi/유선 LAN, Flask :5000, MJPEG preview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687686"/>
                      </a:solidFill>
                      <a:prstDash val="solid"/>
                    </a:lnR>
                    <a:lnB w="9525">
                      <a:solidFill>
                        <a:srgbClr val="68768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F5ED3-3BC1-435C-A3F2-E79C3E5A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2867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주의: 저장소 URL·계정명·서버 IP·DB 비밀번호는 제출 자료에 노출하지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77811417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11A067-9ADD-47E8-96D3-E04F3784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38D53B-5154-4AE1-93C2-F7100914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BD50B-D1EE-40D0-86E4-003E33FE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7D177-FC0B-4A4F-B2CB-44F99F23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B68C9-BDB4-459C-8861-F4EE0ACD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B7102-F32E-4728-8CB4-ED258475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F8849-D5E4-41DF-8DDA-BA7FB0D4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S/W 기능 실사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E0D91-7BCB-4C75-B01F-97A36769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57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실행 화면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19A1D-F2DE-4753-A44E-EEF52533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A3CC4-C145-4DDE-BA34-AA44AEEA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A7DEF4-38C9-446D-8D6B-E9ADFF16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00" cy="942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CF4772-CD7F-459B-8735-D9DE16CF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2714625" cy="5572125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A977B1-E0B9-4631-B7DB-6E5287D1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526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재고 목록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31f10ce1c148d2"/>
          <a:stretch xmlns:a="http://schemas.openxmlformats.org/drawingml/2006/main"/>
        </p:blipFill>
        <p:spPr>
          <a:xfrm xmlns:a="http://schemas.openxmlformats.org/drawingml/2006/main">
            <a:off x="798283" y="2857500"/>
            <a:ext cx="2451559" cy="5305425"/>
          </a:xfrm>
          <a:prstGeom xmlns:a="http://schemas.openxmlformats.org/drawingml/2006/main" prst="roundRect">
            <a:avLst>
              <a:gd name="adj" fmla="val 4528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60C633-AAC4-449D-BC24-2509F8E5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14625"/>
            <a:ext cx="2714625" cy="5572125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497CB4-6118-4BEE-A794-F5477192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526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재고 상세·검수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2c707c444b4826"/>
          <a:stretch xmlns:a="http://schemas.openxmlformats.org/drawingml/2006/main"/>
        </p:blipFill>
        <p:spPr>
          <a:xfrm xmlns:a="http://schemas.openxmlformats.org/drawingml/2006/main">
            <a:off x="3846283" y="2857500"/>
            <a:ext cx="2451559" cy="5305425"/>
          </a:xfrm>
          <a:prstGeom xmlns:a="http://schemas.openxmlformats.org/drawingml/2006/main" prst="roundRect">
            <a:avLst>
              <a:gd name="adj" fmla="val 4528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99DD30-69E0-4239-B3D8-45CF2354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14625"/>
            <a:ext cx="2714625" cy="5572125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94DDB9-C484-42B7-A578-6DDE3500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526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레시피 추천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dee5c3916e46d2"/>
          <a:stretch xmlns:a="http://schemas.openxmlformats.org/drawingml/2006/main"/>
        </p:blipFill>
        <p:spPr>
          <a:xfrm xmlns:a="http://schemas.openxmlformats.org/drawingml/2006/main">
            <a:off x="6894283" y="2857500"/>
            <a:ext cx="2451559" cy="5305425"/>
          </a:xfrm>
          <a:prstGeom xmlns:a="http://schemas.openxmlformats.org/drawingml/2006/main" prst="roundRect">
            <a:avLst>
              <a:gd name="adj" fmla="val 4528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E3D0C0-F09D-4CE4-83F5-FDF9E592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14625"/>
            <a:ext cx="2714625" cy="5572125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E4F256-BB33-4F2A-8A31-3CC289B2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526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레시피 상세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82b106d0a04e13"/>
          <a:stretch xmlns:a="http://schemas.openxmlformats.org/drawingml/2006/main"/>
        </p:blipFill>
        <p:spPr>
          <a:xfrm xmlns:a="http://schemas.openxmlformats.org/drawingml/2006/main">
            <a:off x="9942283" y="2857500"/>
            <a:ext cx="2451559" cy="5305425"/>
          </a:xfrm>
          <a:prstGeom xmlns:a="http://schemas.openxmlformats.org/drawingml/2006/main" prst="roundRect">
            <a:avLst>
              <a:gd name="adj" fmla="val 4528"/>
            </a:avLst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E3FA02-9AFE-45A2-9BD7-DBBCD1B3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14300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9525">
            <a:solidFill>
              <a:srgbClr val="276792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동일 사용자·동일 냉장고 데이터로 실행해 재고 → 검수 → 추천 → 조리 정보 흐름을 확인했다.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7326FA-37EC-4E3C-873B-9475B5F9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0"/>
            <a:ext cx="1152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개인정보·서버 주소는 화면에 노출하지 않았으며, 캡처는 로컬 실행 환경에서 생성</a:t>
            </a:r>
          </a:p>
        </p:txBody>
      </p:sp>
    </p:spTree>
    <p:extLst>
      <p:ext uri="{BB962C8B-B14F-4D97-AF65-F5344CB8AC3E}">
        <p14:creationId xmlns:p14="http://schemas.microsoft.com/office/powerpoint/2010/main" val="90492106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484105-1C05-4AE0-99A8-7B0E9C51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B743CB-C4BA-461F-A7D2-2A249A65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3812A-9300-4F0D-93D2-16A785F0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6D5ED-9BBC-4A62-9E9A-BF20CD6A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A7A18-43C6-405C-B4AE-E1B99F72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FF1BD8-F04F-49D0-A58F-588452C1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C097A-3175-4420-A6E6-3884AD5B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참조-H/W 기능 실사 사진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D7CB7-A8BE-4F39-8864-74A20202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840EE2-7F42-4F3A-96FB-8C0C4115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39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AF6A34-543B-427F-900E-2E63DFF8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7338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13EE28-BDB1-4E86-8EC1-7E5C38BE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전체 장착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1AA67E-8418-40D7-9E7B-196E22C3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32766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냉장고·Pi·카메라·센서·케이블 경로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E407D3-3B80-4B35-A712-3F8F6E03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3392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31_hw_01.jpg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0C51F0-A558-460E-BB66-91330C34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86000"/>
            <a:ext cx="37338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381AFE-BF41-4D6E-B60C-DA7DE627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7650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Pi-카메라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AA52D7-3FA4-4CFC-A9DF-CA8149E4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86100"/>
            <a:ext cx="32766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CSI 또는 USB 연결부·촬영 방향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4CDA75-3B39-45EF-BF9C-9B077DE0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73392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31_hw_02.jpg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62F90F-45F7-4770-8F3C-AF1B2CD3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86000"/>
            <a:ext cx="37338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5D4B14-831E-4E0C-95CA-C5981E37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7650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GPIO17/GND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F790A3-CC0D-4B9E-BD35-69366832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86100"/>
            <a:ext cx="32766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물리 핀 11과 GND 배선 근접 사진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47DB7C-637E-4621-889A-5501DA2C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3392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31_hw_03.jpg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187762-8D84-43BE-981C-9ED4CE28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37338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02A65E-6A2B-4654-AA67-2ABF93EF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문 열림/닫힘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3D7371-C5FA-4B15-869C-37AB71EE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229350"/>
            <a:ext cx="32766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리드스위치·자석 거리 비교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FD5ECA-2D34-4DE5-85A0-3C45D65B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7717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31_hw_04.jpg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570A01-A5B8-4E71-BA75-7BCD48B2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429250"/>
            <a:ext cx="37338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DC4F57-80CF-47A8-BA2D-38D9FEF4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6197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MJPEG 인식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3A5F67-4853-4BB0-86CE-678DD709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229350"/>
            <a:ext cx="32766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실제 식재료와 검출 박스 화면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C016EB-35FD-4E41-9721-D3B12447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87717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31_hw_05.jpg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B76F50-A54E-4C45-8275-710781BF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429250"/>
            <a:ext cx="37338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C30A2E-C459-443D-B69D-8687DB6B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6197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앱 재고 반영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4C9ED7-BD4F-4FA9-BFF6-98F0EFE8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6229350"/>
            <a:ext cx="32766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식재료 투입 후 목록 갱신 결과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F035CD-605E-45FE-977F-F0824A94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87717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31_hw_06.jpg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D80CF8-8F11-425C-88BC-0CB75CC3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00" cy="942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2183803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EE04BD-1FFB-42F2-8558-813E8B5F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E7B05-D59B-4F7B-9A95-7A5DDA5B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992BC-1D2A-4575-BF64-2BFC9ADF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919D89-5AB2-42EF-B9CC-C0639372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57C10-9D31-4305-84CE-962A6265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889C2-E717-4278-A1BA-6B26450A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A342E4-6876-41DD-A556-050D61A6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동영상 촬영 콘티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6F2B70-9A0C-4802-A6AB-23C66233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DBD0A3-7CF4-46F9-9FF2-AB147AA9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40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6C6DDA-25DB-435B-B92D-F14CC025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581025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D10123-5F6D-4C5B-981A-9C670C30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문제 제시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31FB78-6ED0-4E02-991A-7180AF89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53530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고령인구·노년 1인가구 증가와 수기 재고관리 부담을 1~2문장으로 설명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FB13F1-DF25-437D-98B8-075BF2FF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33925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32_story_1.png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DC28B2-682A-4055-9C0F-C3428B24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86000"/>
            <a:ext cx="581025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7EF29B-9BE8-4131-BE64-E9E957C0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765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하드웨어 소개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AB1915-2D58-4F7F-A0F0-32CEC544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86100"/>
            <a:ext cx="53530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카메라·리드스위치·Raspberry Pi 장착 위치와 연결을 소개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FBA29E-3AC9-4EC4-8105-EFA13355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733925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교체 파일: 32_story_2.png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5C8067-8314-42DF-AB6C-F614F1D8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581025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9050">
            <a:solidFill>
              <a:srgbClr val="C85B28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CED678-8AFE-40E4-AFA3-18DAAF28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자동 인식·저장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AF0CFD-63CA-41C2-9E3C-CA667B6D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229350"/>
            <a:ext cx="53530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문 열림 → 촬영 → AI 인식 → /upload → 재고 반영을 시연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2000A1-99DF-46D1-B6EC-AE64C2DE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77175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교체 파일: 32_story_3.png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B9F26A-655F-4A64-8181-2AC593E7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429250"/>
            <a:ext cx="581025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19050">
            <a:solidFill>
              <a:srgbClr val="963632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14401E-F5EE-43B6-8359-CD61F3DB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61975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rPr>
              <a:t>앱 확인·레시피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2BE41F-D755-4DB2-BB8E-5F39C8E2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229350"/>
            <a:ext cx="53530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확인 필요 항목 검수와 부족 재료가 적은 레시피 추천을 시연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8CF7F0-8ABE-4551-978E-31547391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7877175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rPr>
              <a:t>교체 파일: 32_story_4.png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C9CF96-BAF8-46C0-8513-42F304D9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00" cy="942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2413235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2AC39C-C625-45B4-9B4E-57442C05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7850"/>
            <a:ext cx="2476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7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D5118E-267B-43F7-A69E-F09247D9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0"/>
            <a:ext cx="76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4D4B0E-C82E-48CF-8309-876B110C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43338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2285E-4264-45F1-98F5-762BBB4A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360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20F4E-D4F6-4FDD-8925-6D54C247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42950"/>
            <a:ext cx="6334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D83B1-E897-44B5-A300-2F78A6F7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4A087F-C55E-4386-A7BE-2C2729C3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29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| 참조-프로젝트 관리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7EA886-B889-49DD-B9AE-9D045430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한이음드림업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C27E6C-06CE-44DE-B8D9-663F4140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90106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41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49734A-D7AD-45FE-A8EF-60E3FC15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3733800" cy="600075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3F471-ED22-4577-AA7B-E9418585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프로젝트 관리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FD4987-8A72-4432-B99C-BD09F32B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3276600" cy="46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주간 일정 또는 Kanban 보드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완료/진행/대기 상태와 담당을 표시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F7FE2C-FA3F-47D2-A8CC-85E8B143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48600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교체 파일: 33_project_board.png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39B111-9D4F-4D52-8208-D34EAADD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05050"/>
            <a:ext cx="3733800" cy="600075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EEA0B8-0CE1-4523-BBEF-FACC72C0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955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형상관리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7B5721-C554-4F8C-886E-FA079E8D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05150"/>
            <a:ext cx="3276600" cy="46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Git commit·branch 화면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개인 계정명·원격 저장소 URL은 가림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4574EF-0F3A-428F-8D6C-F952E542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848600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교체 파일: 33_git_history.png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A5DBAF-663D-4C63-A2CD-C93617F6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05050"/>
            <a:ext cx="3733800" cy="600075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9050">
            <a:solidFill>
              <a:srgbClr val="C85B28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1E0BF0-5EB3-4B45-A42D-AC5BE9FD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955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이슈관리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EDE147-46BA-4F6A-84F4-CF4657F5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05150"/>
            <a:ext cx="3276600" cy="461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오류-원인-해결-검증이 보이는 이슈 화면</a:t>
            </a:r>
          </a:p>
          <a:p xmlns:a="http://schemas.openxmlformats.org/drawingml/2006/main">
            <a:pPr algn="ctr">
              <a:lnSpc>
                <a:spcPct val="116000"/>
              </a:lnSpc>
              <a:buNone/>
              <a:def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재현 조건과 수정 commit을 연결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566375-E7DF-466B-A886-B4CD0949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848600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교체 파일: 33_issue_log.png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72AF63-6F91-43B0-B7C8-935592BC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7255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관리 증빙은 날짜·상태·해결 결과가 보이도록 캡처하고 개인정보는 제거한다.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444CEA-3FD4-4604-9D3A-5FC603C2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00" cy="942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935123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6E9144-9FEA-4966-B746-E8D4131A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F54F4-369D-438B-B80D-D607A941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47750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3F5FA9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3F5FA9"/>
                </a:solidFill>
                <a:latin typeface="Malgun Gothic"/>
                <a:ea typeface="Malgun Gothic"/>
                <a:cs typeface="Malgun Gothic"/>
              </a:rPr>
              <a:t>제작설계 핵심 정리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061ABB-8DFD-49B9-8834-B7367E48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06680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ECF7F0"/>
          </a:solidFill>
          <a:ln xmlns:a="http://schemas.openxmlformats.org/drawingml/2006/main" w="19050">
            <a:solidFill>
              <a:srgbClr val="2F70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8D1871-633F-4EA1-BB38-6F34D676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19375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F704F"/>
                </a:solidFill>
                <a:latin typeface="Malgun Gothic"/>
                <a:ea typeface="Malgun Gothic"/>
                <a:cs typeface="Malgun Gothic"/>
              </a:rPr>
              <a:t>직접 수요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43838-D96F-4B12-AA4B-271DC457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19375"/>
            <a:ext cx="790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초고령사회와 노년 1인가구 증가에 맞춘 식재료 관리 자동화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569316-DDD4-4727-AF0E-A81DFF55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106680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7679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8EACB-971A-4907-A9F1-4D861DD2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48125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76792"/>
                </a:solidFill>
                <a:latin typeface="Malgun Gothic"/>
                <a:ea typeface="Malgun Gothic"/>
                <a:cs typeface="Malgun Gothic"/>
              </a:rPr>
              <a:t>구현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317FFD-CDB5-4B14-90F2-6B2D20B0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48125"/>
            <a:ext cx="790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문 이벤트·엣지 AI·Flask/MySQL·Flutter를 연결한 모듈형 구조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8D04A9-799F-443F-9608-20F26853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106680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19050">
            <a:solidFill>
              <a:srgbClr val="C85B2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2C96BE-A5D1-4C32-9AF4-A75F64B2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76875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C85B28"/>
                </a:solidFill>
                <a:latin typeface="Malgun Gothic"/>
                <a:ea typeface="Malgun Gothic"/>
                <a:cs typeface="Malgun Gothic"/>
              </a:rPr>
              <a:t>신뢰성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56A8ED-B6F6-4E38-9771-227A640F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76875"/>
            <a:ext cx="790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3247"/>
                </a:solidFill>
                <a:latin typeface="Malgun Gothic"/>
                <a:ea typeface="Malgun Gothic"/>
                <a:cs typeface="Malgun Gothic"/>
              </a:rPr>
              <a:t>stable frame과 UNRECOGNIZED 사용자 검수로 자동화와 정확성 균형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1923D8-BC84-49A8-A2E6-7B97AC15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2390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963632"/>
                </a:solidFill>
                <a:latin typeface="Malgun Gothic"/>
                <a:ea typeface="Malgun Gothic"/>
                <a:cs typeface="Malgun Gothic"/>
              </a:rPr>
              <a:t>최종 제출 전 교체할 자료: 통계 그래프 · 기술 동향 그림 · 코드 캡처 · S/W/H/W 실사 · 관리 증빙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EF789-8024-4C48-964F-5A782DA8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819150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162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3F5FA9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3F5FA9"/>
                </a:solidFill>
                <a:latin typeface="Malgun Gothic"/>
                <a:ea typeface="Malgun Gothic"/>
                <a:cs typeface="Malgun Gothic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635819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2026-07-12T12:31:50.9770000Z</dcterms:created>
  <dcterms:modified xsi:type="dcterms:W3CDTF">2026-07-12T12:31:50.9780000Z</dcterms:modified>
</coreProperties>
</file>