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82c94ebb74301" /><Relationship Type="http://schemas.openxmlformats.org/officeDocument/2006/relationships/extended-properties" Target="/docProps/app.xml" Id="R9c1210851858464d" /><Relationship Type="http://schemas.openxmlformats.org/officeDocument/2006/relationships/officeDocument" Target="/ppt/presentation.xml" Id="Rae628cfac39b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131f123de24ca9"/>
  </p:sldMasterIdLst>
  <p:notesMasterIdLst>
    <p:notesMasterId xmlns:r="http://schemas.openxmlformats.org/officeDocument/2006/relationships" r:id="Rf656cdd5924646c2"/>
  </p:notesMasterIdLst>
  <p:sldIdLst>
    <p:sldId xmlns:r="http://schemas.openxmlformats.org/officeDocument/2006/relationships" id="256" r:id="Rf7a6334d28974127"/>
    <p:sldId xmlns:r="http://schemas.openxmlformats.org/officeDocument/2006/relationships" id="257" r:id="Rd01857964bf144c7"/>
    <p:sldId xmlns:r="http://schemas.openxmlformats.org/officeDocument/2006/relationships" id="258" r:id="R344e0a0fc44c4bbd"/>
    <p:sldId xmlns:r="http://schemas.openxmlformats.org/officeDocument/2006/relationships" id="259" r:id="R5a7a7608013448c1"/>
    <p:sldId xmlns:r="http://schemas.openxmlformats.org/officeDocument/2006/relationships" id="260" r:id="R77af5af74b5b4edb"/>
    <p:sldId xmlns:r="http://schemas.openxmlformats.org/officeDocument/2006/relationships" id="261" r:id="R8dc9c7e3b76747a2"/>
    <p:sldId xmlns:r="http://schemas.openxmlformats.org/officeDocument/2006/relationships" id="262" r:id="R57b2c012782c42cf"/>
    <p:sldId xmlns:r="http://schemas.openxmlformats.org/officeDocument/2006/relationships" id="263" r:id="Ree604e63d21a441d"/>
    <p:sldId xmlns:r="http://schemas.openxmlformats.org/officeDocument/2006/relationships" id="264" r:id="Ra219630615ec4194"/>
    <p:sldId xmlns:r="http://schemas.openxmlformats.org/officeDocument/2006/relationships" id="265" r:id="R43f00799873e46c0"/>
    <p:sldId xmlns:r="http://schemas.openxmlformats.org/officeDocument/2006/relationships" id="266" r:id="Rab3d340ce4b34c56"/>
    <p:sldId xmlns:r="http://schemas.openxmlformats.org/officeDocument/2006/relationships" id="267" r:id="Rc2995c30c1134fe1"/>
    <p:sldId xmlns:r="http://schemas.openxmlformats.org/officeDocument/2006/relationships" id="268" r:id="R82f59d6eeb544f71"/>
    <p:sldId xmlns:r="http://schemas.openxmlformats.org/officeDocument/2006/relationships" id="269" r:id="Rdb40deec0a124ac9"/>
    <p:sldId xmlns:r="http://schemas.openxmlformats.org/officeDocument/2006/relationships" id="270" r:id="R43e45732ba3b4a5e"/>
    <p:sldId xmlns:r="http://schemas.openxmlformats.org/officeDocument/2006/relationships" id="271" r:id="Rd88da2f60e6047e1"/>
    <p:sldId xmlns:r="http://schemas.openxmlformats.org/officeDocument/2006/relationships" id="272" r:id="R69c28f343cec47c5"/>
    <p:sldId xmlns:r="http://schemas.openxmlformats.org/officeDocument/2006/relationships" id="273" r:id="R50cfcaae8f664c63"/>
    <p:sldId xmlns:r="http://schemas.openxmlformats.org/officeDocument/2006/relationships" id="274" r:id="R4c71f379e9254a16"/>
    <p:sldId xmlns:r="http://schemas.openxmlformats.org/officeDocument/2006/relationships" id="275" r:id="R373bc6ffcc0e49ce"/>
    <p:sldId xmlns:r="http://schemas.openxmlformats.org/officeDocument/2006/relationships" id="276" r:id="R3b4d1ccb31a1424e"/>
    <p:sldId xmlns:r="http://schemas.openxmlformats.org/officeDocument/2006/relationships" id="277" r:id="R5dcaafbe0ec84e41"/>
    <p:sldId xmlns:r="http://schemas.openxmlformats.org/officeDocument/2006/relationships" id="278" r:id="Rbe251c12d3824e9d"/>
    <p:sldId xmlns:r="http://schemas.openxmlformats.org/officeDocument/2006/relationships" id="279" r:id="R5c26f206d7bb4e03"/>
    <p:sldId xmlns:r="http://schemas.openxmlformats.org/officeDocument/2006/relationships" id="280" r:id="R05cca97a01c04f3e"/>
    <p:sldId xmlns:r="http://schemas.openxmlformats.org/officeDocument/2006/relationships" id="281" r:id="Rb365bb8028824cf3"/>
    <p:sldId xmlns:r="http://schemas.openxmlformats.org/officeDocument/2006/relationships" id="282" r:id="R2e7afd6225b34356"/>
    <p:sldId xmlns:r="http://schemas.openxmlformats.org/officeDocument/2006/relationships" id="283" r:id="Rb0ff4ca6059e4bd6"/>
    <p:sldId xmlns:r="http://schemas.openxmlformats.org/officeDocument/2006/relationships" id="284" r:id="Rc3f02e086d954775"/>
    <p:sldId xmlns:r="http://schemas.openxmlformats.org/officeDocument/2006/relationships" id="285" r:id="Rc27d218e7b0d4512"/>
    <p:sldId xmlns:r="http://schemas.openxmlformats.org/officeDocument/2006/relationships" id="286" r:id="Rc578653bd3f74a40"/>
    <p:sldId xmlns:r="http://schemas.openxmlformats.org/officeDocument/2006/relationships" id="287" r:id="R5e7e996490b24d5d"/>
    <p:sldId xmlns:r="http://schemas.openxmlformats.org/officeDocument/2006/relationships" id="288" r:id="Rf45afad69e3e4583"/>
    <p:sldId xmlns:r="http://schemas.openxmlformats.org/officeDocument/2006/relationships" id="289" r:id="R48ae6539633945bd"/>
  </p:sldIdLst>
  <p:sldSz cx="13335000" cy="9429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ed63d404fc4ca4" /><Relationship Type="http://schemas.openxmlformats.org/officeDocument/2006/relationships/slideMaster" Target="/ppt/slideMasters/slideMaster1.xml" Id="R75131f123de24ca9" /><Relationship Type="http://schemas.openxmlformats.org/officeDocument/2006/relationships/notesMaster" Target="/ppt/notesMasters/notesMaster1.xml" Id="Rf656cdd5924646c2" /><Relationship Type="http://schemas.openxmlformats.org/officeDocument/2006/relationships/presProps" Target="/ppt/presProps.xml" Id="R15c7292dd50646ab" /><Relationship Type="http://schemas.openxmlformats.org/officeDocument/2006/relationships/tableStyles" Target="/ppt/tableStyles.xml" Id="Rec9656d25fd74096" /><Relationship Type="http://schemas.openxmlformats.org/officeDocument/2006/relationships/slide" Target="/ppt/slides/slide1.xml" Id="Rf7a6334d28974127" /><Relationship Type="http://schemas.openxmlformats.org/officeDocument/2006/relationships/slide" Target="/ppt/slides/slide2.xml" Id="Rd01857964bf144c7" /><Relationship Type="http://schemas.openxmlformats.org/officeDocument/2006/relationships/slide" Target="/ppt/slides/slide3.xml" Id="R344e0a0fc44c4bbd" /><Relationship Type="http://schemas.openxmlformats.org/officeDocument/2006/relationships/slide" Target="/ppt/slides/slide4.xml" Id="R5a7a7608013448c1" /><Relationship Type="http://schemas.openxmlformats.org/officeDocument/2006/relationships/slide" Target="/ppt/slides/slide5.xml" Id="R77af5af74b5b4edb" /><Relationship Type="http://schemas.openxmlformats.org/officeDocument/2006/relationships/slide" Target="/ppt/slides/slide6.xml" Id="R8dc9c7e3b76747a2" /><Relationship Type="http://schemas.openxmlformats.org/officeDocument/2006/relationships/slide" Target="/ppt/slides/slide7.xml" Id="R57b2c012782c42cf" /><Relationship Type="http://schemas.openxmlformats.org/officeDocument/2006/relationships/slide" Target="/ppt/slides/slide8.xml" Id="Ree604e63d21a441d" /><Relationship Type="http://schemas.openxmlformats.org/officeDocument/2006/relationships/slide" Target="/ppt/slides/slide9.xml" Id="Ra219630615ec4194" /><Relationship Type="http://schemas.openxmlformats.org/officeDocument/2006/relationships/slide" Target="/ppt/slides/slide10.xml" Id="R43f00799873e46c0" /><Relationship Type="http://schemas.openxmlformats.org/officeDocument/2006/relationships/slide" Target="/ppt/slides/slide11.xml" Id="Rab3d340ce4b34c56" /><Relationship Type="http://schemas.openxmlformats.org/officeDocument/2006/relationships/slide" Target="/ppt/slides/slide12.xml" Id="Rc2995c30c1134fe1" /><Relationship Type="http://schemas.openxmlformats.org/officeDocument/2006/relationships/slide" Target="/ppt/slides/slide13.xml" Id="R82f59d6eeb544f71" /><Relationship Type="http://schemas.openxmlformats.org/officeDocument/2006/relationships/slide" Target="/ppt/slides/slide14.xml" Id="Rdb40deec0a124ac9" /><Relationship Type="http://schemas.openxmlformats.org/officeDocument/2006/relationships/slide" Target="/ppt/slides/slide15.xml" Id="R43e45732ba3b4a5e" /><Relationship Type="http://schemas.openxmlformats.org/officeDocument/2006/relationships/slide" Target="/ppt/slides/slide16.xml" Id="Rd88da2f60e6047e1" /><Relationship Type="http://schemas.openxmlformats.org/officeDocument/2006/relationships/slide" Target="/ppt/slides/slide17.xml" Id="R69c28f343cec47c5" /><Relationship Type="http://schemas.openxmlformats.org/officeDocument/2006/relationships/slide" Target="/ppt/slides/slide18.xml" Id="R50cfcaae8f664c63" /><Relationship Type="http://schemas.openxmlformats.org/officeDocument/2006/relationships/slide" Target="/ppt/slides/slide19.xml" Id="R4c71f379e9254a16" /><Relationship Type="http://schemas.openxmlformats.org/officeDocument/2006/relationships/slide" Target="/ppt/slides/slide20.xml" Id="R373bc6ffcc0e49ce" /><Relationship Type="http://schemas.openxmlformats.org/officeDocument/2006/relationships/slide" Target="/ppt/slides/slide21.xml" Id="R3b4d1ccb31a1424e" /><Relationship Type="http://schemas.openxmlformats.org/officeDocument/2006/relationships/slide" Target="/ppt/slides/slide22.xml" Id="R5dcaafbe0ec84e41" /><Relationship Type="http://schemas.openxmlformats.org/officeDocument/2006/relationships/slide" Target="/ppt/slides/slide23.xml" Id="Rbe251c12d3824e9d" /><Relationship Type="http://schemas.openxmlformats.org/officeDocument/2006/relationships/slide" Target="/ppt/slides/slide24.xml" Id="R5c26f206d7bb4e03" /><Relationship Type="http://schemas.openxmlformats.org/officeDocument/2006/relationships/slide" Target="/ppt/slides/slide25.xml" Id="R05cca97a01c04f3e" /><Relationship Type="http://schemas.openxmlformats.org/officeDocument/2006/relationships/slide" Target="/ppt/slides/slide26.xml" Id="Rb365bb8028824cf3" /><Relationship Type="http://schemas.openxmlformats.org/officeDocument/2006/relationships/slide" Target="/ppt/slides/slide27.xml" Id="R2e7afd6225b34356" /><Relationship Type="http://schemas.openxmlformats.org/officeDocument/2006/relationships/slide" Target="/ppt/slides/slide28.xml" Id="Rb0ff4ca6059e4bd6" /><Relationship Type="http://schemas.openxmlformats.org/officeDocument/2006/relationships/slide" Target="/ppt/slides/slide29.xml" Id="Rc3f02e086d954775" /><Relationship Type="http://schemas.openxmlformats.org/officeDocument/2006/relationships/slide" Target="/ppt/slides/slide30.xml" Id="Rc27d218e7b0d4512" /><Relationship Type="http://schemas.openxmlformats.org/officeDocument/2006/relationships/slide" Target="/ppt/slides/slide31.xml" Id="Rc578653bd3f74a40" /><Relationship Type="http://schemas.openxmlformats.org/officeDocument/2006/relationships/slide" Target="/ppt/slides/slide32.xml" Id="R5e7e996490b24d5d" /><Relationship Type="http://schemas.openxmlformats.org/officeDocument/2006/relationships/slide" Target="/ppt/slides/slide33.xml" Id="Rf45afad69e3e4583" /><Relationship Type="http://schemas.openxmlformats.org/officeDocument/2006/relationships/slide" Target="/ppt/slides/slide34.xml" Id="R48ae6539633945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0b9efd9a4d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53398598934e12" /><Relationship Type="http://schemas.openxmlformats.org/officeDocument/2006/relationships/notesMaster" Target="/ppt/notesMasters/notesMaster1.xml" Id="R95f74a168c9b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32c73809ed4b92" /><Relationship Type="http://schemas.openxmlformats.org/officeDocument/2006/relationships/notesMaster" Target="/ppt/notesMasters/notesMaster1.xml" Id="Rd466c3b6401548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8da4719434972" /><Relationship Type="http://schemas.openxmlformats.org/officeDocument/2006/relationships/notesMaster" Target="/ppt/notesMasters/notesMaster1.xml" Id="Re5c5dce77bf0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b11212534b4eae" /><Relationship Type="http://schemas.openxmlformats.org/officeDocument/2006/relationships/notesMaster" Target="/ppt/notesMasters/notesMaster1.xml" Id="Rf1548eb5b5f9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785885cf34588" /><Relationship Type="http://schemas.openxmlformats.org/officeDocument/2006/relationships/notesMaster" Target="/ppt/notesMasters/notesMaster1.xml" Id="R457baad563ee41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a604a75c3642a6" /><Relationship Type="http://schemas.openxmlformats.org/officeDocument/2006/relationships/notesMaster" Target="/ppt/notesMasters/notesMaster1.xml" Id="Rd9467b39a4964e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3feceac392472d" /><Relationship Type="http://schemas.openxmlformats.org/officeDocument/2006/relationships/notesMaster" Target="/ppt/notesMasters/notesMaster1.xml" Id="R6662f29ae76441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eba7d6811a4b25" /><Relationship Type="http://schemas.openxmlformats.org/officeDocument/2006/relationships/notesMaster" Target="/ppt/notesMasters/notesMaster1.xml" Id="R661f616e88ce43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41536e98fd4d5e" /><Relationship Type="http://schemas.openxmlformats.org/officeDocument/2006/relationships/notesMaster" Target="/ppt/notesMasters/notesMaster1.xml" Id="Re5e9c1043b514a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5e5b49705e468f" /><Relationship Type="http://schemas.openxmlformats.org/officeDocument/2006/relationships/notesMaster" Target="/ppt/notesMasters/notesMaster1.xml" Id="R36c1ae0f720a4c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336198abad40e4" /><Relationship Type="http://schemas.openxmlformats.org/officeDocument/2006/relationships/notesMaster" Target="/ppt/notesMasters/notesMaster1.xml" Id="R1c2e3cc602e146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9061743c9e446d" /><Relationship Type="http://schemas.openxmlformats.org/officeDocument/2006/relationships/notesMaster" Target="/ppt/notesMasters/notesMaster1.xml" Id="Rf13282d543fc48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b9beb821774133" /><Relationship Type="http://schemas.openxmlformats.org/officeDocument/2006/relationships/notesMaster" Target="/ppt/notesMasters/notesMaster1.xml" Id="Rd2bd995a487b43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8b67a5fed74485" /><Relationship Type="http://schemas.openxmlformats.org/officeDocument/2006/relationships/notesMaster" Target="/ppt/notesMasters/notesMaster1.xml" Id="R98e0452c54364f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9ccc7188f949d8" /><Relationship Type="http://schemas.openxmlformats.org/officeDocument/2006/relationships/notesMaster" Target="/ppt/notesMasters/notesMaster1.xml" Id="Rabb22289c0c54c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2a7a0a26874fa9" /><Relationship Type="http://schemas.openxmlformats.org/officeDocument/2006/relationships/notesMaster" Target="/ppt/notesMasters/notesMaster1.xml" Id="R91e1ae8c418a4c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f187e193b84396" /><Relationship Type="http://schemas.openxmlformats.org/officeDocument/2006/relationships/notesMaster" Target="/ppt/notesMasters/notesMaster1.xml" Id="R8433d40bf64a43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9ddb8c99a24373" /><Relationship Type="http://schemas.openxmlformats.org/officeDocument/2006/relationships/notesMaster" Target="/ppt/notesMasters/notesMaster1.xml" Id="R2b174af485474b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2abd4be8f84139" /><Relationship Type="http://schemas.openxmlformats.org/officeDocument/2006/relationships/notesMaster" Target="/ppt/notesMasters/notesMaster1.xml" Id="Raddb3327660a40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934085f6e74f1c" /><Relationship Type="http://schemas.openxmlformats.org/officeDocument/2006/relationships/notesMaster" Target="/ppt/notesMasters/notesMaster1.xml" Id="R40f7155bb8d243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eef4518c5a4a2d" /><Relationship Type="http://schemas.openxmlformats.org/officeDocument/2006/relationships/notesMaster" Target="/ppt/notesMasters/notesMaster1.xml" Id="R9217fc8a64ca4a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6015a0c9664eda" /><Relationship Type="http://schemas.openxmlformats.org/officeDocument/2006/relationships/notesMaster" Target="/ppt/notesMasters/notesMaster1.xml" Id="R488ddc16383648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37a80d88c44651" /><Relationship Type="http://schemas.openxmlformats.org/officeDocument/2006/relationships/notesMaster" Target="/ppt/notesMasters/notesMaster1.xml" Id="Raebe306e5c4341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645349926b24ca2" /><Relationship Type="http://schemas.openxmlformats.org/officeDocument/2006/relationships/notesMaster" Target="/ppt/notesMasters/notesMaster1.xml" Id="R0eec32f3cb0341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f87d7103c44ffd" /><Relationship Type="http://schemas.openxmlformats.org/officeDocument/2006/relationships/notesMaster" Target="/ppt/notesMasters/notesMaster1.xml" Id="R3a0bcdca459b4a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59ebf1e0124298" /><Relationship Type="http://schemas.openxmlformats.org/officeDocument/2006/relationships/notesMaster" Target="/ppt/notesMasters/notesMaster1.xml" Id="R1feff67805af45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a15a80bbf1451e" /><Relationship Type="http://schemas.openxmlformats.org/officeDocument/2006/relationships/notesMaster" Target="/ppt/notesMasters/notesMaster1.xml" Id="R34bef4afdff649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74e6d698ca4959" /><Relationship Type="http://schemas.openxmlformats.org/officeDocument/2006/relationships/notesMaster" Target="/ppt/notesMasters/notesMaster1.xml" Id="Rd1bee8e25a9342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17fec99a19444a" /><Relationship Type="http://schemas.openxmlformats.org/officeDocument/2006/relationships/notesMaster" Target="/ppt/notesMasters/notesMaster1.xml" Id="R4d1fbf595fdf4ed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8c10728a0040ec" /><Relationship Type="http://schemas.openxmlformats.org/officeDocument/2006/relationships/notesMaster" Target="/ppt/notesMasters/notesMaster1.xml" Id="R61e81155da46402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27c6be99ab642bf" /><Relationship Type="http://schemas.openxmlformats.org/officeDocument/2006/relationships/notesMaster" Target="/ppt/notesMasters/notesMaster1.xml" Id="R78243a28fef148d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21f38a1b03e4ae7" /><Relationship Type="http://schemas.openxmlformats.org/officeDocument/2006/relationships/notesMaster" Target="/ppt/notesMasters/notesMaster1.xml" Id="R1c9f0a1b41a4488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cd17c1e3083477f" /><Relationship Type="http://schemas.openxmlformats.org/officeDocument/2006/relationships/notesMaster" Target="/ppt/notesMasters/notesMaster1.xml" Id="R74a6085c5092442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ed39859fa444c28" /><Relationship Type="http://schemas.openxmlformats.org/officeDocument/2006/relationships/notesMaster" Target="/ppt/notesMasters/notesMaster1.xml" Id="Rc3ea3ff996054a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고령인구: https://kostat.go.kr/board.es?act=view&amp;bid=10820&amp;list_no=438832&amp;mid=a10301060100</a:t>
            </a:r>
          </a:p>
          <a:p xmlns:a="http://schemas.openxmlformats.org/drawingml/2006/main">
            <a:r>
              <a:t>2024 노년 1인가구: https://www.kostat.go.kr/board.es?act=view&amp;bid=11895&amp;list_no=442561&amp;mid=a10301010000</a:t>
            </a:r>
          </a:p>
          <a:p xmlns:a="http://schemas.openxmlformats.org/drawingml/2006/main">
            <a:r>
              <a:t>전체 1인가구 그래프는 사용하지 말고 노년 1인가구 추이를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IITP 스마트 디바이스 기술로드맵: https://www.iitp.kr/resources/file/201217/5.ICT%EB%94%94%EB%B0%94%EC%9D%B4%EC%8A%A4_%EC%96%91%EC%9E%90%EB%B3%B4%EA%B3%A0%EC%84%9C.pdf</a:t>
            </a:r>
          </a:p>
          <a:p xmlns:a="http://schemas.openxmlformats.org/drawingml/2006/main">
            <a:r>
              <a:t>IITP 2025 지원사업 안내: https://www.iitp.kr/resources/file/2025%EB%85%84%20IITP%20%EC%A7%80%EC%9B%90%EC%82%AC%EC%97%85%20%EC%95%88%EB%82%B4.pdf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5ec7e4f3741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8fd9a1b7f0445b" /><Relationship Type="http://schemas.openxmlformats.org/officeDocument/2006/relationships/slideLayout" Target="/ppt/slideLayouts/slideLayout1.xml" Id="Re3309ec302db47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09ec302db47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03ef5ce494884" /><Relationship Type="http://schemas.openxmlformats.org/officeDocument/2006/relationships/notesSlide" Target="/ppt/notesSlides/notesSlide1.xml" Id="R1801820f189b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9e79c15a543c7" /><Relationship Type="http://schemas.openxmlformats.org/officeDocument/2006/relationships/notesSlide" Target="/ppt/notesSlides/notesSlide2.xml" Id="R1980a18dc0864d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5abdf5ae04f6d" /><Relationship Type="http://schemas.openxmlformats.org/officeDocument/2006/relationships/notesSlide" Target="/ppt/notesSlides/notesSlide3.xml" Id="R3d9e8d21cf644a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cb1aa61684c68" /><Relationship Type="http://schemas.openxmlformats.org/officeDocument/2006/relationships/notesSlide" Target="/ppt/notesSlides/notesSlide4.xml" Id="R955fa1c7f82348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9d250204c4323" /><Relationship Type="http://schemas.openxmlformats.org/officeDocument/2006/relationships/notesSlide" Target="/ppt/notesSlides/notesSlide5.xml" Id="Rac6e8dc528d640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021a62f74e24" /><Relationship Type="http://schemas.openxmlformats.org/officeDocument/2006/relationships/notesSlide" Target="/ppt/notesSlides/notesSlide6.xml" Id="R529a897df67747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c8c678e694142" /><Relationship Type="http://schemas.openxmlformats.org/officeDocument/2006/relationships/image" Target="/ppt/media/image.png" Id="R3b09b1f3753c44f0" /><Relationship Type="http://schemas.openxmlformats.org/officeDocument/2006/relationships/notesSlide" Target="/ppt/notesSlides/notesSlide7.xml" Id="R1d9f79e9bd4f45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6df436eba4722" /><Relationship Type="http://schemas.openxmlformats.org/officeDocument/2006/relationships/image" Target="/ppt/media/image2.png" Id="R35413f41b1b745f0" /><Relationship Type="http://schemas.openxmlformats.org/officeDocument/2006/relationships/notesSlide" Target="/ppt/notesSlides/notesSlide8.xml" Id="R4beb70780a2648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7af5caaec45a9" /><Relationship Type="http://schemas.openxmlformats.org/officeDocument/2006/relationships/image" Target="/ppt/media/image3.png" Id="R3e33f8a4cf6445f1" /><Relationship Type="http://schemas.openxmlformats.org/officeDocument/2006/relationships/notesSlide" Target="/ppt/notesSlides/notesSlide9.xml" Id="R5b2d70d145fa4f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2a06a25a94869" /><Relationship Type="http://schemas.openxmlformats.org/officeDocument/2006/relationships/image" Target="/ppt/media/image4.png" Id="Rc8fdd182cfe642b6" /><Relationship Type="http://schemas.openxmlformats.org/officeDocument/2006/relationships/notesSlide" Target="/ppt/notesSlides/notesSlide10.xml" Id="Rd213a0641d6047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d1032817e4edd" /><Relationship Type="http://schemas.openxmlformats.org/officeDocument/2006/relationships/image" Target="/ppt/media/image5.png" Id="R3199e4cda51443df" /><Relationship Type="http://schemas.openxmlformats.org/officeDocument/2006/relationships/notesSlide" Target="/ppt/notesSlides/notesSlide11.xml" Id="Racf0d15a369a41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1db41c41a4b03" /><Relationship Type="http://schemas.openxmlformats.org/officeDocument/2006/relationships/image" Target="/ppt/media/image6.png" Id="Rcaee48cde5b34a53" /><Relationship Type="http://schemas.openxmlformats.org/officeDocument/2006/relationships/notesSlide" Target="/ppt/notesSlides/notesSlide12.xml" Id="Ra64e550220514c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e9d6dd0844cd8" /><Relationship Type="http://schemas.openxmlformats.org/officeDocument/2006/relationships/image" Target="/ppt/media/image7.png" Id="R2398fafb9ff84288" /><Relationship Type="http://schemas.openxmlformats.org/officeDocument/2006/relationships/notesSlide" Target="/ppt/notesSlides/notesSlide13.xml" Id="Ra24a6c2a8df249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4cb286acd460c" /><Relationship Type="http://schemas.openxmlformats.org/officeDocument/2006/relationships/image" Target="/ppt/media/image8.png" Id="R7268a16d735a44a3" /><Relationship Type="http://schemas.openxmlformats.org/officeDocument/2006/relationships/notesSlide" Target="/ppt/notesSlides/notesSlide14.xml" Id="Rcc069a95befd49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853e57054b4c" /><Relationship Type="http://schemas.openxmlformats.org/officeDocument/2006/relationships/image" Target="/ppt/media/image9.png" Id="R9769906600a54167" /><Relationship Type="http://schemas.openxmlformats.org/officeDocument/2006/relationships/notesSlide" Target="/ppt/notesSlides/notesSlide15.xml" Id="Rc2796fff493044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775abe1d14dfe" /><Relationship Type="http://schemas.openxmlformats.org/officeDocument/2006/relationships/image" Target="/ppt/media/image10.png" Id="R19e2e5316b4f4275" /><Relationship Type="http://schemas.openxmlformats.org/officeDocument/2006/relationships/notesSlide" Target="/ppt/notesSlides/notesSlide16.xml" Id="Re5ac4da037df47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3acea5aee476d" /><Relationship Type="http://schemas.openxmlformats.org/officeDocument/2006/relationships/image" Target="/ppt/media/image11.png" Id="R9a6d968696c24b59" /><Relationship Type="http://schemas.openxmlformats.org/officeDocument/2006/relationships/notesSlide" Target="/ppt/notesSlides/notesSlide17.xml" Id="Ref426d668da243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6e5f385924af2" /><Relationship Type="http://schemas.openxmlformats.org/officeDocument/2006/relationships/image" Target="/ppt/media/image12.png" Id="R38744cac9bca4ce2" /><Relationship Type="http://schemas.openxmlformats.org/officeDocument/2006/relationships/notesSlide" Target="/ppt/notesSlides/notesSlide18.xml" Id="Rc00fd191f7bd40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61cb011ea400b" /><Relationship Type="http://schemas.openxmlformats.org/officeDocument/2006/relationships/image" Target="/ppt/media/image13.png" Id="R6aa6626525fd4a04" /><Relationship Type="http://schemas.openxmlformats.org/officeDocument/2006/relationships/notesSlide" Target="/ppt/notesSlides/notesSlide19.xml" Id="R48ec22fc7cc140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f9fbc5634416" /><Relationship Type="http://schemas.openxmlformats.org/officeDocument/2006/relationships/image" Target="/ppt/media/image14.png" Id="Re878cb1090ba4b65" /><Relationship Type="http://schemas.openxmlformats.org/officeDocument/2006/relationships/notesSlide" Target="/ppt/notesSlides/notesSlide20.xml" Id="R7d770ce5ce4347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c87a3fd094b92" /><Relationship Type="http://schemas.openxmlformats.org/officeDocument/2006/relationships/image" Target="/ppt/media/image15.png" Id="Rb698cd2a42504291" /><Relationship Type="http://schemas.openxmlformats.org/officeDocument/2006/relationships/notesSlide" Target="/ppt/notesSlides/notesSlide21.xml" Id="R9b5fe352ce5b45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dbd9a752c4ea3" /><Relationship Type="http://schemas.openxmlformats.org/officeDocument/2006/relationships/image" Target="/ppt/media/image16.png" Id="R910b2d12f38d4004" /><Relationship Type="http://schemas.openxmlformats.org/officeDocument/2006/relationships/notesSlide" Target="/ppt/notesSlides/notesSlide22.xml" Id="R4f8c74c925c546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ced28d7934f84" /><Relationship Type="http://schemas.openxmlformats.org/officeDocument/2006/relationships/notesSlide" Target="/ppt/notesSlides/notesSlide23.xml" Id="Rcf611a27f8b646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574e5edd24018" /><Relationship Type="http://schemas.openxmlformats.org/officeDocument/2006/relationships/image" Target="/ppt/media/image17.png" Id="R6b46a81d611e4174" /><Relationship Type="http://schemas.openxmlformats.org/officeDocument/2006/relationships/notesSlide" Target="/ppt/notesSlides/notesSlide24.xml" Id="R35d5b61654024f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040092b80432c" /><Relationship Type="http://schemas.openxmlformats.org/officeDocument/2006/relationships/notesSlide" Target="/ppt/notesSlides/notesSlide25.xml" Id="Rb23bfedd2ed14b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e320521a47d2" /><Relationship Type="http://schemas.openxmlformats.org/officeDocument/2006/relationships/image" Target="/ppt/media/image18.png" Id="R8f91371c8d4649d6" /><Relationship Type="http://schemas.openxmlformats.org/officeDocument/2006/relationships/notesSlide" Target="/ppt/notesSlides/notesSlide26.xml" Id="R526f7f04831f48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d3dfcd3e64893" /><Relationship Type="http://schemas.openxmlformats.org/officeDocument/2006/relationships/notesSlide" Target="/ppt/notesSlides/notesSlide27.xml" Id="R9e1e2f838b1c47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271de05c048ab" /><Relationship Type="http://schemas.openxmlformats.org/officeDocument/2006/relationships/notesSlide" Target="/ppt/notesSlides/notesSlide28.xml" Id="Rd385593a9a384e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ec3234d514522" /><Relationship Type="http://schemas.openxmlformats.org/officeDocument/2006/relationships/notesSlide" Target="/ppt/notesSlides/notesSlide29.xml" Id="Rd9bebbaa6f47487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0042c9c024229" /><Relationship Type="http://schemas.openxmlformats.org/officeDocument/2006/relationships/notesSlide" Target="/ppt/notesSlides/notesSlide30.xml" Id="R144dd6965c5f45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a10c9747d4b0b" /><Relationship Type="http://schemas.openxmlformats.org/officeDocument/2006/relationships/notesSlide" Target="/ppt/notesSlides/notesSlide31.xml" Id="R035103f9686e48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61a59a03e4e38" /><Relationship Type="http://schemas.openxmlformats.org/officeDocument/2006/relationships/notesSlide" Target="/ppt/notesSlides/notesSlide32.xml" Id="R885c18159fc443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8b2a1bc1d4c36" /><Relationship Type="http://schemas.openxmlformats.org/officeDocument/2006/relationships/notesSlide" Target="/ppt/notesSlides/notesSlide33.xml" Id="R90cf4dd6b68d45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63ced410d49b6" /><Relationship Type="http://schemas.openxmlformats.org/officeDocument/2006/relationships/notesSlide" Target="/ppt/notesSlides/notesSlide34.xml" Id="R21b144e95b1e43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81BC3-A947-4C9E-8FEB-0ADA1406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40CD3-C911-4A30-AC86-CA0A805C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54202-442C-47AD-A948-6AACFC0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093CA-9B93-4A92-94B2-3D9D2159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SW개발/HW제작 설계서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F11A9-5AA2-4D9A-B978-22FC4C0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독거노인의 식생활 관리를 위한 AI 기반 스마트 냉장고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7F8C8-C749-43DC-8908-36C7EBDF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66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9EE94-1170-47C1-B7FB-3DE5B44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프로젝트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D51F7-82B4-4ABA-BD48-8B6F4AC8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리드스위치로 냉장고 문 이벤트를 감지하고 필요한 시점에만 촬영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 5에서 YOLO·윤곽선 후보·식재료 분류를 수행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재고 등록·소비 반영과 사용자 검수를 함께 제공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보유 재료 기반으로 부족 재료가 적은 레시피를 우선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86323-390F-467E-857E-9E674BD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2026. 07. 11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D5A64-24A9-475D-B85F-E89F3366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6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개인정보 미기재 편집 가능본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10F70-0243-470F-95C6-44BD3EB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</p:spTree>
    <p:extLst>
      <p:ext uri="{BB962C8B-B14F-4D97-AF65-F5344CB8AC3E}">
        <p14:creationId xmlns:p14="http://schemas.microsoft.com/office/powerpoint/2010/main" val="873481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2CFD49-F723-4617-B0AC-67810D6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F8210-4349-4B9D-BF32-14C91C83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F5C0A-1FEE-4769-A8FC-D27343A9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6BD4F-66CA-43E3-BCD5-93D13B1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5F34-79C9-4AB9-9BCA-9EBA0593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9DE41-7591-4A41-B4AD-84C072D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D5B25-5568-441A-B3A7-01B2812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수행 단계별 주요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EE8A0-7F9F-47EA-AB8B-FF501CF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01C83-1FEC-4DC6-AEAC-5E0ADAB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171700"/>
          <a:ext xmlns:a="http://schemas.openxmlformats.org/drawingml/2006/main" cx="11858625" cy="609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  <a:gridCol w="2476500"/>
                <a:gridCol w="1571625"/>
              </a:tblGrid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시장/기술 동향 분석서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고령인구·노년 1인가구 중심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3-4p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정의서, 유즈케이스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필수/선택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5-7p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아키텍처설계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구성도, 흐름도, UI/UX, H/W·센서 구성도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8-12p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기능설계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메뉴, 화면, 연계도, ERD, 기능처리도, 알고리즘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13-23p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개발/구현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설계도, 프로그램 목록, 테이블 정의서, 핵심 소스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24-28p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개발환경, S/W·H/W 실사, 동영상 콘티, 프로젝트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29-33p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5E7EF-B646-47B3-903E-66D9F2D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77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설문조사와 인터뷰 결과서는 실제 조사를 수행하지 않았으므로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648230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64EFF-E999-40BF-8240-9E55F4D9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51602-9F45-4F57-A6EF-6A83C300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EC88C-FE55-4FF7-9FAE-4548CFD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2DD8D-63B4-4959-99D3-F4F2A90D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E9879-2A18-4431-96D9-8C1E6E6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76212-BCF6-437B-A2C0-46221C4D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76644-86CB-4267-BA86-592AC23B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A38A0-6C98-4EF3-A521-6B2C676A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사회·시장 배경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445FC-ED81-4072-88FC-685D785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FEFF8-8716-4C57-9088-BC53156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DBCBB-CB70-4B4B-BBEC-0AE53E49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715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EADA7-64B4-4C0C-9D0D-0CD1E6B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그림 1-1. 고령인구 추이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2C51-A574-4628-AE77-035FCF5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257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통계청 「2025 고령자 통계」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2025년 20.3% · 2036년 30% · 2050년 40% 초과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 제목·범례·기준연도가 보이게 캡처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6641B-C792-44CE-BF96-F094108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03_market_elderly.png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D6DE8-56E0-416B-8DEF-D899E94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5791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7D93B-D214-493C-AFD1-8C69EE0B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그림 1-2. 노년 1인가구 추이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806EF-EEA2-4279-8359-0EEE477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5334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1인가구가 아닌 65세 이상 노년 1인가구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2022년 197.3만 → 2023년 약 213.8만 → 2024년 228.9만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노년 가구 중 비중: 37.0% → 37.8% → 38.2%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ECA2E-4D23-437E-A862-32B29BEF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03_market_elderly_single_household.png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7A767-255D-4CDE-8D87-A2366235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A242F-5F29-404A-A0F0-B01E33F3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E3735-3249-4994-AAFD-24EE6D0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해설 및 프로젝트 시사점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E2AAB-CBE3-4746-A60C-24B7E43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19950"/>
            <a:ext cx="1148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7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우리나라는 2025년 65세 이상 인구가 전체의 20.3%를 차지해 초고령사회에 진입했고, 고령인구 비중은 장기적으로 계속 증가할 전망이다.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2024년 가구주가 65세 이상인 노년 가구 중 1인 가구는 228만 9천 가구로 38.2%를 차지한다. 이는 식재료 구입·보관·소비를 혼자 관리하는 가구가 확대되고 있음을 뜻한다.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수기 입력을 계속 요구하는 방식은 고령 사용자에게 부담이 될 수 있으므로, 문 이벤트 기반 자동 촬영·인식과 확인이 필요한 항목만 검수하는 방식이 적합하다.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본 프로젝트는 재고 자동화에 그치지 않고 보유 재료와 레시피 필요 재료를 비교해 실제 식생활 의사결정까지 지원한다.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A2DC9-CC4F-4C48-9755-ED103777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출처: 통계청 「2025 고령자 통계」, 「2024년·2023년 생애단계별 행정통계」. 2023년 가구 수는 공표 비중으로 계산한 약값.</a:t>
            </a:r>
          </a:p>
        </p:txBody>
      </p:sp>
    </p:spTree>
    <p:extLst>
      <p:ext uri="{BB962C8B-B14F-4D97-AF65-F5344CB8AC3E}">
        <p14:creationId xmlns:p14="http://schemas.microsoft.com/office/powerpoint/2010/main" val="806957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5EDB6-D338-4F3E-BE03-0A92879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7E2CF-5944-480C-B56D-FEADC0DA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78C4D-C099-4787-A806-05A317A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5E02A-AA60-4B2A-8FD8-EE489EFF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30EE7-82C2-4E38-8AEB-9557054D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0A8A8-009B-453A-BCED-8060D2D0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A76B6-DD3B-4E83-89E0-0F9BDC4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C6C56-6D73-481E-8489-047D0C6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기술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AEC97-45FF-4562-ADDD-80041F5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ADDD9-D1BE-49CD-84B9-1CC27AAA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18681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333625"/>
                <a:gridCol w="2095500"/>
                <a:gridCol w="2619375"/>
                <a:gridCol w="3390900"/>
              </a:tblGrid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수기·일반 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바코드/RFID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스마트 냉장고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프로젝트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직접 입력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부착·스캔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카메라·제품 생태계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자동 촬영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방식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 그대로 사용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코드·태그 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영상 인식 중심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YOLO+contour+분류+fallback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반영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수량 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인식 시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시스템 내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등록, /consume 차감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항목 수기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확인 제한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제품별 방식 상이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UNRECOGNIZED만 선택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연계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앱에서 제공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대체로 미지원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서비스에 종속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matched/missing 계산·정렬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위치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앱·서버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리더기·서버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의존도가 높음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엣지 추론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95313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입력 부담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관리 부담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 비용·복잡성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자동화+큰 카드+확인 필요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6324D-D543-4642-AF56-9D11B53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75"/>
            <a:ext cx="4476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9F98B-BB4C-4D0A-A225-E9A350B8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9137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IoT·엣지 AI 기술 동향 그림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C3F5C-9F18-42DC-A122-C39C39C9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00975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97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IITP 기술로드맵의 엣지 AI·IoT 구조 그림 또는 핵심 문장 캡처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99984-F8E8-48D4-AFE7-5F36A7BA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391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04_technology_trend.png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3F0AB-78DD-480B-AC02-103D8605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99495-ABD2-459F-A4B7-E665748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7E7B5-66AE-4B92-B5B6-BF5C006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151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동향 해설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8E634-3EF6-4675-85B5-A961615A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734300"/>
            <a:ext cx="680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5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엣지 AI는 클라우드 연결이 불안정해도 현장에서 상황을 인식하고 지연·데이터 전송량을 줄이는 방향으로 발전하고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문 센서 이벤트가 있을 때만 촬영하면 연속 녹화 대비 연산·저장 부담을 줄이고 실제 입출고 시점에 집중할 수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인식 결과를 무조건 확정하지 않고 낮은 신뢰도 항목만 사용자가 보완하는 사람-검수 구조가 정확성과 접근성을 함께 확보한다.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CCECD-E578-40FA-9320-36D7CDE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 참고: IITP 「ICT R&amp;D 기술로드맵 2025 - 스마트 디바이스」, 「2025년 지원사업 안내」. 비교표는 기술 유형 기준 분석.</a:t>
            </a:r>
          </a:p>
        </p:txBody>
      </p:sp>
    </p:spTree>
    <p:extLst>
      <p:ext uri="{BB962C8B-B14F-4D97-AF65-F5344CB8AC3E}">
        <p14:creationId xmlns:p14="http://schemas.microsoft.com/office/powerpoint/2010/main" val="1762258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00F67D-B412-425C-B2EE-35C2436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98519-A680-4A3E-A508-5490FC9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6260C-5F8F-4622-A96B-69B1C41C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8A63F-6044-404D-B681-CFCD8995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3425-7BF9-492F-A3B2-D88FA1BA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BCD76-310F-46D7-A180-2D322944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DDA40-CBB4-40D4-AB85-570A349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96ABD-5B40-4BAF-916B-481EE2A5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8ADDF-892F-4930-8425-A0B03C1C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AFC1E-C1A9-4A39-B905-EF3FF97C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857250"/>
                <a:gridCol w="1952625"/>
                <a:gridCol w="6667500"/>
                <a:gridCol w="1143000"/>
              </a:tblGrid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회원가입/로그인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이름·이메일·비밀번호로 계정을 생성하고 로그인한다.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냉장고를 등록·선택·삭제하고 현재 냉장고를 지정한다.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조회/수정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수량·단위·상태·메모를 수정한다.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REQ-SW-04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재료와 필요 재료를 비교해 부족 재료가 적은 순으로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리드스위치의 GPIO17 입력으로 문 상태 이벤트를 감지한다.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REQ-HW-02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촬영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또는 연속 모드에서 냉장고 내부 프레임을 수집한다.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REQ-AI-01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영역을 추출하고 식재료명·confidence를 산출한다.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791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REQ-API-01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등록/소비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결과를 /upload로 등록하고 선택 모드에서 /consume으로 차감한다.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771C9-D855-44DD-B1EE-ED226B10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검증 기준: 실제 앱/API/H/W 실행 결과와 데이터베이스 저장 결과로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666174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342B2-3FBF-4CC6-B44D-AE65E452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1B363-8E49-4629-8594-2DA3532A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88CA6-291A-42A6-8765-E744A81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19FB5-B1F7-4743-909C-4B97740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D4753-7D10-4124-94EC-385FFE9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0D67B-54F7-42BE-8086-51ACDB4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2D721-2F72-41DF-A9D9-07DEC9C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94D65-F29A-4740-A9E6-9F88F2EF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세부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5C731-6096-4D55-84F2-3A9DF39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9FDB2-0876-459F-A59D-EE67980E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186815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762250"/>
                <a:gridCol w="7820025"/>
              </a:tblGrid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이미지·인식 결과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label, confidence, 원본·crop 이미지 경로를 DB와 업로드 폴더에 저장한다.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직접 추가·수정·삭제할 수 있게 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보유/필요 재료를 비교해 missing_count가 낮은 순으로 정렬한다.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오인식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항목은 사용자가 이름과 상태를 수정할 수 있게 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문 이벤트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LOW·열림 HIGH를 기본값으로 사용하고 debounce 0.1초를 적용한다.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프레임 수집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backend로 640×480, 30FPS 프레임을 수집한다.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미리보기 스트림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MJPEG preview를 제공해 장착 위치와 인식 박스를 브라우저에서 확인한다.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추출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box → contour 보완 → center fallback 순으로 후보를 확보한다.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19125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 프레임 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label signature가 3회 반복될 때만 전송해 중복·오탐을 줄인다.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80A90-A194-44D5-A418-DBC9649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비기능 요구: 개인정보·서버 IP·DB 계정은 문서와 캡처에서 제거하고, 미확정 H/W 사양은 “실물 제작 후 확정”으로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171442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74162-C71B-4683-A478-F184A486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254DB-8F9A-4520-9A0E-D28541B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9663-5909-48A8-B0DC-9081AF7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94300-9ED7-4F69-9EAE-F36D4FE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F607F-6969-40F3-BF85-9CE07F1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EDF9A-7145-437E-AA9C-33DD5F96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0510D-811B-48BF-89E0-9ACFF67A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유즈케이스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3D074-4EC0-4B19-8360-2CDB448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9C637-B67B-4B06-B85F-ED5E2687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86E4E-24BD-4146-BDA0-23BD8FCE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6572250"/>
          </a:xfrm>
          <a:prstGeom xmlns:a="http://schemas.openxmlformats.org/drawingml/2006/main" prst="roundRect">
            <a:avLst>
              <a:gd name="adj" fmla="val 119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C6ACA-47CF-4FBC-897A-EE897917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03BDC-F3F6-42DA-8925-54840805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유즈케이스 다이어그램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9b1f3753c44f0"/>
          <a:stretch xmlns:a="http://schemas.openxmlformats.org/drawingml/2006/main"/>
        </p:blipFill>
        <p:spPr>
          <a:xfrm xmlns:a="http://schemas.openxmlformats.org/drawingml/2006/main">
            <a:off x="2643097" y="2952750"/>
            <a:ext cx="2543357" cy="5572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7144F-78A3-4F84-B9AD-665D467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65722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C8633-09A7-489A-BA32-075DC2B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67521-BA55-4EDF-BB1E-EBDF752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UC-01 식재료 자동 등록 정의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448550" y="2952750"/>
          <a:ext xmlns:a="http://schemas.openxmlformats.org/drawingml/2006/main" cx="5010150" cy="556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3819525"/>
              </a:tblGrid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후 식재료를 촬영·인식하여 현재 냉장고 재고에 자동 등록한다.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Actor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및 현재 냉장고 선택, 카메라·리드스위치·서버 정상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후행조건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행과 원본/crop 이미지, label, confidence, 상태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1) 문 열림 감지  2) 프레임 촬영  3) 후보 추출·분류  4) 동일 결과 3회 안정  5) /upload  6) 앱 목록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시나리오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신뢰도·매칭 실패는 UNRECOGNIZED로 저장 후 사용자 검수. 네트워크 오류는 재시도. cooldown 동안 중복 전송 방지.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소비 처리는 선택 워크플로에서 UC-02 /consume으로 수행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E27E0-EAA2-4360-BCE2-055AF20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 원본: diagrams/plantuml/07_usecase.puml</a:t>
            </a:r>
          </a:p>
        </p:txBody>
      </p:sp>
    </p:spTree>
    <p:extLst>
      <p:ext uri="{BB962C8B-B14F-4D97-AF65-F5344CB8AC3E}">
        <p14:creationId xmlns:p14="http://schemas.microsoft.com/office/powerpoint/2010/main" val="29463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21B10-9625-4BB1-90C7-B0037ADA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04787-823C-4BA4-836B-06A533D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5E17-B87F-42D4-B759-33274983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3D4BF-11BC-49F1-B143-D3A8492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F8266-AE92-4059-B93D-6AE15165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B11FE-2670-47A3-B33D-3C5117E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51806-F610-4941-A90E-A810DD38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093E2-F913-41FE-99F1-CF65DC0D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시나리오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EC921-5512-49F7-8863-7BF6EAC8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74709-BDB3-4AD6-89B1-0EB9B8D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32454-7679-4A61-A748-A02A4CE2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5AD82-475B-4321-A64B-8AC01840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C057F-29C4-4C6E-A151-92F9ACA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중심 서비스 시나리오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13f41b1b745f0"/>
          <a:stretch xmlns:a="http://schemas.openxmlformats.org/drawingml/2006/main"/>
        </p:blipFill>
        <p:spPr>
          <a:xfrm xmlns:a="http://schemas.openxmlformats.org/drawingml/2006/main">
            <a:off x="2741784" y="2990850"/>
            <a:ext cx="3203232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610E2-995F-4405-B544-F2098FF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C0A34-F94A-4058-8321-BC08B4D3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EFE30-698F-41A4-9158-DEA7DF6F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설명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23837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입력·처리·출력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예외/확인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문 열림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HIGH 이벤트를 Pi에 전달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bounce_time 0.1초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촬영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준비 후 640×480 프레임 수집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시 재시도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인식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YOLO·contour·fallback 후보를 분류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미달은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저장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signature 3회 후 /upload·DB INSERT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cooldown으로 중복 방지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앱 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/inventory로 목록·상태·이미지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사용자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 경로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모드에서 /consume으로 수량 감소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이하이면 행 삭제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435F3-DC83-4517-A378-7FDD207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08_service_scenario.puml | 자동 등록을 기본 경로, 문 닫힘 소비를 보조 경로로 표현</a:t>
            </a:r>
          </a:p>
        </p:txBody>
      </p:sp>
    </p:spTree>
    <p:extLst>
      <p:ext uri="{BB962C8B-B14F-4D97-AF65-F5344CB8AC3E}">
        <p14:creationId xmlns:p14="http://schemas.microsoft.com/office/powerpoint/2010/main" val="1845359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7942C-15C2-4B73-9152-31CAA45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AF833-7CCA-47A6-AE94-18A49090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3800D-B935-4A6F-9E38-2341232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DA97A-B96C-4B2C-8672-0C9CCFF4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24A55-72A0-4F1B-80B1-8DE9FA94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72D27-4F7E-465E-AA5E-92DA7487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B244F-1377-4B47-A4C6-CB03BFF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26B87-15B5-4CC4-B6DE-9962183B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14F51-563C-4DE3-AD9D-170212C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CE5E3-44A5-4896-9CC9-5B7F3C7A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E4C3A-A1AC-4FDE-8557-B5714F6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17279-5BB7-4257-AB23-669E1628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47CFD-D1A9-40A2-B6C4-C2EBC5A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아키텍처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3f8a4cf6445f1"/>
          <a:stretch xmlns:a="http://schemas.openxmlformats.org/drawingml/2006/main"/>
        </p:blipFill>
        <p:spPr>
          <a:xfrm xmlns:a="http://schemas.openxmlformats.org/drawingml/2006/main">
            <a:off x="895350" y="4057506"/>
            <a:ext cx="6896100" cy="334356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12CA5-E46B-46A3-BD9E-A817B225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812E1-CCA2-4E78-83CA-8CE43C3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3AE9F-B7F9-45A1-8791-6DB49EE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구성요소 역할·데이터 흐름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952625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구성요소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데이터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열림/닫힘 이벤트 생성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내부 프레임 수집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감지·AI 추론·전송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crop, label, confidence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REST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JSON, multipart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MySQL/파일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데이터·원본/crop 보관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SQL, JPEG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 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조회·검수·추천 UI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InventoryItem, Recipe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89082-C0CF-4471-A6B5-5E5F546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연결 순서: 센서/카메라 → Pi 엣지 AI → Flask → MySQL/이미지 → Flutter | 보호자 알림은 향후 확장</a:t>
            </a:r>
          </a:p>
        </p:txBody>
      </p:sp>
    </p:spTree>
    <p:extLst>
      <p:ext uri="{BB962C8B-B14F-4D97-AF65-F5344CB8AC3E}">
        <p14:creationId xmlns:p14="http://schemas.microsoft.com/office/powerpoint/2010/main" val="20759432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C54FD-E391-43FC-9E7D-21A7DABC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0CE1F-A4C6-4899-BB30-39EE5494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DECD4-A723-4EF6-B32A-655A4ADE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C8174-B153-4FFD-940B-1C781FE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A1BC-BA72-4DCE-B0B9-C7F64E22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5DD3E-1FE5-4BCA-862C-6953E58F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E70F7-B6FB-49B9-B545-BAF7CC6F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84775-5E41-4FA7-967E-56D71F36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444DA-65A7-4A77-AC12-CA65B21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23696-CFAD-493E-9D49-2666D38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CD8CB-3F19-4EDE-9BEB-F315C7B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8A18F-5A48-471B-8C55-E0B4252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서비스 흐름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dd182cfe642b6"/>
          <a:stretch xmlns:a="http://schemas.openxmlformats.org/drawingml/2006/main"/>
        </p:blipFill>
        <p:spPr>
          <a:xfrm xmlns:a="http://schemas.openxmlformats.org/drawingml/2006/main">
            <a:off x="895350" y="5310033"/>
            <a:ext cx="6896100" cy="8385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B91C8-96AF-40FE-85D3-56ADAE7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98F7F-222F-4A2F-B2B9-D6DD15F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D42EC-F646-4E1B-8132-2E473D1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판단·예외 처리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지점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crop을 추가해 분류 기회를 확보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 미달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후보 제외 또는 확인 필요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 frame 미달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프레임으로 돌아가 signature 재평가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오류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실패를 기록하고 다음 이벤트에서 재시도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재고 INSERT, 이미지·AI 메타데이터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재료 최신 재고 UPDATE, 0 이하 DELETE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EB4EF-586D-4E7C-A57F-6454F5F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10_service_flow.puml | 기본값: stable_frames 3, cooldown 20초</a:t>
            </a:r>
          </a:p>
        </p:txBody>
      </p:sp>
    </p:spTree>
    <p:extLst>
      <p:ext uri="{BB962C8B-B14F-4D97-AF65-F5344CB8AC3E}">
        <p14:creationId xmlns:p14="http://schemas.microsoft.com/office/powerpoint/2010/main" val="6101476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76375-E494-4841-83DF-7E2961B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CD189-1FEF-494F-85F3-470E7CCF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26DAA-AF41-4AC7-9A0A-0BEAC3E7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6D4F7-EF55-4762-A961-7B217383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3216F-EE9B-41DC-9735-1676CD24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62B1B-3800-4159-94F1-E73FBD8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61D15-9DD9-40AF-B1B4-74C6240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UI/UX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7AF77-D765-4CB1-8058-151670C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C2608-CCA1-4263-8BB5-C2A898D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0A755-50AA-452B-ADA6-08F319B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D697E-7C8E-4421-A9B3-85E84D9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6E882-E37B-4499-88C3-D88D0A8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362E6-C20F-40F9-BFB1-62042B17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 와이어프레임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9e4cda51443df"/>
          <a:stretch xmlns:a="http://schemas.openxmlformats.org/drawingml/2006/main"/>
        </p:blipFill>
        <p:spPr>
          <a:xfrm xmlns:a="http://schemas.openxmlformats.org/drawingml/2006/main">
            <a:off x="895350" y="4820256"/>
            <a:ext cx="6896100" cy="181806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6FCE3-14CF-40E5-BFFA-56BE81AA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F1B70-877A-40CE-A0F3-30845B8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AA685-7F08-474F-9B66-184F168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고령층 접근성·UI 원칙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19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방법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 우선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홈에 재고·레시피 두 개의 큰 진입 카드 배치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가시성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정상/확인 필요를 색·텍스트로 함께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최소화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 후 필요한 항목만 사용자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회복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상태·네트워크 오류에 안내와 재시도 제공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일관된 용어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재고, 재료, 확인 필요, 부족 재료 표현 통일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보호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이메일·서버 주소를 캡처와 문서에서 제거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E5567-C165-467E-9A88-106CB60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11_uiux_wireframe.puml | 실제 앱 캡처가 준비되면 와이어프레임 이미지만 교체</a:t>
            </a:r>
          </a:p>
        </p:txBody>
      </p:sp>
    </p:spTree>
    <p:extLst>
      <p:ext uri="{BB962C8B-B14F-4D97-AF65-F5344CB8AC3E}">
        <p14:creationId xmlns:p14="http://schemas.microsoft.com/office/powerpoint/2010/main" val="956223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68ED0-DB0E-4FBB-92AE-94384BB5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7F5C1-8BE1-4989-AD64-37B6D84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5BD4E-EEBF-4E3F-A8D2-4EB0895E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30C32-B006-4598-BA1F-351301B2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AA5C8-3FC6-4185-8B40-7DE0201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569C3-EF4A-4CA0-8EB2-1EC5C4C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358F0-C05A-46C7-9AC8-5B03B940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H/W·센서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21218-5F28-45D4-986E-BCD5C8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1637-8E50-4621-8A32-5C4F075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7BD33-81C0-495C-A758-DF99522A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28A5A-5C67-41E8-9673-7987ABBA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48108-B8DD-4D7E-A0EE-254198C1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센서·카메라 배선 설계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e48cde5b34a53"/>
          <a:stretch xmlns:a="http://schemas.openxmlformats.org/drawingml/2006/main"/>
        </p:blipFill>
        <p:spPr>
          <a:xfrm xmlns:a="http://schemas.openxmlformats.org/drawingml/2006/main">
            <a:off x="895350" y="4531848"/>
            <a:ext cx="6896100" cy="239488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51B24-657C-45EF-8C56-C77639F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B3C99-4C82-4D23-BA21-822DBEB7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B1873-2AE7-43A1-A56E-8B40A166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부품·연결·역할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666875"/>
                <a:gridCol w="1390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역할/비고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GPIO17, GND, 카메라, LAN/Wi-Fi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센서·영상·AI·전송 제어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선 GPIO17(물리 11), 한 선 GND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LOW, 열림 HIGH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문에 부착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닫힘 시 접점 근접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CSI/Picamera2 또는 USB/OpenCV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640×480, 30FPS 기본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USB-C 상시 전원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정격·케이블 실물 제작 후 확정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:5000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/upload, /consume, 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DAA20-5D29-401E-853C-DF35B3EF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별도 MCU/자체 PCB 없음. 결로·케이블 고정·카메라 모델·전원 정격은 실물 제작 후 확정.</a:t>
            </a:r>
          </a:p>
        </p:txBody>
      </p:sp>
    </p:spTree>
    <p:extLst>
      <p:ext uri="{BB962C8B-B14F-4D97-AF65-F5344CB8AC3E}">
        <p14:creationId xmlns:p14="http://schemas.microsoft.com/office/powerpoint/2010/main" val="763060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925F6-DFC9-48D9-B3BE-7A8A2BD7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82F8F-8921-443F-857F-CAA09A01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4686-2A91-495F-9132-05770173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45C1-803E-47E6-97B6-81558C45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1D2DF-87AB-4EB1-8F16-8EFC043B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EBB9A-4205-4495-958D-4A31A56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B09D5-5EC0-47D1-A9B8-136CAEA2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D10F8-DD1C-4955-8F4D-613F36D0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80697-242A-4A9E-8EC8-141306A4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A40DA-B61E-4323-B8B0-F9D34DE6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69713-C411-4D50-9E7A-4EF93A0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6A22C-9228-487B-9211-68C55F83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909FD-744E-475F-AA51-93AB966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이동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8fafb9ff84288"/>
          <a:stretch xmlns:a="http://schemas.openxmlformats.org/drawingml/2006/main"/>
        </p:blipFill>
        <p:spPr>
          <a:xfrm xmlns:a="http://schemas.openxmlformats.org/drawingml/2006/main">
            <a:off x="896675" y="2990850"/>
            <a:ext cx="6893450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783E9-0867-4CE2-B6AE-0921F67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1092F-7FEE-4B0F-B1AA-C3DC464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5E80-EBA4-4204-A2EA-0FD9A7AF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화면별 진입·복귀 규칙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476375"/>
                <a:gridCol w="14859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복귀/처리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로그인·회원가입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후 현재 냉장고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관리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냉장고 없음 또는 홈의 변경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후 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재고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 저장·삭제 후 목록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→ 레시피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상세에서 목록으로 복귀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상단 메뉴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상태 초기화 후 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확장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보호자 화면·알림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미구현, 점선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742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F131C-C09D-4F38-A942-B4CDAB95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E1C22-6BBC-4644-BEC8-30E64838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7411D-16C2-487F-888F-9B8820B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A127-1221-4913-997A-596EAD7B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F226A-153D-40F0-BDA2-6AEC13C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BAB8A-955E-4B43-84C0-C991794F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94CC1-65B0-4D03-91ED-E7C3E405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31BA7-9F05-4057-A6B5-A98BF8BC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A45FB-A42F-40A5-AD36-C48E884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4A075-A376-46C2-8410-71B30DB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767A-DE63-4895-AAB0-57EAB00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4F564-AD4B-4849-ACB2-E05E07C6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28EA5-D8E1-4EFF-8D6C-C7CDA8DC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8a16d735a44a3"/>
          <a:stretch xmlns:a="http://schemas.openxmlformats.org/drawingml/2006/main"/>
        </p:blipFill>
        <p:spPr>
          <a:xfrm xmlns:a="http://schemas.openxmlformats.org/drawingml/2006/main">
            <a:off x="895350" y="4763252"/>
            <a:ext cx="6896100" cy="19320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09E01-212C-4C57-94C8-0429C08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01E4A-A1BC-4C59-B663-736BC146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BD44B-05BA-4D5F-B364-0A1F8FD3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설명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762125"/>
                <a:gridCol w="129540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위치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계정/냉장고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인증, 냉장고 CRUD·선택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Flutter·Flask·MySQL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센서/카메라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촬영, 미리보기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인식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추출, 분류, 안정화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YOLO/OpenCV/best.pt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관리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등록·차감·CRUD·검수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검색·matched/missing·상세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/recipes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연동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REST·SQL·이미지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Flask·MySQL·uploads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29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28F0E-77B0-4545-87C6-9E616921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1F373-EA6A-4737-AC0D-593681CD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EA3E4-AF80-4145-B104-5150B89F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E6343-25DD-4920-819C-E2DB600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3AF4B-BF5E-475D-875E-F0DB6DB8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F8D11-C564-450D-A8CA-867E1A0A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2B581-DF26-4115-A454-82434FCE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3CEEF-2348-4D89-BB7C-E22DBAF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CD48-ACD6-48F0-B23F-0F5C829E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8C4D8-C853-41C6-AC3D-8B66BE6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CFBAC-29F1-4B4D-92E8-F6C68FA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F9CA9-CF5F-4949-A735-74ACBF5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E1759-107A-4EF8-A9B1-C50008BE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로그인·홈·재고·레시피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9906600a54167"/>
          <a:stretch xmlns:a="http://schemas.openxmlformats.org/drawingml/2006/main"/>
        </p:blipFill>
        <p:spPr>
          <a:xfrm xmlns:a="http://schemas.openxmlformats.org/drawingml/2006/main">
            <a:off x="895350" y="4793895"/>
            <a:ext cx="6896100" cy="187078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7F999-1AC0-4ADE-A1B9-6A38DC06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C669E-A841-43FA-BF52-22A19672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352D6-DB67-4B42-8620-F87EAF5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기능번호·처리내용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"/>
                <a:gridCol w="1381125"/>
                <a:gridCol w="20478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화면/기능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/auth/login 후 사용자·냉장고 상태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냉장고명과 재고/레시피 진입 카드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/inventory, 검색·필터·새로고침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POST/PUT/DELETE inventory, AI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/recipes, 부족 재료 적은 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필요/부족 재료와 조리 방법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432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F9F50-EE50-418E-A046-916A5289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95CDB-3B88-4044-AA34-EE08C0F1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7FABD-7904-4628-B1B5-446B6092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2FF44-1E0B-48E6-8942-7606CE7D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92674-A94C-4264-987A-3F9133B1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119AA-284B-4E89-98B0-36FE9EE0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DC321-AC65-468F-919D-66B20EAC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E5B42-2A2C-4A31-B512-8C5D10A6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상세/수정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7E8D2-FB63-4644-8955-F3B2104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2DD2D-DC4B-4E84-86E5-5FA18DFC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381C1-5D2A-4D5C-83FA-FC2E4F65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02F46-CA88-453E-AB2D-DE52C295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C7C3D-2453-4B80-8161-6F20F897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상세·수정 화면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2e5316b4f4275"/>
          <a:stretch xmlns:a="http://schemas.openxmlformats.org/drawingml/2006/main"/>
        </p:blipFill>
        <p:spPr>
          <a:xfrm xmlns:a="http://schemas.openxmlformats.org/drawingml/2006/main">
            <a:off x="895350" y="3591178"/>
            <a:ext cx="6896100" cy="427621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521C1-E121-463A-BBD1-CDF2AA3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8A721-4106-4C93-8B26-7EF54995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59350-0C82-4415-BFF8-A2A8C02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입력·출력·예외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1524000"/>
                <a:gridCol w="19431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 재료명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quantity/unit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수량·단위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status/note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상태·메모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detected_name/confidence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추정값·신뢰도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crop/image URL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우선, 없으면 원본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 배너와 사용자 보완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저장/삭제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시 이전 화면 복귀·목록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430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0F675-82F1-4ACF-8121-48FB28BA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63C00-A98E-4A38-BA52-1E3439E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C11BD-B76F-4163-AC93-5652019E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7DE4-D86E-4713-AB10-229EFE64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F19FB-1B5E-49AC-9ACE-51C3DDC9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2AFD8-3A85-485F-9357-EF88240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C05FC-4CB8-4375-B016-10163BE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59404-B489-4947-BCB0-0D77B23C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4AD1A-7C4A-4252-8406-26F90F02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900B9-0271-4730-86F2-04A9B0E6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A17A2-9D37-4E73-931E-6BC203AC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7DE1A-CB48-43D4-B45F-86D28C9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화면 이동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d968696c24b59"/>
          <a:stretch xmlns:a="http://schemas.openxmlformats.org/drawingml/2006/main"/>
        </p:blipFill>
        <p:spPr>
          <a:xfrm xmlns:a="http://schemas.openxmlformats.org/drawingml/2006/main">
            <a:off x="3244187" y="2990850"/>
            <a:ext cx="2198425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BDBEF-DEEF-49AF-B990-51DEA40C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1E8E9-8EB4-4200-A8E6-9652BB45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29CC5-FB84-48B1-9CB9-D25267A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네비게이션 규칙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2890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이동/처리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성공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있음 → 홈, 없음 → 냉장고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 성공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냉장고 생성 후 로그인/홈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카드 선택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상세로 이동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저장·삭제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목록으로 복귀하고 재조회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선택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상세로 이동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변경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선택·관리 화면에서 현재 냉장고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상태 초기화 후 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616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4E788-3E5D-4E84-BB1A-A154EAC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D469-6DE4-4D3B-A550-9050E0F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8A764-9D4A-48A5-A428-7C92B6A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0A4CB-AA7D-4B84-805E-7AA9543B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C6126-A4D2-414D-84A2-304D57B3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63367-92A7-4DB6-A355-22E1A027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85BF0-EFC2-4CC5-B4A8-79E43E56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연계도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D57A6-DF82-40A2-9EDE-6A9ACEA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B0742-E554-407C-8502-CABEDDFF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B4C3B-7DA6-4561-9E1A-208A2EB7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5E60C-C113-4041-B0C5-84AE277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D21C6-3E24-4F88-87F7-264733B5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H/W·앱·서버·DB 연계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44cac9bca4ce2"/>
          <a:stretch xmlns:a="http://schemas.openxmlformats.org/drawingml/2006/main"/>
        </p:blipFill>
        <p:spPr>
          <a:xfrm xmlns:a="http://schemas.openxmlformats.org/drawingml/2006/main">
            <a:off x="895350" y="4751613"/>
            <a:ext cx="6896100" cy="1955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747C7-573C-4BF5-844E-4737727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89A82-B8C6-46D4-9D98-C2E056A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A8814-D0EB-444B-B95B-B3A5C9A0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 인터페이스 정의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2000250"/>
                <a:gridCol w="105727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송신→수신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프로토콜/데이터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센서→Pi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HIGH/LOW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상태 이벤트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카메라→Pi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frame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추출·분류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Pi→Flask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multipart JPEG, label, confidence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등록/소비 요청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Flutter↔Flask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인증·재고·레시피 CRUD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Flask→MySQL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transaction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 데이터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Flask→파일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JPEG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원본·crop 증빙 보관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5439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5BD5C-8B5F-4BCC-9978-A062287B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9D96A-039D-4D4D-8581-B95EAFD5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B9539-8F3A-473D-84D2-B3932648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DBD7-B8A5-424B-8CEA-EC949524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1BAAF-5017-4FD9-9C29-B4F6E8DC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458D1-285D-47DC-A203-BBFC9A09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D3301-6361-46B5-9807-EAC5D3B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엔티티 관계도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06D3E-9CAF-4069-9C49-5171656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AD510-CBF6-4DBA-AFB6-96E4B10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5E766-222A-44B5-8FC1-BBACA0E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718F7-E876-4F30-95F8-2AB63AA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6B5A8-294B-43A1-90A8-FD21349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DCDBA-704E-49C4-B909-32DE1185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개념 ERD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6626525fd4a04"/>
          <a:stretch xmlns:a="http://schemas.openxmlformats.org/drawingml/2006/main"/>
        </p:blipFill>
        <p:spPr>
          <a:xfrm xmlns:a="http://schemas.openxmlformats.org/drawingml/2006/main">
            <a:off x="895350" y="3721951"/>
            <a:ext cx="6896100" cy="40146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631E1-2F9E-4F9C-80FB-55402691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0E823-9BEF-4AE2-84E7-137B91B3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45660-0083-4649-AC52-32BEC71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관계·무결성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000125"/>
                <a:gridCol w="1771650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카디널리티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users-fridges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삭제 시 냉장고 cascade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fridges-fridge_items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1:N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삭제 시 재고 cascade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ingredients-fridge_items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0..1:N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 실패 시 ingredient_id NULL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recipes-ingredients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N:M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recipe_ingredients 연결 테이블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users-current_fridge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애플리케이션에서 현재 냉장고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app_state-active_fridge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논리 참조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 브리지의 대상 냉장고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9204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AF74B-7CBB-412B-B0B7-84DDEEF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982CD-9AC1-4748-A905-DE93908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DC9BB-C62D-47DA-AC82-5F72960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9661C-21A1-48C5-8D08-65D8A63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5E3B5-6A5C-4B79-A0BA-DA2E30B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8A140-A3C7-4842-BEF4-4B12C75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EAF4B-0795-4788-AB9E-B8AE8094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기능 처리도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07D4A-DF6A-4AA6-AF9C-35A00A9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E5079-C759-4FFE-A6AB-E566A35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AC219-E8EB-4EDB-9440-D27E9632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07B0F-DD95-45AF-9A07-6A549F0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10CC2-9537-407E-8F4C-F0DBDA33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6BFA2-8D82-4294-B470-859A99E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재고 반영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8cb1090ba4b65"/>
          <a:stretch xmlns:a="http://schemas.openxmlformats.org/drawingml/2006/main"/>
        </p:blipFill>
        <p:spPr>
          <a:xfrm xmlns:a="http://schemas.openxmlformats.org/drawingml/2006/main">
            <a:off x="895350" y="5400807"/>
            <a:ext cx="6896100" cy="65696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BD35E-50FF-4A0E-9343-5AB83C2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96AD7-0C99-4F87-91E5-CD081425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2E753-2636-44CC-B7F8-A275EF38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입력·처리·출력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9146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이벤트, frame, fridge_id, 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전처리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 후보 병합, fallback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처리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분류, confidence, signature 안정화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→ fridge_items INSERT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/consume → UPDATE 또는 DELETE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결과, 이미지 URL, Flutter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stable_frames·cooldown·timeout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9748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BAD5C-A172-4A80-8F78-5547F7B0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5EF76-5D8C-4F13-9043-B9F0119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23A90-F72A-4F01-8D75-FE9FC7F8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17E8F-9E95-410D-8F4B-305BDEB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598C8-EC95-4192-9EB5-9F7B5EC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DA5D6-43D7-4D70-B1B6-41410B5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60C25-1E02-46C8-8551-565E2F6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4C680-E926-427F-8AE2-C9F6F4D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31CBF-468C-421F-9E7E-DE5B150C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4CBDF-77B6-448B-A9D5-BB9BD537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5EC13-5155-4783-A45E-FA3AB09C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9B5A1-D853-4DE3-8CC8-4740CA8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등록·소비 호출 순서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8cd2a42504291"/>
          <a:stretch xmlns:a="http://schemas.openxmlformats.org/drawingml/2006/main"/>
        </p:blipFill>
        <p:spPr>
          <a:xfrm xmlns:a="http://schemas.openxmlformats.org/drawingml/2006/main">
            <a:off x="1123294" y="2990850"/>
            <a:ext cx="6440212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4E332-7B9E-4F73-903C-AB8EA3EA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2014A-A047-4845-86B4-29AF078E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32B1A-20A1-497F-982C-1EB82017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참여자·책임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724150"/>
              </a:tblGrid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열기/닫기, 앱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OPEN/CLOSE 이벤트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카메라·AI·전송 오케스트레이션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카메라/AI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생성·분류·confidence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 검증·비즈니스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INSERT/SELECT/UPDATE/DELETE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8103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Flutter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목록·상세 화면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4167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038FBA-1C0F-41F2-897F-A1763C8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B60E0-044C-4714-84B0-910557FD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9A8F5-5B75-459F-8DFD-96CA8FE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CF1D3-70A0-4510-9E3E-1A647205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7A19B-3A36-4B70-89ED-5F37886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91F6-7ED6-42B1-B471-AD806A70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00399-DA40-430D-98FF-E2FDE291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명세서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221D5-19F3-4F37-BF80-6C89AD2A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후보·분류·안정화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E2C58-1349-46C7-8E52-19BFBD1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24D8D-9DD6-4085-B720-DCD040D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A2027-3B47-45D0-B2CE-034CCC47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79C57-B456-4A49-8FE6-BA120E24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0BAF0-18A0-4B54-BF9B-8C63058D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알고리즘 흐름도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b2d12f38d4004"/>
          <a:stretch xmlns:a="http://schemas.openxmlformats.org/drawingml/2006/main"/>
        </p:blipFill>
        <p:spPr>
          <a:xfrm xmlns:a="http://schemas.openxmlformats.org/drawingml/2006/main">
            <a:off x="3282019" y="2990850"/>
            <a:ext cx="2122761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503A0-F1E8-4A93-86EA-550B5C03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6C394-C5F5-40EC-BBB9-F798471A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2110E-972C-40D7-A733-8252EC4D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명세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2143125"/>
                <a:gridCol w="1438275"/>
              </a:tblGrid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detector box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후보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contour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후보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center fallback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분류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top5·confidence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none/background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uploadable 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signature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stable_count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3회 안정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또는 /consume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367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0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전송 방지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857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E7BFB-DFB2-4AAF-8581-30F6964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B4DD5-5FC2-47A7-86A6-15DC997B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49E29-C40B-4A2D-816B-AC4AB4E3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F3D64-7E83-4182-9700-F379C6A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2C168-2305-4172-A359-BB12B25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93E3F-DD73-4D48-ACD5-048DAF9F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A98CE-7EF8-455E-9C0B-0E42A68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상세 명세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062BA-A670-4505-8DCC-FFB3B226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EE380-DD93-4897-AE86-33B4697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42950" y="2076450"/>
          <a:ext xmlns:a="http://schemas.openxmlformats.org/drawingml/2006/main" cx="118681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333750"/>
                <a:gridCol w="7296150"/>
              </a:tblGrid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설정/입력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문 이벤트의 식재료 인식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생성·분류·안정화 후 재고 API 호출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 RGB frame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 또는 OpenCV camera backend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→ contour → center fallback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겹침 제거 후 최대 4개 후보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best.pt, top5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 confidence 기준과 background 보정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signature 3회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 프레임 일치 시 최종 확정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interval 1초, cooldown 20초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중복·오탐·과도한 업로드 방지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A1395-10B3-4646-B340-F00B18F5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715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C9D0C-ED2B-42BE-AD57-382E4ACD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정상 인식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980E1-7295-431E-9689-E65B4C9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52578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프레임·검출 박스·crop·label·confidence가 함께 보이는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예: “동일 tomato signature 3회 후 /upload 성공”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5F852-BFBE-4299-936F-51B0E67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23_algorithm_success.png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A012F-CDC2-45EE-9F13-AD0BD610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5791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22E7C-F26D-40A9-A96C-69FC6AC6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낮은 신뢰도/오인식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DB1CD-2022-4BDA-8A61-1875ED82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43600"/>
            <a:ext cx="53340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confidence 미달 또는 UNRECOGNIZED 사례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재료명·상태를 보완하는 화면과 함께 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D52B1-34A6-4C0A-A3DB-8396AA8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72425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23_algorithm_review.png</a:t>
            </a:r>
          </a:p>
        </p:txBody>
      </p:sp>
    </p:spTree>
    <p:extLst>
      <p:ext uri="{BB962C8B-B14F-4D97-AF65-F5344CB8AC3E}">
        <p14:creationId xmlns:p14="http://schemas.microsoft.com/office/powerpoint/2010/main" val="8470956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829CB-C98C-4837-AD65-4B26B504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CF6F9-668B-433B-8C1B-23AE926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70CB6-98E1-415D-80B9-83598DE2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7FD1B-C316-410D-9DA2-20878E6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CBD49-5F27-48EB-8F2E-4648D7E3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8F0AB-7678-4AE2-9F23-E463612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800EB-DEC6-4968-9659-616F3281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하드웨어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52375-E6BB-4D82-9963-BDC0B61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EA64D-319A-433E-8E77-6EF9BFB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27E65-2589-4FE0-A132-9AECF03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B12BC-20CE-4F25-ACB4-6E33E8F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91D4B-3822-42B1-9BDF-6C261D56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 모듈·장착 설계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6a81d611e4174"/>
          <a:stretch xmlns:a="http://schemas.openxmlformats.org/drawingml/2006/main"/>
        </p:blipFill>
        <p:spPr>
          <a:xfrm xmlns:a="http://schemas.openxmlformats.org/drawingml/2006/main">
            <a:off x="895350" y="4103778"/>
            <a:ext cx="6896100" cy="32510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9C258-863C-47E7-8D48-62C8F8E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B51E7-6763-4BEF-B581-423D0C1C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FF612-24AF-4883-95A4-213E16B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장착·안전·미확정 항목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867025"/>
              </a:tblGrid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원칙/상태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동선이 보이는 위치, 모델·화각 실물 제작 후 확정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리드스위치/자석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문틀/문짝에 고정, 닫힘 시 근접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결로를 피하도록 냉장고 외부 제어부에 배치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CSI/USB, GPIO17/GND, USB-C 전원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Wi-Fi/유선 LAN, Flask :5000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975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케이블 고정·냉각·결로 대책은 실물 시험 후 확정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8367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CFDBEF-E01A-444F-8A73-99D3ED4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423AF-7F9B-4F04-860A-06D1F63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CB374-FD35-4E55-B55B-B1A43ED0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DFB9B-7016-4D4D-8CC6-5FD3B53E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77C2B-264C-4DB6-9316-5129F8E9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57D2C-6EA9-4D60-B331-6F44B2D9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90CB8-73AF-4220-AEE3-2890BE7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프로그램·목록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6B757-469A-4225-82C4-959DFC51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21099-FC99-4B81-B4F1-9FDBE622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381125"/>
                <a:gridCol w="3238500"/>
                <a:gridCol w="4524375"/>
                <a:gridCol w="1343025"/>
              </a:tblGrid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기능번호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프로그램/파일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신규/기존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register_screen.dart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FRG-01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fridge_selection_screen.dart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등록/선택/삭제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메뉴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inventory_screen.dart, /inventory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inventory_detail_screen.dart, /inventory/{id}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 수정/삭제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recipe_list_screen.dart, /recipes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APP/API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recipe_detail_screen.dart, /recipes/{id}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H/W/AI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pi_fridge_camera.py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촬영·후보 추출·분류·전송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527844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init_db()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테이블 생성·seed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4315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737DF7-2630-40BF-B5F9-0707373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28E93-619F-4F6B-BCB9-EE766EA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426A2-77C4-449D-AAA5-521C040C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B4812-AB0E-4D2B-8139-AB7BE64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90CDA-2169-4763-9A7D-98434C2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4EE5D-E623-434E-9E47-EC5C7502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ADB77-D1E5-4AF8-8867-CA2DC3CD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테이블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72E9C-9E08-4ABF-906E-F26AA81E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C3A9B-770B-45EA-9B88-EF587029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1AF12-39DF-447A-B6EE-CB8AC78A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135DD-3149-475F-BADE-14C0A65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65722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24AD7-44C8-4744-BBE2-3850AE9C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AE37F-6CFD-4FA3-80DA-6C5A7F54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 축약본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1371c8d4649d6"/>
          <a:stretch xmlns:a="http://schemas.openxmlformats.org/drawingml/2006/main"/>
        </p:blipFill>
        <p:spPr>
          <a:xfrm xmlns:a="http://schemas.openxmlformats.org/drawingml/2006/main">
            <a:off x="857250" y="3846246"/>
            <a:ext cx="5067300" cy="382323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3C08B-56AE-4CE5-97A9-01B946AB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65722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C864E-3F52-402C-BC6D-52E48E95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91D15-A267-43A0-B7EC-C510DC99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fridge_items 데이터사전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400800" y="2952750"/>
          <a:ext xmlns:a="http://schemas.openxmlformats.org/drawingml/2006/main" cx="60579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238250"/>
                <a:gridCol w="762000"/>
                <a:gridCol w="571500"/>
                <a:gridCol w="2057400"/>
              </a:tblGrid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PK/FK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기본값/설명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fridge_item_id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AUTO_INCREMENT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냉장고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마스터 식재료 매칭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RECOGNIZED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이미지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crop_image_path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이미지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신뢰도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 라벨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7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메모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5417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DE0F4-4930-4153-8A66-CEAF1EAF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8043A-8518-4294-806D-FFCFE77A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1CBF9-3CF0-4571-A744-2A5B9F02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F809D-0D1D-4AB9-B52F-5CFBF74A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058E1-B321-44D4-9A34-7E77757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76220-C24C-42CC-AB63-B23F058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A2C96-2139-4E8C-9190-20892D82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4AC22-82E4-40F2-A5D4-9149F966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E18EA-F2CA-4AD8-8A6E-6E0CA55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A2613-D6B6-485F-AAB9-C041D7CF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C18AD-4736-41F1-A516-E9E9D04B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backend/app.py - upload_detection()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2D570-AA19-425D-BF2F-5823ABC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1144~1159, 1161~1199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검증·저장, RECOGNIZED/UNRECOGNIZED 결정, fridge_items INSERT가 보이게 캡처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파일명·줄번호 표시, 개인정보·서버 정보 가림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98355-B136-4E68-9CE6-8AB94CE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27_code_upload.png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8A5C9-41F5-49EF-A605-24846CE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AAD71-021B-4635-B764-06F9ACC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backend/app.py - list_recipes()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B9588-167C-4D8B-9CC5-A4E25D1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1018~1020, 1048~1082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1061~1066 missing 계산과 1081 정렬식을 포함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재료가 적고 matched가 많은 순 추천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586F1-D7CD-48B4-A5A1-8CDD33B3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27_code_recipes.png</a:t>
            </a:r>
          </a:p>
        </p:txBody>
      </p:sp>
    </p:spTree>
    <p:extLst>
      <p:ext uri="{BB962C8B-B14F-4D97-AF65-F5344CB8AC3E}">
        <p14:creationId xmlns:p14="http://schemas.microsoft.com/office/powerpoint/2010/main" val="6474040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649D3-5C09-42E7-8C9E-9AF7F2FD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3FE86-D24A-4EF2-B482-896475F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F856B-7084-4F89-8CC0-1E6D935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175F2-9B54-4A58-A10D-2601BE69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729E3-5907-44A1-AC47-66F8722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7BF73-495B-416E-B732-1739867E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926E8-2C2B-4FBE-B6ED-FD171B8E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C8DF9-6224-425C-8069-D11D7DCA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C0CBD-AC32-4269-A444-3F114E3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74A76-09FA-4701-839F-EF2F7DF1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5DD30-8D5F-45C8-8125-81D7E2F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backend/pi_fridge_camera.py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53BB8-AEBE-41E7-BF59-066EEF7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collect_crop_candidates(): 319~329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scan_until_action(): 912~947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YOLO·contour·center fallback과 signature 안정화 구간을 “...”로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A6A58-5447-49AD-B2C2-CBD6E28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28_code_pi.png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571E5-3A06-4E55-BD7D-63E1BAA2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F776E-E834-4D58-9CBB-AE31503B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fridge_app/lib/services/api_service.dart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176D7-1708-4A0C-B30D-F3AC29CB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fetchInventory(): 91~95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fetchRecipes(): 147~156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fetchRecipeDetail(): 158~166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REST URL과 응답 모델 변환이 보이게 캡처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B03B2-A4B1-4895-9631-A1BD3FC3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28_code_flutter.png</a:t>
            </a:r>
          </a:p>
        </p:txBody>
      </p:sp>
    </p:spTree>
    <p:extLst>
      <p:ext uri="{BB962C8B-B14F-4D97-AF65-F5344CB8AC3E}">
        <p14:creationId xmlns:p14="http://schemas.microsoft.com/office/powerpoint/2010/main" val="694816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7E24E-A843-4783-99BD-854166F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D9F6A-77EA-4827-B408-D2FF312D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A0B14-CA2C-4E74-96E6-8DD0B0E3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DA2CB-765D-46E4-802D-201B991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E2352-9074-4C7C-8791-F19E3793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301A0-8A3B-43E1-A6DA-351368F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12540-5AF5-4B5E-8E1D-3FF0FA08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참조-개발 환경 및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DA72-AD5B-4F9B-A10E-35A6552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B3FFF-082D-41CB-94A9-504B475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809750"/>
                <a:gridCol w="4953000"/>
                <a:gridCol w="3438525"/>
              </a:tblGrid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내역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T w="9525">
                      <a:solidFill>
                        <a:srgbClr val="B8C9DE"/>
                      </a:solidFill>
                      <a:prstDash val="solid"/>
                    </a:lnT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276792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개발 PC, Raspberry Pi OS 64-bit, Android/Web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개발과 H/W 실행 환경 분리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Studio Code, Flutter, Python venv, Git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앱·백엔드·AI 브리지 개발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언어/프레임워크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Dart/Flutter, Python/Flask, SQL/MySQL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앱·API·DB 구성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개발환경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모델/라이브러리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Ultralytics YOLO, OpenCV, best.pt, yolov8n.pt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탐지와 식재료 분류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구성장비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5, 카메라, 리드스위치, 자석, 냉장고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촬영과 문 이벤트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 방식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REST, multipart upload, MJPEG preview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Pi·서버·앱 간 데이터 전달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738188"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8C9DE"/>
                      </a:solidFill>
                      <a:prstDash val="solid"/>
                    </a:lnL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문서/형상관리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HANDOFF.md, Git repository, 실행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57150" bIns="38100" anchor="ctr">
                      <a:norm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sz="1050" b="0">
                          <a:solidFill>
                            <a:srgbClr val="24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테스트·인수인계 절차 표준화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8C9DE"/>
                      </a:solidFill>
                      <a:prstDash val="solid"/>
                    </a:lnR>
                    <a:lnB w="9525">
                      <a:solidFill>
                        <a:srgbClr val="B8C9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8F6D7-D7CF-4A90-AF0D-B19884E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주의: 저장소 URL·계정명·서버 IP·DB 비밀번호는 제출 자료에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858755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D610C-07A4-413D-B558-EBD2319B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0FFF8-9B5C-41A6-BC90-215DDD2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25DE-342F-4734-ADCD-9D617A60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CA2B4-44A1-4314-AD6F-FA992F47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A37FD-2FE2-4FB2-BDCB-9AD2A64A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3C7EF-2591-4FE5-B8FC-D491E35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0CEC1-6C3F-4884-ACCD-CF91ED66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S/W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D96C7-4F7E-4D4F-9AEC-1CF8A422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0A113-4143-423B-80B7-90932D7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53B2C-612C-4561-A70B-0568918D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1F3B3-FF9B-48DB-8908-A922DC65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76909-723B-4B7B-BD01-D82AC44F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crop·재료명·상태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156FB-EF6A-47CB-99A1-78DC6A8F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30_sw_inventory.png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9756C-E2FC-4BEB-BB10-77FFC23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71FFB-A988-40D6-BA30-5BE7834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상세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DF3AB-3D31-4E75-A3DB-80A01A0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수량·단위·상태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F7943-B04D-4640-A038-A89D1D8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30_sw_detail.png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C3BFA-E00C-4E6A-8EE5-A0BE1182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C3910-14B9-4FC8-B694-7169112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283B0-6BBA-447B-B0E1-0F35028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 수·추천 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62D7D-07B7-40B6-8CA7-7FD6E86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30_sw_recipes.png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50E8E-6E2F-4ED7-9092-DF36662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3470D-19C0-478D-82EC-604F5E5B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AD4E6-88AB-4755-ADE5-D3E31D86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필요·부족 재료와 조리법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4640D-1750-4242-9B78-E68BBB03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30_sw_recipe_detail.png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134E1-5DFD-4BB8-8E9D-7DC1C2B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실행 화면은 동일 사용자·냉장고 데이터 기준으로 촬영하고 개인정보·서버 주소를 가린다.</a:t>
            </a:r>
          </a:p>
        </p:txBody>
      </p:sp>
    </p:spTree>
    <p:extLst>
      <p:ext uri="{BB962C8B-B14F-4D97-AF65-F5344CB8AC3E}">
        <p14:creationId xmlns:p14="http://schemas.microsoft.com/office/powerpoint/2010/main" val="19743136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C099E-49ED-43E7-8F4F-1BE58EEB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F0882-00D9-42F8-86BC-3DA731A5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78A36-9D26-4360-95BA-BC03148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44D51-C9B4-4FC2-B6D9-95D0036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A6F3E-26F3-4329-90C0-11A70F24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E06C0-239E-4FCA-94DE-2F3A376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F445C-277F-4139-85E5-C08248F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참조-H/W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2C4C-F81A-48B6-AB53-11FCA18F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9C2FF-A6B1-4B4E-AE07-6F43934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75D09-0D63-4612-9191-CDCE734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32580-32DA-4F41-BC16-BAE21C8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전체 장착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D7409-3CFD-42FF-8067-A6CF58D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냉장고·Pi·카메라·센서·케이블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010A4-63E6-49C9-8769-49881A1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31_hw_01.jpg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5BB98-E9B8-4797-9858-F12D7922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4B493-DFAF-4D29-9340-2C875BE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Pi-카메라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5E9B1-A986-4936-B9B6-45265496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CSI 또는 USB 연결부·촬영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1D41E-01B5-4736-8CFA-5A8A4210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31_hw_02.jpg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A4684-37BE-4BCF-A130-B78AB88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DBD87-3550-462E-8481-D335B038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GPIO17/GND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36ECD-AFFB-4C0D-8F56-3B98807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물리 핀 11과 GND 배선 근접 사진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29BC6-8A34-4C8A-8445-81042191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31_hw_03.jpg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8094EF-EECE-4EE2-A8E3-298A806B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2893F-A56F-4232-8FBE-03AF429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 열림/닫힘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CB0D3-D369-4A22-AA48-CBB024CD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리드스위치·자석 거리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1B261-F1FC-4DB0-BAD6-0B38D62A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31_hw_04.jpg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04923-D514-48EB-A5FD-C63A0E94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0DEF2-D683-47D4-B4B7-99A2CE49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MJPEG 인식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B66CC-DB49-4E3F-949B-75C02A9A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식재료와 검출 박스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C09069-5F27-426D-9C11-CE57E4C5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31_hw_05.jpg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01450-B4C6-40EB-857A-830663A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FF5E4-8C57-41E3-BF0F-65F54FC5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앱 재고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F080C-DE6E-4479-A952-6AEBE37F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식재료 투입 후 목록 갱신 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1795EA-B206-498F-8AC5-DFF5981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31_hw_06.jpg</a:t>
            </a:r>
          </a:p>
        </p:txBody>
      </p:sp>
    </p:spTree>
    <p:extLst>
      <p:ext uri="{BB962C8B-B14F-4D97-AF65-F5344CB8AC3E}">
        <p14:creationId xmlns:p14="http://schemas.microsoft.com/office/powerpoint/2010/main" val="15785649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25388-8F11-40A9-85D9-20844AF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CD3FE-9E13-4F31-93CD-97845C15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DD08A-C8D6-4469-A812-1AF66F19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BB66D-5852-486B-B5A3-8EFF9EA5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49374-F380-4D6D-B649-E841EA5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C7A11-5919-42C1-8CE5-F16409B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37629-AF9E-4CAC-A464-9831BAFD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동영상 촬영 콘티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931F2-55E6-4D56-9D9F-CAF4CBF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418A4-29A5-4F05-AB80-3B128EC5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0ECD3-EF1E-495F-8677-597B50F4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CC309-D9F4-4F75-A568-715D340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#1 문제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04E57-DCB0-40C6-8C13-F86DF3CA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고령인구·노년 1인가구 증가와 수기 재고관리 부담을 1~2문장으로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4ABE6-962C-4E6B-94E9-D9E86908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32_story_1.png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63202-FD29-4DB6-9A77-74C4FA97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DF2DD-C511-4DCA-B7B9-376A51A8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#2 하드웨어 소개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6149B-0E43-4016-9D46-0D43D1D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카메라·리드스위치·Raspberry Pi 장착 위치와 연결을 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96419-2EFA-4759-A289-5A867E4D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32_story_2.png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5AD76-36A6-4700-9EEC-7D3FE6B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FB95C-3DE6-4953-8CAB-3A45A6B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#3 자동 인식·저장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42834-2215-4A01-92D7-3877EBE9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 열림 → 촬영 → AI 인식 → /upload → 재고 반영을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715A1-F79B-460B-ABF9-981BB0E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32_story_3.png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D73DC-3F58-48AC-A7B8-4DA70BE8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9050">
            <a:solidFill>
              <a:srgbClr val="96363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8A8A7-3D6B-4013-A3AF-F476F5D3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#4 앱 확인·레시피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2C2D8-9DB6-4232-B135-733FFFE6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항목 검수와 부족 재료가 적은 레시피 추천을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D03F2-227E-4003-90EE-0AA38827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교체 파일: 32_story_4.png</a:t>
            </a:r>
          </a:p>
        </p:txBody>
      </p:sp>
    </p:spTree>
    <p:extLst>
      <p:ext uri="{BB962C8B-B14F-4D97-AF65-F5344CB8AC3E}">
        <p14:creationId xmlns:p14="http://schemas.microsoft.com/office/powerpoint/2010/main" val="2282606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20DF1-1DCD-4DD0-BC84-A496AF2C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B7317-D1F1-4C57-81D6-74E5C26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CFF7C-9A2E-4062-9DB5-C36FD726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DF8CB-81CA-4768-91D4-95C997E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4A1BC-20A1-418D-8AC6-7475CC1D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6681-CDA7-4854-A1D2-028D9D8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6B056-DAC4-476F-954F-EC2D8FA4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참조-프로젝트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15B23-7D61-49BA-B528-4E81609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055CE-047F-4461-9A55-3066E1A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A79AB-AC07-412A-B05B-F6E8B3D5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35336-551B-49BE-93BA-361C9A16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프로젝트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F2D11-F11D-431E-9EFE-FDC9FD2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주간 일정 또는 Kanban 보드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완료/진행/대기 상태와 담당을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21142-2384-4F17-A6E1-3C7D92F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33_project_board.png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F96FE-EB18-4947-AEDF-D11B3F02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78885-CB51-46DF-8681-5B241583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형상관리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B5071-84AF-4A57-AB3A-EA44FFD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Git commit·branch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 계정명·원격 저장소 URL은 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71BD7-2141-472D-AE35-92977670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33_git_history.png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DE7AE-6159-440E-BF66-50FC50E8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370D2-3F0F-4678-AD13-840124FA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이슈관리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3A7A9-5A46-4793-AA83-579BDE6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오류-원인-해결-검증이 보이는 이슈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재현 조건과 수정 commit을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F64F4-2B84-4BA9-B835-851C5B76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33_issue_log.png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72EB0-EEC7-4E49-B31D-3DFE23BC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관리 증빙은 날짜·상태·해결 결과가 보이도록 캡처하고 개인정보는 제거한다.</a:t>
            </a:r>
          </a:p>
        </p:txBody>
      </p:sp>
    </p:spTree>
    <p:extLst>
      <p:ext uri="{BB962C8B-B14F-4D97-AF65-F5344CB8AC3E}">
        <p14:creationId xmlns:p14="http://schemas.microsoft.com/office/powerpoint/2010/main" val="11517409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AB755D-6B6C-40EC-8A15-D3F278A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E642-52F5-4BD0-89FD-B3DDAE57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제작설계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50B85-6060-4090-9E2C-EDF9D118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FA030-38D2-4BAD-860C-11A7C360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직접 수요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2F3E1-D44B-41A4-B528-9D792A02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초고령사회와 노년 1인가구 증가에 맞춘 식재료 관리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CCA36-C194-45F2-B4D9-624EC64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ABBCD-FA2E-401B-B1AB-1E84F0DB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75C08-3EC5-4496-90C2-3C53FC76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이벤트·엣지 AI·Flask/MySQL·Flutter를 연결한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44ADC-B31D-4EC0-B36A-4F5E3A0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688D8-B284-40AD-8B03-9719C8FD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신뢰성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1CEDD-4ADE-4DDF-A4AA-8E4CFD1D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frame과 UNRECOGNIZED 사용자 검수로 자동화와 정확성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0A1E-F54C-4AF2-921D-FA5F5F10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최종 제출 전 교체할 자료: 통계 그래프 · 기술 동향 그림 · 코드 캡처 · S/W/H/W 실사 · 관리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D39A7-B65B-4DF7-9929-3A7B2E10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7879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2026-07-12T08:26:36.7870000Z</dcterms:created>
  <dcterms:modified xsi:type="dcterms:W3CDTF">2026-07-12T08:26:36.7870000Z</dcterms:modified>
</coreProperties>
</file>